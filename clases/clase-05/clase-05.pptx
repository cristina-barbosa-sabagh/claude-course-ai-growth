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[0:00–1:00]
Adquiriste el usuario. Lo más caro ya pasó.
Ahora viene la pregunta que separa los negocios que escalan de los que corren en una cinta: ¿qué pasa después del registro?
Si la respuesta es "una secuencia de bienvenida genérica que escribimos hace un año" — esta clase es para ti.
En los próximos 16 minutos construimos tres flujos con Claude: onboarding, reactivación y upsell. Tres sistemas. Un solo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DESARROLLO 1 [1:00–6:00]
El onboarding es el momento más importante del ciclo de vida de un usuario. Y es donde más equipos de Growth dejan dinero sobre la mesa.
¿Por qué? Porque escriben 3 emails genéricos, los cargan en Mailchimp hace 8 meses y nunca los tocan.
Claude puede escribir los 5 emails de activación de tu producto, adaptados a tu ICP y a tu tono de marca, en 20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necesitas darle a Claude para que la secuencia funcione.
La diferencia no es solo velocidad. Es especificidad.
Un equipo humano sin contexto profundo del producto escribe emails vagos. Claude, con los 6 inputs que le das, escribe un email que menciona el paso específico donde el usuario está, el obstáculo que probablemente encontró y el resultado concreto que va a conseguir si avanza.
Eso no es email marketing. Es onboarding como producto.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de los 5 emails — marcar con pausa cada punto porque son el bloque más accionable de la clase.
Email 1: El objetivo no es "dar la bienvenida". Es conseguir que el usuario haga la primera acción que lo acerca al momento aha.
Email 2: Este email sabe dónde está el usuario: no terminó la configuración.
Email 3: El usuario avanzó. Ahora necesita entender qué acaba de lograr.
Email 4: Caso de cliente específico — no una historia genérica.
Email 5: El que no activó en 7 días está a punto de irse. La urgencia tiene que ser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DESARROLLO 2 [6:00–11:00]
Un usuario dormido no es uno que pidió cancelar. Es uno que dejó de usar el producto. Y hay una ventana — normalmente de 14 a 30 días — antes de que decida irse de verdad.
Claude puede ayudarte en tres maneras: identificar el patrón de churn, generar el mensaje correcto para cada segmento, escribir la secuencia de recuperación.
No es el mismo email para el usuario que nunca activó que para el que usó activamente durante 60 días y se desconectó.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prompt convierte a Claude en analista de churn. No reemplaza tu análisis de datos — lo complementa. Claude puede razonar sobre el patrón que describes y darte hipótesis que tu equipo puede validar.
Nota importante: tres emails máximo. Si no reactivaron después del tercero, los sacas del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reactivación, upsell. Tres sistemas. El mismo motor: Claude con el contexto correcto, en el momento correcto, generando el mensaje correcto.
Onboarding sin reactivación: pierdes el 30% de usuarios que casi activaron.
Reactivación sin upsell: rescatas usuarios sin expandir revenue.
Upsell sin onboarding: intentas crecer cuentas que no entienden el valor base.
Los tres juntos son un sistema de revenue de ciclo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mayoría de los upsells fallan porque llegan en el momento equivocado o con el mensaje equivocado.
"Actualiza a Pro" en el día 3 — cuando el usuario no entiende todavía el valor del plan básico — es un error.
"Actualiza a Pro" en el día 21, después de que usó 3 de las 5 features del plan básico, es una conversación que tiene sentido.
Con esos tres inputs, Claude genera el mensaje de upsell que llega en el momento correcto con la propuesta correcta. No es spam. Es relevancia.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[11:00–15:00]
Voy a construir una secuencia completa de onboarding en vivo. Cinco emails. Un producto real — anonimizado. Los 6 inputs. En menos de 8 minutos.
Noten el nivel de especificidad en los emails que genera Claude. Menciona el paso exacto donde está el usuario. Menciona el obstáculo por nombre. Tiene el tono de la marca.
Esto no es un template genérico de "bienvenida a la familia". Esto es onboarding que activa.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[15:00–16:00]
El entregable de esta clase tiene las tres plantillas: onboarding, reactivación y upsell.
Tu tarea: elige una. Solo una. La que más impacto tendría en tu negocio esta semana.
Rellena los inputs. Ejecuta el prompt. Carga la secuencia en Mailchimp o Klaviyo. No esperes a tenerla perfecta — tenla activa.
La siguiente clase es el War Room de Growth. Donde todo lo que construiste en adquisición y retención converge en un sistema de decisión. Nos vemos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Shape 1"/>
          <p:cNvSpPr/>
          <p:nvPr/>
        </p:nvSpPr>
        <p:spPr>
          <a:xfrm>
            <a:off x="548640" y="502920"/>
            <a:ext cx="2560320" cy="384048"/>
          </a:xfrm>
          <a:prstGeom prst="rect">
            <a:avLst/>
          </a:prstGeom>
          <a:solidFill>
            <a:srgbClr val="FF0000"/>
          </a:solidFill>
          <a:ln w="12700">
            <a:solidFill>
              <a:srgbClr val="FF0000"/>
            </a:solidFill>
            <a:prstDash val="solid"/>
          </a:ln>
        </p:spPr>
      </p:sp>
      <p:sp>
        <p:nvSpPr>
          <p:cNvPr id="4" name="Text 2"/>
          <p:cNvSpPr/>
          <p:nvPr/>
        </p:nvSpPr>
        <p:spPr>
          <a:xfrm>
            <a:off x="548640" y="502920"/>
            <a:ext cx="256032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MÓDULO 02</a:t>
            </a:r>
            <a:endParaRPr lang="en-US" sz="1300" dirty="0"/>
          </a:p>
        </p:txBody>
      </p:sp>
      <p:sp>
        <p:nvSpPr>
          <p:cNvPr id="5" name="Text 3"/>
          <p:cNvSpPr/>
          <p:nvPr/>
        </p:nvSpPr>
        <p:spPr>
          <a:xfrm>
            <a:off x="548640" y="1188720"/>
            <a:ext cx="11064240" cy="3108960"/>
          </a:xfrm>
          <a:prstGeom prst="rect">
            <a:avLst/>
          </a:prstGeom>
          <a:noFill/>
          <a:ln/>
        </p:spPr>
        <p:txBody>
          <a:bodyPr wrap="square" rtlCol="0" anchor="t"/>
          <a:lstStyle/>
          <a:p>
            <a:pPr algn="l" indent="0" marL="0">
              <a:buNone/>
            </a:pPr>
            <a:r>
              <a:rPr lang="en-US" sz="4200" b="1" dirty="0">
                <a:solidFill>
                  <a:srgbClr val="FFFFFF"/>
                </a:solidFill>
                <a:latin typeface="Arial Black" pitchFamily="34" charset="0"/>
                <a:ea typeface="Arial Black" pitchFamily="34" charset="-122"/>
                <a:cs typeface="Arial Black" pitchFamily="34" charset="-120"/>
              </a:rPr>
              <a:t>Motor de retención:</a:t>
            </a:r>
            <a:endParaRPr lang="en-US" sz="4200" dirty="0"/>
          </a:p>
          <a:p>
            <a:pPr algn="l" indent="0" marL="0">
              <a:buNone/>
            </a:pPr>
            <a:r>
              <a:rPr lang="en-US" sz="4200" b="1" dirty="0">
                <a:solidFill>
                  <a:srgbClr val="FFFFFF"/>
                </a:solidFill>
                <a:latin typeface="Arial Black" pitchFamily="34" charset="0"/>
                <a:ea typeface="Arial Black" pitchFamily="34" charset="-122"/>
                <a:cs typeface="Arial Black" pitchFamily="34" charset="-120"/>
              </a:rPr>
              <a:t>onboarding, reactivación</a:t>
            </a:r>
            <a:endParaRPr lang="en-US" sz="4200" dirty="0"/>
          </a:p>
          <a:p>
            <a:pPr algn="l" indent="0" marL="0">
              <a:buNone/>
            </a:pPr>
            <a:r>
              <a:rPr lang="en-US" sz="4200" b="1" dirty="0">
                <a:solidFill>
                  <a:srgbClr val="FFFFFF"/>
                </a:solidFill>
                <a:latin typeface="Arial Black" pitchFamily="34" charset="0"/>
                <a:ea typeface="Arial Black" pitchFamily="34" charset="-122"/>
                <a:cs typeface="Arial Black" pitchFamily="34" charset="-120"/>
              </a:rPr>
              <a:t>y upsell con Claude</a:t>
            </a:r>
            <a:endParaRPr lang="en-US" sz="4200" dirty="0"/>
          </a:p>
        </p:txBody>
      </p:sp>
      <p:sp>
        <p:nvSpPr>
          <p:cNvPr id="6" name="Shape 4"/>
          <p:cNvSpPr/>
          <p:nvPr/>
        </p:nvSpPr>
        <p:spPr>
          <a:xfrm>
            <a:off x="548640" y="4434840"/>
            <a:ext cx="3200400" cy="73152"/>
          </a:xfrm>
          <a:prstGeom prst="rect">
            <a:avLst/>
          </a:prstGeom>
          <a:solidFill>
            <a:srgbClr val="FF6B00"/>
          </a:solidFill>
          <a:ln/>
        </p:spPr>
      </p:sp>
      <p:sp>
        <p:nvSpPr>
          <p:cNvPr id="7" name="Text 5"/>
          <p:cNvSpPr/>
          <p:nvPr/>
        </p:nvSpPr>
        <p:spPr>
          <a:xfrm>
            <a:off x="548640" y="4617720"/>
            <a:ext cx="10058400" cy="1097280"/>
          </a:xfrm>
          <a:prstGeom prst="rect">
            <a:avLst/>
          </a:prstGeom>
          <a:noFill/>
          <a:ln/>
        </p:spPr>
        <p:txBody>
          <a:bodyPr wrap="square" rtlCol="0" anchor="t"/>
          <a:lstStyle/>
          <a:p>
            <a:pPr algn="l" indent="0" marL="0">
              <a:buNone/>
            </a:pPr>
            <a:r>
              <a:rPr lang="en-US" sz="1800" dirty="0">
                <a:solidFill>
                  <a:srgbClr val="EEFF89"/>
                </a:solidFill>
                <a:latin typeface="Calibri" pitchFamily="34" charset="0"/>
                <a:ea typeface="Calibri" pitchFamily="34" charset="-122"/>
                <a:cs typeface="Calibri" pitchFamily="34" charset="-120"/>
              </a:rPr>
              <a:t>Módulo 02 · Clase 05 · Instructor C</a:t>
            </a:r>
            <a:endParaRPr lang="en-US" sz="1800" dirty="0"/>
          </a:p>
        </p:txBody>
      </p:sp>
      <p:sp>
        <p:nvSpPr>
          <p:cNvPr id="8" name="Shape 6"/>
          <p:cNvSpPr/>
          <p:nvPr/>
        </p:nvSpPr>
        <p:spPr>
          <a:xfrm>
            <a:off x="9601200" y="6126480"/>
            <a:ext cx="2011680" cy="457200"/>
          </a:xfrm>
          <a:prstGeom prst="rect">
            <a:avLst/>
          </a:prstGeom>
          <a:solidFill>
            <a:srgbClr val="FF6B00"/>
          </a:solidFill>
          <a:ln/>
        </p:spPr>
      </p:sp>
      <p:sp>
        <p:nvSpPr>
          <p:cNvPr id="9" name="Text 7"/>
          <p:cNvSpPr/>
          <p:nvPr/>
        </p:nvSpPr>
        <p:spPr>
          <a:xfrm>
            <a:off x="9601200" y="6126480"/>
            <a:ext cx="2011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 minutos</a:t>
            </a:r>
            <a:endParaRPr lang="en-US" sz="1400" dirty="0"/>
          </a:p>
        </p:txBody>
      </p:sp>
      <p:sp>
        <p:nvSpPr>
          <p:cNvPr id="10" name="Shape 8"/>
          <p:cNvSpPr/>
          <p:nvPr/>
        </p:nvSpPr>
        <p:spPr>
          <a:xfrm>
            <a:off x="0" y="6748272"/>
            <a:ext cx="12188952" cy="109728"/>
          </a:xfrm>
          <a:prstGeom prst="rect">
            <a:avLst/>
          </a:prstGeom>
          <a:solidFill>
            <a:srgbClr val="FF00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FF0000"/>
          </a:solidFill>
          <a:ln/>
        </p:spPr>
      </p:sp>
      <p:sp>
        <p:nvSpPr>
          <p:cNvPr id="3" name="Text 1"/>
          <p:cNvSpPr/>
          <p:nvPr/>
        </p:nvSpPr>
        <p:spPr>
          <a:xfrm>
            <a:off x="914400" y="365760"/>
            <a:ext cx="10360152" cy="457200"/>
          </a:xfrm>
          <a:prstGeom prst="rect">
            <a:avLst/>
          </a:prstGeom>
          <a:noFill/>
          <a:ln/>
        </p:spPr>
        <p:txBody>
          <a:bodyPr wrap="square" rtlCol="0" anchor="ctr"/>
          <a:lstStyle/>
          <a:p>
            <a:pPr algn="ctr" indent="0" marL="0">
              <a:buNone/>
            </a:pPr>
            <a:r>
              <a:rPr lang="en-US" sz="1600" b="1" dirty="0">
                <a:solidFill>
                  <a:srgbClr val="FF6B00"/>
                </a:solidFill>
                <a:latin typeface="Calibri" pitchFamily="34" charset="0"/>
                <a:ea typeface="Calibri" pitchFamily="34" charset="-122"/>
                <a:cs typeface="Calibri" pitchFamily="34" charset="-120"/>
              </a:rPr>
              <a:t>EL ERROR MÁS CARO EN RETENCIÓN</a:t>
            </a:r>
            <a:endParaRPr lang="en-US" sz="1600" dirty="0"/>
          </a:p>
        </p:txBody>
      </p:sp>
      <p:sp>
        <p:nvSpPr>
          <p:cNvPr id="4" name="Text 2"/>
          <p:cNvSpPr/>
          <p:nvPr/>
        </p:nvSpPr>
        <p:spPr>
          <a:xfrm>
            <a:off x="457200" y="1097280"/>
            <a:ext cx="11274552" cy="2560320"/>
          </a:xfrm>
          <a:prstGeom prst="rect">
            <a:avLst/>
          </a:prstGeom>
          <a:noFill/>
          <a:ln/>
        </p:spPr>
        <p:txBody>
          <a:bodyPr wrap="square" rtlCol="0" anchor="ctr"/>
          <a:lstStyle/>
          <a:p>
            <a:pPr algn="ctr" indent="0" marL="0">
              <a:buNone/>
            </a:pPr>
            <a:r>
              <a:rPr lang="en-US" sz="9600" b="1" dirty="0">
                <a:solidFill>
                  <a:srgbClr val="EEFF89"/>
                </a:solidFill>
                <a:latin typeface="Arial Black" pitchFamily="34" charset="0"/>
                <a:ea typeface="Arial Black" pitchFamily="34" charset="-122"/>
                <a:cs typeface="Arial Black" pitchFamily="34" charset="-120"/>
              </a:rPr>
              <a:t>60%</a:t>
            </a:r>
            <a:endParaRPr lang="en-US" sz="9600" dirty="0"/>
          </a:p>
        </p:txBody>
      </p:sp>
      <p:sp>
        <p:nvSpPr>
          <p:cNvPr id="5" name="Shape 3"/>
          <p:cNvSpPr/>
          <p:nvPr/>
        </p:nvSpPr>
        <p:spPr>
          <a:xfrm>
            <a:off x="2743200" y="3749040"/>
            <a:ext cx="6702552" cy="73152"/>
          </a:xfrm>
          <a:prstGeom prst="rect">
            <a:avLst/>
          </a:prstGeom>
          <a:solidFill>
            <a:srgbClr val="FF6B00"/>
          </a:solidFill>
          <a:ln/>
        </p:spPr>
      </p:sp>
      <p:sp>
        <p:nvSpPr>
          <p:cNvPr id="6" name="Text 4"/>
          <p:cNvSpPr/>
          <p:nvPr/>
        </p:nvSpPr>
        <p:spPr>
          <a:xfrm>
            <a:off x="914400" y="3886200"/>
            <a:ext cx="10360152"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de usuarios que no activan en los primeros 7 días nunca vuelven</a:t>
            </a:r>
            <a:endParaRPr lang="en-US" sz="2200" dirty="0"/>
          </a:p>
        </p:txBody>
      </p:sp>
      <p:sp>
        <p:nvSpPr>
          <p:cNvPr id="7" name="Text 5"/>
          <p:cNvSpPr/>
          <p:nvPr/>
        </p:nvSpPr>
        <p:spPr>
          <a:xfrm>
            <a:off x="1371600" y="4754880"/>
            <a:ext cx="9445752" cy="1645920"/>
          </a:xfrm>
          <a:prstGeom prst="rect">
            <a:avLst/>
          </a:prstGeom>
          <a:noFill/>
          <a:ln/>
        </p:spPr>
        <p:txBody>
          <a:bodyPr wrap="square" rtlCol="0" anchor="ctr"/>
          <a:lstStyle/>
          <a:p>
            <a:pPr algn="ctr" indent="0" marL="0">
              <a:buNone/>
            </a:pPr>
            <a:r>
              <a:rPr lang="en-US" sz="1600" dirty="0">
                <a:solidFill>
                  <a:srgbClr val="CCCCCC"/>
                </a:solidFill>
                <a:latin typeface="Calibri" pitchFamily="34" charset="0"/>
                <a:ea typeface="Calibri" pitchFamily="34" charset="-122"/>
                <a:cs typeface="Calibri" pitchFamily="34" charset="-120"/>
              </a:rPr>
              <a:t>Adquirir es caro. Retener es donde está el dinero. Tres emails genéricos en Mailchimp de hace 8 meses no son un sistema de retención.</a:t>
            </a:r>
            <a:endParaRPr lang="en-US" sz="1600" dirty="0"/>
          </a:p>
        </p:txBody>
      </p:sp>
      <p:sp>
        <p:nvSpPr>
          <p:cNvPr id="8" name="Shape 6"/>
          <p:cNvSpPr/>
          <p:nvPr/>
        </p:nvSpPr>
        <p:spPr>
          <a:xfrm>
            <a:off x="0" y="6748272"/>
            <a:ext cx="12188952" cy="109728"/>
          </a:xfrm>
          <a:prstGeom prst="rect">
            <a:avLst/>
          </a:prstGeom>
          <a:solidFill>
            <a:srgbClr val="FF00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0000"/>
          </a:solidFill>
          <a:ln/>
        </p:spPr>
      </p:sp>
      <p:sp>
        <p:nvSpPr>
          <p:cNvPr id="3" name="Shape 1"/>
          <p:cNvSpPr/>
          <p:nvPr/>
        </p:nvSpPr>
        <p:spPr>
          <a:xfrm>
            <a:off x="164592" y="0"/>
            <a:ext cx="12024360" cy="1143000"/>
          </a:xfrm>
          <a:prstGeom prst="rect">
            <a:avLst/>
          </a:prstGeom>
          <a:solidFill>
            <a:srgbClr val="000000"/>
          </a:solidFill>
          <a:ln/>
        </p:spPr>
      </p:sp>
      <p:sp>
        <p:nvSpPr>
          <p:cNvPr id="4" name="Text 2"/>
          <p:cNvSpPr/>
          <p:nvPr/>
        </p:nvSpPr>
        <p:spPr>
          <a:xfrm>
            <a:off x="457200" y="0"/>
            <a:ext cx="11430000" cy="114300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6 inputs para que Claude escriba el onboarding que activa</a:t>
            </a:r>
            <a:endParaRPr lang="en-US" sz="2600" dirty="0"/>
          </a:p>
        </p:txBody>
      </p:sp>
      <p:sp>
        <p:nvSpPr>
          <p:cNvPr id="5" name="Shape 3"/>
          <p:cNvSpPr/>
          <p:nvPr/>
        </p:nvSpPr>
        <p:spPr>
          <a:xfrm>
            <a:off x="164592" y="1124712"/>
            <a:ext cx="12024360" cy="73152"/>
          </a:xfrm>
          <a:prstGeom prst="rect">
            <a:avLst/>
          </a:prstGeom>
          <a:solidFill>
            <a:srgbClr val="EEFF89"/>
          </a:solidFill>
          <a:ln/>
        </p:spPr>
      </p:sp>
      <p:sp>
        <p:nvSpPr>
          <p:cNvPr id="6" name="Shape 4"/>
          <p:cNvSpPr/>
          <p:nvPr/>
        </p:nvSpPr>
        <p:spPr>
          <a:xfrm>
            <a:off x="457200" y="1490472"/>
            <a:ext cx="384048" cy="384048"/>
          </a:xfrm>
          <a:prstGeom prst="rect">
            <a:avLst/>
          </a:prstGeom>
          <a:solidFill>
            <a:srgbClr val="FF0000"/>
          </a:solidFill>
          <a:ln/>
        </p:spPr>
      </p:sp>
      <p:sp>
        <p:nvSpPr>
          <p:cNvPr id="7" name="Text 5"/>
          <p:cNvSpPr/>
          <p:nvPr/>
        </p:nvSpPr>
        <p:spPr>
          <a:xfrm>
            <a:off x="457200" y="149047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05840" y="141732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Tu producto en una línea — qué hace, para quién, cuál es el resultado concreto.</a:t>
            </a:r>
            <a:endParaRPr lang="en-US" sz="1500" dirty="0"/>
          </a:p>
        </p:txBody>
      </p:sp>
      <p:sp>
        <p:nvSpPr>
          <p:cNvPr id="9" name="Shape 7"/>
          <p:cNvSpPr/>
          <p:nvPr/>
        </p:nvSpPr>
        <p:spPr>
          <a:xfrm>
            <a:off x="457200" y="2221992"/>
            <a:ext cx="384048" cy="384048"/>
          </a:xfrm>
          <a:prstGeom prst="rect">
            <a:avLst/>
          </a:prstGeom>
          <a:solidFill>
            <a:srgbClr val="FF0000"/>
          </a:solidFill>
          <a:ln/>
        </p:spPr>
      </p:sp>
      <p:sp>
        <p:nvSpPr>
          <p:cNvPr id="10" name="Text 8"/>
          <p:cNvSpPr/>
          <p:nvPr/>
        </p:nvSpPr>
        <p:spPr>
          <a:xfrm>
            <a:off x="457200" y="222199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005840" y="214884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El momento "aha" — ¿cuándo entiende el usuario que tu producto funciona? ¿Qué paso completó?</a:t>
            </a:r>
            <a:endParaRPr lang="en-US" sz="1500" dirty="0"/>
          </a:p>
        </p:txBody>
      </p:sp>
      <p:sp>
        <p:nvSpPr>
          <p:cNvPr id="12" name="Shape 10"/>
          <p:cNvSpPr/>
          <p:nvPr/>
        </p:nvSpPr>
        <p:spPr>
          <a:xfrm>
            <a:off x="457200" y="2953512"/>
            <a:ext cx="384048" cy="384048"/>
          </a:xfrm>
          <a:prstGeom prst="rect">
            <a:avLst/>
          </a:prstGeom>
          <a:solidFill>
            <a:srgbClr val="FF0000"/>
          </a:solidFill>
          <a:ln/>
        </p:spPr>
      </p:sp>
      <p:sp>
        <p:nvSpPr>
          <p:cNvPr id="13" name="Text 11"/>
          <p:cNvSpPr/>
          <p:nvPr/>
        </p:nvSpPr>
        <p:spPr>
          <a:xfrm>
            <a:off x="457200" y="295351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005840" y="288036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Los pasos de activación — los 3 a 5 pasos que debe completar en los primeros 7 días.</a:t>
            </a:r>
            <a:endParaRPr lang="en-US" sz="1500" dirty="0"/>
          </a:p>
        </p:txBody>
      </p:sp>
      <p:sp>
        <p:nvSpPr>
          <p:cNvPr id="15" name="Shape 13"/>
          <p:cNvSpPr/>
          <p:nvPr/>
        </p:nvSpPr>
        <p:spPr>
          <a:xfrm>
            <a:off x="457200" y="3685032"/>
            <a:ext cx="384048" cy="384048"/>
          </a:xfrm>
          <a:prstGeom prst="rect">
            <a:avLst/>
          </a:prstGeom>
          <a:solidFill>
            <a:srgbClr val="FF0000"/>
          </a:solidFill>
          <a:ln/>
        </p:spPr>
      </p:sp>
      <p:sp>
        <p:nvSpPr>
          <p:cNvPr id="16" name="Text 14"/>
          <p:cNvSpPr/>
          <p:nvPr/>
        </p:nvSpPr>
        <p:spPr>
          <a:xfrm>
            <a:off x="457200" y="368503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005840" y="361188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El obstáculo más común en cada paso — ¿dónde se cae la gente? Eso va en el email del día correcto.</a:t>
            </a:r>
            <a:endParaRPr lang="en-US" sz="1500" dirty="0"/>
          </a:p>
        </p:txBody>
      </p:sp>
      <p:sp>
        <p:nvSpPr>
          <p:cNvPr id="18" name="Shape 16"/>
          <p:cNvSpPr/>
          <p:nvPr/>
        </p:nvSpPr>
        <p:spPr>
          <a:xfrm>
            <a:off x="457200" y="4416552"/>
            <a:ext cx="384048" cy="384048"/>
          </a:xfrm>
          <a:prstGeom prst="rect">
            <a:avLst/>
          </a:prstGeom>
          <a:solidFill>
            <a:srgbClr val="FF0000"/>
          </a:solidFill>
          <a:ln/>
        </p:spPr>
      </p:sp>
      <p:sp>
        <p:nvSpPr>
          <p:cNvPr id="19" name="Text 17"/>
          <p:cNvSpPr/>
          <p:nvPr/>
        </p:nvSpPr>
        <p:spPr>
          <a:xfrm>
            <a:off x="457200" y="441655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0" name="Text 18"/>
          <p:cNvSpPr/>
          <p:nvPr/>
        </p:nvSpPr>
        <p:spPr>
          <a:xfrm>
            <a:off x="1005840" y="434340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Tono de marca — directo y técnico, cálido y cercano, con humor. Claude adapta todo.</a:t>
            </a:r>
            <a:endParaRPr lang="en-US" sz="1500" dirty="0"/>
          </a:p>
        </p:txBody>
      </p:sp>
      <p:sp>
        <p:nvSpPr>
          <p:cNvPr id="21" name="Shape 19"/>
          <p:cNvSpPr/>
          <p:nvPr/>
        </p:nvSpPr>
        <p:spPr>
          <a:xfrm>
            <a:off x="457200" y="5148072"/>
            <a:ext cx="384048" cy="384048"/>
          </a:xfrm>
          <a:prstGeom prst="rect">
            <a:avLst/>
          </a:prstGeom>
          <a:solidFill>
            <a:srgbClr val="FF0000"/>
          </a:solidFill>
          <a:ln/>
        </p:spPr>
      </p:sp>
      <p:sp>
        <p:nvSpPr>
          <p:cNvPr id="22" name="Text 20"/>
          <p:cNvSpPr/>
          <p:nvPr/>
        </p:nvSpPr>
        <p:spPr>
          <a:xfrm>
            <a:off x="457200" y="514807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3" name="Text 21"/>
          <p:cNvSpPr/>
          <p:nvPr/>
        </p:nvSpPr>
        <p:spPr>
          <a:xfrm>
            <a:off x="1005840" y="507492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Herramienta de email — Mailchimp o Klaviyo, con merge tags si aplica.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La arquitectura de los 5 emails de activación</a:t>
            </a:r>
            <a:endParaRPr lang="en-US" sz="2600" dirty="0"/>
          </a:p>
        </p:txBody>
      </p:sp>
      <p:sp>
        <p:nvSpPr>
          <p:cNvPr id="4" name="Shape 2"/>
          <p:cNvSpPr/>
          <p:nvPr/>
        </p:nvSpPr>
        <p:spPr>
          <a:xfrm>
            <a:off x="0" y="987552"/>
            <a:ext cx="12188952" cy="64008"/>
          </a:xfrm>
          <a:prstGeom prst="rect">
            <a:avLst/>
          </a:prstGeom>
          <a:solidFill>
            <a:srgbClr val="EEFF89"/>
          </a:solidFill>
          <a:ln/>
        </p:spPr>
      </p:sp>
      <p:sp>
        <p:nvSpPr>
          <p:cNvPr id="5" name="Shape 3"/>
          <p:cNvSpPr/>
          <p:nvPr/>
        </p:nvSpPr>
        <p:spPr>
          <a:xfrm>
            <a:off x="320040" y="1325880"/>
            <a:ext cx="640080" cy="640080"/>
          </a:xfrm>
          <a:prstGeom prst="ellipse">
            <a:avLst/>
          </a:prstGeom>
          <a:solidFill>
            <a:srgbClr val="FF0000"/>
          </a:solidFill>
          <a:ln/>
        </p:spPr>
      </p:sp>
      <p:sp>
        <p:nvSpPr>
          <p:cNvPr id="6" name="Text 4"/>
          <p:cNvSpPr/>
          <p:nvPr/>
        </p:nvSpPr>
        <p:spPr>
          <a:xfrm>
            <a:off x="320040" y="1325880"/>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7" name="Shape 5"/>
          <p:cNvSpPr/>
          <p:nvPr/>
        </p:nvSpPr>
        <p:spPr>
          <a:xfrm>
            <a:off x="621792" y="1965960"/>
            <a:ext cx="36576" cy="320040"/>
          </a:xfrm>
          <a:prstGeom prst="rect">
            <a:avLst/>
          </a:prstGeom>
          <a:solidFill>
            <a:srgbClr val="DDDDDD"/>
          </a:solidFill>
          <a:ln/>
        </p:spPr>
      </p:sp>
      <p:sp>
        <p:nvSpPr>
          <p:cNvPr id="8" name="Shape 6"/>
          <p:cNvSpPr/>
          <p:nvPr/>
        </p:nvSpPr>
        <p:spPr>
          <a:xfrm>
            <a:off x="1143000" y="1280160"/>
            <a:ext cx="10607040" cy="749808"/>
          </a:xfrm>
          <a:prstGeom prst="rect">
            <a:avLst/>
          </a:prstGeom>
          <a:solidFill>
            <a:srgbClr val="F5F5F5"/>
          </a:solidFill>
          <a:ln w="12700">
            <a:solidFill>
              <a:srgbClr val="FF0000"/>
            </a:solidFill>
            <a:prstDash val="solid"/>
          </a:ln>
        </p:spPr>
      </p:sp>
      <p:sp>
        <p:nvSpPr>
          <p:cNvPr id="9" name="Text 7"/>
          <p:cNvSpPr/>
          <p:nvPr/>
        </p:nvSpPr>
        <p:spPr>
          <a:xfrm>
            <a:off x="1325880" y="1280160"/>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1 (Día 0 — inmediato): Bienvenida + primer paso. Un solo CTA. Objetivo: conseguir la primera acción que acerca al momento aha.</a:t>
            </a:r>
            <a:endParaRPr lang="en-US" sz="1400" dirty="0"/>
          </a:p>
        </p:txBody>
      </p:sp>
      <p:sp>
        <p:nvSpPr>
          <p:cNvPr id="10" name="Shape 8"/>
          <p:cNvSpPr/>
          <p:nvPr/>
        </p:nvSpPr>
        <p:spPr>
          <a:xfrm>
            <a:off x="320040" y="2258568"/>
            <a:ext cx="640080" cy="640080"/>
          </a:xfrm>
          <a:prstGeom prst="ellipse">
            <a:avLst/>
          </a:prstGeom>
          <a:solidFill>
            <a:srgbClr val="FF6B00"/>
          </a:solidFill>
          <a:ln/>
        </p:spPr>
      </p:sp>
      <p:sp>
        <p:nvSpPr>
          <p:cNvPr id="11" name="Text 9"/>
          <p:cNvSpPr/>
          <p:nvPr/>
        </p:nvSpPr>
        <p:spPr>
          <a:xfrm>
            <a:off x="320040" y="2258568"/>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2" name="Shape 10"/>
          <p:cNvSpPr/>
          <p:nvPr/>
        </p:nvSpPr>
        <p:spPr>
          <a:xfrm>
            <a:off x="621792" y="2898648"/>
            <a:ext cx="36576" cy="320040"/>
          </a:xfrm>
          <a:prstGeom prst="rect">
            <a:avLst/>
          </a:prstGeom>
          <a:solidFill>
            <a:srgbClr val="DDDDDD"/>
          </a:solidFill>
          <a:ln/>
        </p:spPr>
      </p:sp>
      <p:sp>
        <p:nvSpPr>
          <p:cNvPr id="13" name="Shape 11"/>
          <p:cNvSpPr/>
          <p:nvPr/>
        </p:nvSpPr>
        <p:spPr>
          <a:xfrm>
            <a:off x="1143000" y="2212848"/>
            <a:ext cx="10607040" cy="749808"/>
          </a:xfrm>
          <a:prstGeom prst="rect">
            <a:avLst/>
          </a:prstGeom>
          <a:solidFill>
            <a:srgbClr val="F5F5F5"/>
          </a:solidFill>
          <a:ln w="12700">
            <a:solidFill>
              <a:srgbClr val="FF6B00"/>
            </a:solidFill>
            <a:prstDash val="solid"/>
          </a:ln>
        </p:spPr>
      </p:sp>
      <p:sp>
        <p:nvSpPr>
          <p:cNvPr id="14" name="Text 12"/>
          <p:cNvSpPr/>
          <p:nvPr/>
        </p:nvSpPr>
        <p:spPr>
          <a:xfrm>
            <a:off x="1325880" y="2212848"/>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2 (Día 2 — si NO completó el paso 1): El empujón en el punto de fricción. Nombra el obstáculo específico y ofrece la solución concreta.</a:t>
            </a:r>
            <a:endParaRPr lang="en-US" sz="1400" dirty="0"/>
          </a:p>
        </p:txBody>
      </p:sp>
      <p:sp>
        <p:nvSpPr>
          <p:cNvPr id="15" name="Shape 13"/>
          <p:cNvSpPr/>
          <p:nvPr/>
        </p:nvSpPr>
        <p:spPr>
          <a:xfrm>
            <a:off x="320040" y="3191256"/>
            <a:ext cx="640080" cy="640080"/>
          </a:xfrm>
          <a:prstGeom prst="ellipse">
            <a:avLst/>
          </a:prstGeom>
          <a:solidFill>
            <a:srgbClr val="000000"/>
          </a:solidFill>
          <a:ln/>
        </p:spPr>
      </p:sp>
      <p:sp>
        <p:nvSpPr>
          <p:cNvPr id="16" name="Text 14"/>
          <p:cNvSpPr/>
          <p:nvPr/>
        </p:nvSpPr>
        <p:spPr>
          <a:xfrm>
            <a:off x="320040" y="3191256"/>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7" name="Shape 15"/>
          <p:cNvSpPr/>
          <p:nvPr/>
        </p:nvSpPr>
        <p:spPr>
          <a:xfrm>
            <a:off x="621792" y="3831336"/>
            <a:ext cx="36576" cy="320040"/>
          </a:xfrm>
          <a:prstGeom prst="rect">
            <a:avLst/>
          </a:prstGeom>
          <a:solidFill>
            <a:srgbClr val="DDDDDD"/>
          </a:solidFill>
          <a:ln/>
        </p:spPr>
      </p:sp>
      <p:sp>
        <p:nvSpPr>
          <p:cNvPr id="18" name="Shape 16"/>
          <p:cNvSpPr/>
          <p:nvPr/>
        </p:nvSpPr>
        <p:spPr>
          <a:xfrm>
            <a:off x="1143000" y="3145536"/>
            <a:ext cx="10607040" cy="749808"/>
          </a:xfrm>
          <a:prstGeom prst="rect">
            <a:avLst/>
          </a:prstGeom>
          <a:solidFill>
            <a:srgbClr val="F5F5F5"/>
          </a:solidFill>
          <a:ln w="12700">
            <a:solidFill>
              <a:srgbClr val="000000"/>
            </a:solidFill>
            <a:prstDash val="solid"/>
          </a:ln>
        </p:spPr>
      </p:sp>
      <p:sp>
        <p:nvSpPr>
          <p:cNvPr id="19" name="Text 17"/>
          <p:cNvSpPr/>
          <p:nvPr/>
        </p:nvSpPr>
        <p:spPr>
          <a:xfrm>
            <a:off x="1325880" y="3145536"/>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3 (Día 3–4 — si SÍ completó el paso 1): El momento aha explicado. Conecta la acción que hizo con el resultado que buscaba.</a:t>
            </a:r>
            <a:endParaRPr lang="en-US" sz="1400" dirty="0"/>
          </a:p>
        </p:txBody>
      </p:sp>
      <p:sp>
        <p:nvSpPr>
          <p:cNvPr id="20" name="Shape 18"/>
          <p:cNvSpPr/>
          <p:nvPr/>
        </p:nvSpPr>
        <p:spPr>
          <a:xfrm>
            <a:off x="320040" y="4123944"/>
            <a:ext cx="640080" cy="640080"/>
          </a:xfrm>
          <a:prstGeom prst="ellipse">
            <a:avLst/>
          </a:prstGeom>
          <a:solidFill>
            <a:srgbClr val="FF0000"/>
          </a:solidFill>
          <a:ln/>
        </p:spPr>
      </p:sp>
      <p:sp>
        <p:nvSpPr>
          <p:cNvPr id="21" name="Text 19"/>
          <p:cNvSpPr/>
          <p:nvPr/>
        </p:nvSpPr>
        <p:spPr>
          <a:xfrm>
            <a:off x="320040" y="4123944"/>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22" name="Shape 20"/>
          <p:cNvSpPr/>
          <p:nvPr/>
        </p:nvSpPr>
        <p:spPr>
          <a:xfrm>
            <a:off x="621792" y="4764024"/>
            <a:ext cx="36576" cy="320040"/>
          </a:xfrm>
          <a:prstGeom prst="rect">
            <a:avLst/>
          </a:prstGeom>
          <a:solidFill>
            <a:srgbClr val="DDDDDD"/>
          </a:solidFill>
          <a:ln/>
        </p:spPr>
      </p:sp>
      <p:sp>
        <p:nvSpPr>
          <p:cNvPr id="23" name="Shape 21"/>
          <p:cNvSpPr/>
          <p:nvPr/>
        </p:nvSpPr>
        <p:spPr>
          <a:xfrm>
            <a:off x="1143000" y="4078224"/>
            <a:ext cx="10607040" cy="749808"/>
          </a:xfrm>
          <a:prstGeom prst="rect">
            <a:avLst/>
          </a:prstGeom>
          <a:solidFill>
            <a:srgbClr val="F5F5F5"/>
          </a:solidFill>
          <a:ln w="12700">
            <a:solidFill>
              <a:srgbClr val="FF0000"/>
            </a:solidFill>
            <a:prstDash val="solid"/>
          </a:ln>
        </p:spPr>
      </p:sp>
      <p:sp>
        <p:nvSpPr>
          <p:cNvPr id="24" name="Text 22"/>
          <p:cNvSpPr/>
          <p:nvPr/>
        </p:nvSpPr>
        <p:spPr>
          <a:xfrm>
            <a:off x="1325880" y="4078224"/>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4 (Día 5): Prueba social contextual. Caso de cliente específico a lo que el usuario ya hizo en esa misma etapa.</a:t>
            </a:r>
            <a:endParaRPr lang="en-US" sz="1400" dirty="0"/>
          </a:p>
        </p:txBody>
      </p:sp>
      <p:sp>
        <p:nvSpPr>
          <p:cNvPr id="25" name="Shape 23"/>
          <p:cNvSpPr/>
          <p:nvPr/>
        </p:nvSpPr>
        <p:spPr>
          <a:xfrm>
            <a:off x="320040" y="5056632"/>
            <a:ext cx="640080" cy="640080"/>
          </a:xfrm>
          <a:prstGeom prst="ellipse">
            <a:avLst/>
          </a:prstGeom>
          <a:solidFill>
            <a:srgbClr val="FF6B00"/>
          </a:solidFill>
          <a:ln/>
        </p:spPr>
      </p:sp>
      <p:sp>
        <p:nvSpPr>
          <p:cNvPr id="26" name="Text 24"/>
          <p:cNvSpPr/>
          <p:nvPr/>
        </p:nvSpPr>
        <p:spPr>
          <a:xfrm>
            <a:off x="320040" y="5056632"/>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a:t>
            </a:r>
            <a:endParaRPr lang="en-US" sz="2000" dirty="0"/>
          </a:p>
        </p:txBody>
      </p:sp>
      <p:sp>
        <p:nvSpPr>
          <p:cNvPr id="27" name="Shape 25"/>
          <p:cNvSpPr/>
          <p:nvPr/>
        </p:nvSpPr>
        <p:spPr>
          <a:xfrm>
            <a:off x="1143000" y="5010912"/>
            <a:ext cx="10607040" cy="749808"/>
          </a:xfrm>
          <a:prstGeom prst="rect">
            <a:avLst/>
          </a:prstGeom>
          <a:solidFill>
            <a:srgbClr val="F5F5F5"/>
          </a:solidFill>
          <a:ln w="12700">
            <a:solidFill>
              <a:srgbClr val="FF6B00"/>
            </a:solidFill>
            <a:prstDash val="solid"/>
          </a:ln>
        </p:spPr>
      </p:sp>
      <p:sp>
        <p:nvSpPr>
          <p:cNvPr id="28" name="Text 26"/>
          <p:cNvSpPr/>
          <p:nvPr/>
        </p:nvSpPr>
        <p:spPr>
          <a:xfrm>
            <a:off x="1325880" y="5010912"/>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5 (Día 7 — si no activó): Cierre de la ventana de activación. Urgencia real, no falsa. Tono más directo.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Flujo de reactivación: dos segmentos, dos mensajes distintos</a:t>
            </a:r>
            <a:endParaRPr lang="en-US" sz="2600" dirty="0"/>
          </a:p>
        </p:txBody>
      </p:sp>
      <p:sp>
        <p:nvSpPr>
          <p:cNvPr id="4" name="Shape 2"/>
          <p:cNvSpPr/>
          <p:nvPr/>
        </p:nvSpPr>
        <p:spPr>
          <a:xfrm>
            <a:off x="0" y="987552"/>
            <a:ext cx="12188952" cy="54864"/>
          </a:xfrm>
          <a:prstGeom prst="rect">
            <a:avLst/>
          </a:prstGeom>
          <a:solidFill>
            <a:srgbClr val="FF0000"/>
          </a:solidFill>
          <a:ln/>
        </p:spPr>
      </p:sp>
      <p:sp>
        <p:nvSpPr>
          <p:cNvPr id="5" name="Shape 3"/>
          <p:cNvSpPr/>
          <p:nvPr/>
        </p:nvSpPr>
        <p:spPr>
          <a:xfrm>
            <a:off x="365760" y="1234440"/>
            <a:ext cx="5303520" cy="502920"/>
          </a:xfrm>
          <a:prstGeom prst="rect">
            <a:avLst/>
          </a:prstGeom>
          <a:solidFill>
            <a:srgbClr val="FF0000"/>
          </a:solidFill>
          <a:ln/>
        </p:spPr>
      </p:sp>
      <p:sp>
        <p:nvSpPr>
          <p:cNvPr id="6" name="Text 4"/>
          <p:cNvSpPr/>
          <p:nvPr/>
        </p:nvSpPr>
        <p:spPr>
          <a:xfrm>
            <a:off x="365760" y="1234440"/>
            <a:ext cx="53035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USUARIO QUE NUNCA ACTIVÓ</a:t>
            </a:r>
            <a:endParaRPr lang="en-US" sz="1600" dirty="0"/>
          </a:p>
        </p:txBody>
      </p:sp>
      <p:sp>
        <p:nvSpPr>
          <p:cNvPr id="7" name="Shape 5"/>
          <p:cNvSpPr/>
          <p:nvPr/>
        </p:nvSpPr>
        <p:spPr>
          <a:xfrm>
            <a:off x="365760" y="1737360"/>
            <a:ext cx="5303520" cy="4754880"/>
          </a:xfrm>
          <a:prstGeom prst="rect">
            <a:avLst/>
          </a:prstGeom>
          <a:solidFill>
            <a:srgbClr val="F9F9F9"/>
          </a:solidFill>
          <a:ln w="12700">
            <a:solidFill>
              <a:srgbClr val="E0E0E0"/>
            </a:solidFill>
            <a:prstDash val="solid"/>
          </a:ln>
        </p:spPr>
      </p:sp>
      <p:sp>
        <p:nvSpPr>
          <p:cNvPr id="8" name="Shape 6"/>
          <p:cNvSpPr/>
          <p:nvPr/>
        </p:nvSpPr>
        <p:spPr>
          <a:xfrm>
            <a:off x="594360" y="1965960"/>
            <a:ext cx="164592" cy="164592"/>
          </a:xfrm>
          <a:prstGeom prst="ellipse">
            <a:avLst/>
          </a:prstGeom>
          <a:solidFill>
            <a:srgbClr val="FF0000"/>
          </a:solidFill>
          <a:ln/>
        </p:spPr>
      </p:sp>
      <p:sp>
        <p:nvSpPr>
          <p:cNvPr id="9" name="Text 7"/>
          <p:cNvSpPr/>
          <p:nvPr/>
        </p:nvSpPr>
        <p:spPr>
          <a:xfrm>
            <a:off x="896112" y="1874520"/>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Se registró pero no completó el onboarding</a:t>
            </a:r>
            <a:endParaRPr lang="en-US" sz="1400" dirty="0"/>
          </a:p>
        </p:txBody>
      </p:sp>
      <p:sp>
        <p:nvSpPr>
          <p:cNvPr id="10" name="Shape 8"/>
          <p:cNvSpPr/>
          <p:nvPr/>
        </p:nvSpPr>
        <p:spPr>
          <a:xfrm>
            <a:off x="594360" y="2715768"/>
            <a:ext cx="164592" cy="164592"/>
          </a:xfrm>
          <a:prstGeom prst="ellipse">
            <a:avLst/>
          </a:prstGeom>
          <a:solidFill>
            <a:srgbClr val="FF0000"/>
          </a:solidFill>
          <a:ln/>
        </p:spPr>
      </p:sp>
      <p:sp>
        <p:nvSpPr>
          <p:cNvPr id="11" name="Text 9"/>
          <p:cNvSpPr/>
          <p:nvPr/>
        </p:nvSpPr>
        <p:spPr>
          <a:xfrm>
            <a:off x="896112" y="2624328"/>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El mensaje central: lo que se perdió + solución al obstáculo</a:t>
            </a:r>
            <a:endParaRPr lang="en-US" sz="1400" dirty="0"/>
          </a:p>
        </p:txBody>
      </p:sp>
      <p:sp>
        <p:nvSpPr>
          <p:cNvPr id="12" name="Shape 10"/>
          <p:cNvSpPr/>
          <p:nvPr/>
        </p:nvSpPr>
        <p:spPr>
          <a:xfrm>
            <a:off x="594360" y="3465576"/>
            <a:ext cx="164592" cy="164592"/>
          </a:xfrm>
          <a:prstGeom prst="ellipse">
            <a:avLst/>
          </a:prstGeom>
          <a:solidFill>
            <a:srgbClr val="FF0000"/>
          </a:solidFill>
          <a:ln/>
        </p:spPr>
      </p:sp>
      <p:sp>
        <p:nvSpPr>
          <p:cNvPr id="13" name="Text 11"/>
          <p:cNvSpPr/>
          <p:nvPr/>
        </p:nvSpPr>
        <p:spPr>
          <a:xfrm>
            <a:off x="896112" y="3374136"/>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Tono: directo, sin drama, orientado al primer paso</a:t>
            </a:r>
            <a:endParaRPr lang="en-US" sz="1400" dirty="0"/>
          </a:p>
        </p:txBody>
      </p:sp>
      <p:sp>
        <p:nvSpPr>
          <p:cNvPr id="14" name="Shape 12"/>
          <p:cNvSpPr/>
          <p:nvPr/>
        </p:nvSpPr>
        <p:spPr>
          <a:xfrm>
            <a:off x="594360" y="4215384"/>
            <a:ext cx="164592" cy="164592"/>
          </a:xfrm>
          <a:prstGeom prst="ellipse">
            <a:avLst/>
          </a:prstGeom>
          <a:solidFill>
            <a:srgbClr val="FF0000"/>
          </a:solidFill>
          <a:ln/>
        </p:spPr>
      </p:sp>
      <p:sp>
        <p:nvSpPr>
          <p:cNvPr id="15" name="Text 13"/>
          <p:cNvSpPr/>
          <p:nvPr/>
        </p:nvSpPr>
        <p:spPr>
          <a:xfrm>
            <a:off x="896112" y="4123944"/>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1: reconoce ausencia sin culpa</a:t>
            </a:r>
            <a:endParaRPr lang="en-US" sz="1400" dirty="0"/>
          </a:p>
        </p:txBody>
      </p:sp>
      <p:sp>
        <p:nvSpPr>
          <p:cNvPr id="16" name="Shape 14"/>
          <p:cNvSpPr/>
          <p:nvPr/>
        </p:nvSpPr>
        <p:spPr>
          <a:xfrm>
            <a:off x="594360" y="4965192"/>
            <a:ext cx="164592" cy="164592"/>
          </a:xfrm>
          <a:prstGeom prst="ellipse">
            <a:avLst/>
          </a:prstGeom>
          <a:solidFill>
            <a:srgbClr val="FF0000"/>
          </a:solidFill>
          <a:ln/>
        </p:spPr>
      </p:sp>
      <p:sp>
        <p:nvSpPr>
          <p:cNvPr id="17" name="Text 15"/>
          <p:cNvSpPr/>
          <p:nvPr/>
        </p:nvSpPr>
        <p:spPr>
          <a:xfrm>
            <a:off x="896112" y="4873752"/>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2: novedades del producto + bajo compromiso</a:t>
            </a:r>
            <a:endParaRPr lang="en-US" sz="1400" dirty="0"/>
          </a:p>
        </p:txBody>
      </p:sp>
      <p:sp>
        <p:nvSpPr>
          <p:cNvPr id="18" name="Shape 16"/>
          <p:cNvSpPr/>
          <p:nvPr/>
        </p:nvSpPr>
        <p:spPr>
          <a:xfrm>
            <a:off x="594360" y="5715000"/>
            <a:ext cx="164592" cy="164592"/>
          </a:xfrm>
          <a:prstGeom prst="ellipse">
            <a:avLst/>
          </a:prstGeom>
          <a:solidFill>
            <a:srgbClr val="FF0000"/>
          </a:solidFill>
          <a:ln/>
        </p:spPr>
      </p:sp>
      <p:sp>
        <p:nvSpPr>
          <p:cNvPr id="19" name="Text 17"/>
          <p:cNvSpPr/>
          <p:nvPr/>
        </p:nvSpPr>
        <p:spPr>
          <a:xfrm>
            <a:off x="896112" y="5623560"/>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3: despedida que invita a volver</a:t>
            </a:r>
            <a:endParaRPr lang="en-US" sz="1400" dirty="0"/>
          </a:p>
        </p:txBody>
      </p:sp>
      <p:sp>
        <p:nvSpPr>
          <p:cNvPr id="20" name="Shape 18"/>
          <p:cNvSpPr/>
          <p:nvPr/>
        </p:nvSpPr>
        <p:spPr>
          <a:xfrm>
            <a:off x="6492240" y="1234440"/>
            <a:ext cx="5303520" cy="502920"/>
          </a:xfrm>
          <a:prstGeom prst="rect">
            <a:avLst/>
          </a:prstGeom>
          <a:solidFill>
            <a:srgbClr val="FF6B00"/>
          </a:solidFill>
          <a:ln/>
        </p:spPr>
      </p:sp>
      <p:sp>
        <p:nvSpPr>
          <p:cNvPr id="21" name="Text 19"/>
          <p:cNvSpPr/>
          <p:nvPr/>
        </p:nvSpPr>
        <p:spPr>
          <a:xfrm>
            <a:off x="6492240" y="1234440"/>
            <a:ext cx="53035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USUARIO QUE USABA Y SE FUE</a:t>
            </a:r>
            <a:endParaRPr lang="en-US" sz="1600" dirty="0"/>
          </a:p>
        </p:txBody>
      </p:sp>
      <p:sp>
        <p:nvSpPr>
          <p:cNvPr id="22" name="Shape 20"/>
          <p:cNvSpPr/>
          <p:nvPr/>
        </p:nvSpPr>
        <p:spPr>
          <a:xfrm>
            <a:off x="6492240" y="1737360"/>
            <a:ext cx="5303520" cy="4754880"/>
          </a:xfrm>
          <a:prstGeom prst="rect">
            <a:avLst/>
          </a:prstGeom>
          <a:solidFill>
            <a:srgbClr val="F9F9F9"/>
          </a:solidFill>
          <a:ln w="12700">
            <a:solidFill>
              <a:srgbClr val="E0E0E0"/>
            </a:solidFill>
            <a:prstDash val="solid"/>
          </a:ln>
        </p:spPr>
      </p:sp>
      <p:sp>
        <p:nvSpPr>
          <p:cNvPr id="23" name="Shape 21"/>
          <p:cNvSpPr/>
          <p:nvPr/>
        </p:nvSpPr>
        <p:spPr>
          <a:xfrm>
            <a:off x="6720840" y="1965960"/>
            <a:ext cx="164592" cy="164592"/>
          </a:xfrm>
          <a:prstGeom prst="ellipse">
            <a:avLst/>
          </a:prstGeom>
          <a:solidFill>
            <a:srgbClr val="FF6B00"/>
          </a:solidFill>
          <a:ln/>
        </p:spPr>
      </p:sp>
      <p:sp>
        <p:nvSpPr>
          <p:cNvPr id="24" name="Text 22"/>
          <p:cNvSpPr/>
          <p:nvPr/>
        </p:nvSpPr>
        <p:spPr>
          <a:xfrm>
            <a:off x="7022592" y="1874520"/>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Tuvo engagement, luego se desconectó</a:t>
            </a:r>
            <a:endParaRPr lang="en-US" sz="1400" dirty="0"/>
          </a:p>
        </p:txBody>
      </p:sp>
      <p:sp>
        <p:nvSpPr>
          <p:cNvPr id="25" name="Shape 23"/>
          <p:cNvSpPr/>
          <p:nvPr/>
        </p:nvSpPr>
        <p:spPr>
          <a:xfrm>
            <a:off x="6720840" y="2715768"/>
            <a:ext cx="164592" cy="164592"/>
          </a:xfrm>
          <a:prstGeom prst="ellipse">
            <a:avLst/>
          </a:prstGeom>
          <a:solidFill>
            <a:srgbClr val="FF6B00"/>
          </a:solidFill>
          <a:ln/>
        </p:spPr>
      </p:sp>
      <p:sp>
        <p:nvSpPr>
          <p:cNvPr id="26" name="Text 24"/>
          <p:cNvSpPr/>
          <p:nvPr/>
        </p:nvSpPr>
        <p:spPr>
          <a:xfrm>
            <a:off x="7022592" y="2624328"/>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El mensaje central: lo que logró antes + qué mejoró</a:t>
            </a:r>
            <a:endParaRPr lang="en-US" sz="1400" dirty="0"/>
          </a:p>
        </p:txBody>
      </p:sp>
      <p:sp>
        <p:nvSpPr>
          <p:cNvPr id="27" name="Shape 25"/>
          <p:cNvSpPr/>
          <p:nvPr/>
        </p:nvSpPr>
        <p:spPr>
          <a:xfrm>
            <a:off x="6720840" y="3465576"/>
            <a:ext cx="164592" cy="164592"/>
          </a:xfrm>
          <a:prstGeom prst="ellipse">
            <a:avLst/>
          </a:prstGeom>
          <a:solidFill>
            <a:srgbClr val="FF6B00"/>
          </a:solidFill>
          <a:ln/>
        </p:spPr>
      </p:sp>
      <p:sp>
        <p:nvSpPr>
          <p:cNvPr id="28" name="Text 26"/>
          <p:cNvSpPr/>
          <p:nvPr/>
        </p:nvSpPr>
        <p:spPr>
          <a:xfrm>
            <a:off x="7022592" y="3374136"/>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Tono: cálido, reconociendo que la vida está ocupada</a:t>
            </a:r>
            <a:endParaRPr lang="en-US" sz="1400" dirty="0"/>
          </a:p>
        </p:txBody>
      </p:sp>
      <p:sp>
        <p:nvSpPr>
          <p:cNvPr id="29" name="Shape 27"/>
          <p:cNvSpPr/>
          <p:nvPr/>
        </p:nvSpPr>
        <p:spPr>
          <a:xfrm>
            <a:off x="6720840" y="4215384"/>
            <a:ext cx="164592" cy="164592"/>
          </a:xfrm>
          <a:prstGeom prst="ellipse">
            <a:avLst/>
          </a:prstGeom>
          <a:solidFill>
            <a:srgbClr val="FF6B00"/>
          </a:solidFill>
          <a:ln/>
        </p:spPr>
      </p:sp>
      <p:sp>
        <p:nvSpPr>
          <p:cNvPr id="30" name="Text 28"/>
          <p:cNvSpPr/>
          <p:nvPr/>
        </p:nvSpPr>
        <p:spPr>
          <a:xfrm>
            <a:off x="7022592" y="4123944"/>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1: muestra progreso de lo que alcanzó antes</a:t>
            </a:r>
            <a:endParaRPr lang="en-US" sz="1400" dirty="0"/>
          </a:p>
        </p:txBody>
      </p:sp>
      <p:sp>
        <p:nvSpPr>
          <p:cNvPr id="31" name="Shape 29"/>
          <p:cNvSpPr/>
          <p:nvPr/>
        </p:nvSpPr>
        <p:spPr>
          <a:xfrm>
            <a:off x="6720840" y="4965192"/>
            <a:ext cx="164592" cy="164592"/>
          </a:xfrm>
          <a:prstGeom prst="ellipse">
            <a:avLst/>
          </a:prstGeom>
          <a:solidFill>
            <a:srgbClr val="FF6B00"/>
          </a:solidFill>
          <a:ln/>
        </p:spPr>
      </p:sp>
      <p:sp>
        <p:nvSpPr>
          <p:cNvPr id="32" name="Text 30"/>
          <p:cNvSpPr/>
          <p:nvPr/>
        </p:nvSpPr>
        <p:spPr>
          <a:xfrm>
            <a:off x="7022592" y="4873752"/>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2: resultado concreto de otro usuario similar</a:t>
            </a:r>
            <a:endParaRPr lang="en-US" sz="1400" dirty="0"/>
          </a:p>
        </p:txBody>
      </p:sp>
      <p:sp>
        <p:nvSpPr>
          <p:cNvPr id="33" name="Shape 31"/>
          <p:cNvSpPr/>
          <p:nvPr/>
        </p:nvSpPr>
        <p:spPr>
          <a:xfrm>
            <a:off x="6720840" y="5715000"/>
            <a:ext cx="164592" cy="164592"/>
          </a:xfrm>
          <a:prstGeom prst="ellipse">
            <a:avLst/>
          </a:prstGeom>
          <a:solidFill>
            <a:srgbClr val="FF6B00"/>
          </a:solidFill>
          <a:ln/>
        </p:spPr>
      </p:sp>
      <p:sp>
        <p:nvSpPr>
          <p:cNvPr id="34" name="Text 32"/>
          <p:cNvSpPr/>
          <p:nvPr/>
        </p:nvSpPr>
        <p:spPr>
          <a:xfrm>
            <a:off x="7022592" y="5623560"/>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Email 3: incentivo real si hay, si no — lo que pierde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0"/>
            <a:ext cx="11430000" cy="960120"/>
          </a:xfrm>
          <a:prstGeom prst="rect">
            <a:avLst/>
          </a:prstGeom>
          <a:noFill/>
          <a:ln/>
        </p:spPr>
        <p:txBody>
          <a:bodyPr wrap="square" rtlCol="0" anchor="ctr"/>
          <a:lstStyle/>
          <a:p>
            <a:pPr indent="0" marL="0">
              <a:buNone/>
            </a:pPr>
            <a:r>
              <a:rPr lang="en-US" sz="2400" b="1" dirty="0">
                <a:solidFill>
                  <a:srgbClr val="FFFFFF"/>
                </a:solidFill>
                <a:latin typeface="Arial Black" pitchFamily="34" charset="0"/>
                <a:ea typeface="Arial Black" pitchFamily="34" charset="-122"/>
                <a:cs typeface="Arial Black" pitchFamily="34" charset="-120"/>
              </a:rPr>
              <a:t>El prompt de análisis de churn que funciona</a:t>
            </a:r>
            <a:endParaRPr lang="en-US" sz="2400" dirty="0"/>
          </a:p>
        </p:txBody>
      </p:sp>
      <p:sp>
        <p:nvSpPr>
          <p:cNvPr id="4" name="Shape 2"/>
          <p:cNvSpPr/>
          <p:nvPr/>
        </p:nvSpPr>
        <p:spPr>
          <a:xfrm>
            <a:off x="0" y="941832"/>
            <a:ext cx="12188952" cy="54864"/>
          </a:xfrm>
          <a:prstGeom prst="rect">
            <a:avLst/>
          </a:prstGeom>
          <a:solidFill>
            <a:srgbClr val="FF6B00"/>
          </a:solidFill>
          <a:ln/>
        </p:spPr>
      </p:sp>
      <p:sp>
        <p:nvSpPr>
          <p:cNvPr id="5" name="Shape 3"/>
          <p:cNvSpPr/>
          <p:nvPr/>
        </p:nvSpPr>
        <p:spPr>
          <a:xfrm>
            <a:off x="365760" y="1170432"/>
            <a:ext cx="11430000" cy="4389120"/>
          </a:xfrm>
          <a:prstGeom prst="rect">
            <a:avLst/>
          </a:prstGeom>
          <a:solidFill>
            <a:srgbClr val="1E1E1E"/>
          </a:solidFill>
          <a:ln/>
        </p:spPr>
      </p:sp>
      <p:sp>
        <p:nvSpPr>
          <p:cNvPr id="6" name="Shape 4"/>
          <p:cNvSpPr/>
          <p:nvPr/>
        </p:nvSpPr>
        <p:spPr>
          <a:xfrm>
            <a:off x="365760" y="1170432"/>
            <a:ext cx="1828800" cy="347472"/>
          </a:xfrm>
          <a:prstGeom prst="rect">
            <a:avLst/>
          </a:prstGeom>
          <a:solidFill>
            <a:srgbClr val="FF6B00"/>
          </a:solidFill>
          <a:ln/>
        </p:spPr>
      </p:sp>
      <p:sp>
        <p:nvSpPr>
          <p:cNvPr id="7" name="Text 5"/>
          <p:cNvSpPr/>
          <p:nvPr/>
        </p:nvSpPr>
        <p:spPr>
          <a:xfrm>
            <a:off x="365760" y="1170432"/>
            <a:ext cx="182880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PROMPT</a:t>
            </a:r>
            <a:endParaRPr lang="en-US" sz="1100" dirty="0"/>
          </a:p>
        </p:txBody>
      </p:sp>
      <p:sp>
        <p:nvSpPr>
          <p:cNvPr id="8" name="Text 6"/>
          <p:cNvSpPr/>
          <p:nvPr/>
        </p:nvSpPr>
        <p:spPr>
          <a:xfrm>
            <a:off x="548640" y="1600200"/>
            <a:ext cx="11064240" cy="3749040"/>
          </a:xfrm>
          <a:prstGeom prst="rect">
            <a:avLst/>
          </a:prstGeom>
          <a:noFill/>
          <a:ln/>
        </p:spPr>
        <p:txBody>
          <a:bodyPr wrap="square" rtlCol="0" anchor="t"/>
          <a:lstStyle/>
          <a:p>
            <a:pPr indent="0" marL="0">
              <a:buNone/>
            </a:pPr>
            <a:r>
              <a:rPr lang="en-US" sz="1300" dirty="0">
                <a:solidFill>
                  <a:srgbClr val="EEFF89"/>
                </a:solidFill>
                <a:latin typeface="Courier New" pitchFamily="34" charset="0"/>
                <a:ea typeface="Courier New" pitchFamily="34" charset="-122"/>
                <a:cs typeface="Courier New" pitchFamily="34" charset="-120"/>
              </a:rPr>
              <a:t>Voy a describirte el comportamiento de usuarios que se dieron</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de baja en los últimos 90 días.</a:t>
            </a:r>
            <a:endParaRPr lang="en-US" sz="1300" dirty="0"/>
          </a:p>
          <a:p>
            <a:pPr indent="0" marL="0">
              <a:buNone/>
            </a:pP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[Describe el patrón: días activos antes de irse, último paso</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completado, si llegaron a activar o no, evento común antes</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del churn]</a:t>
            </a:r>
            <a:endParaRPr lang="en-US" sz="1300" dirty="0"/>
          </a:p>
          <a:p>
            <a:pPr indent="0" marL="0">
              <a:buNone/>
            </a:pP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Basado en esto:</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1. ¿Cuál es el patrón de churn más probable?</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2. ¿En qué momento exacto debo activar el flujo?</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3. ¿Cuál debería ser el mensaje central de la recuperación?</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4. Dame la estructura de 3 emails con el ángulo correcto</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   — sin descuentos si es posible.</a:t>
            </a:r>
            <a:endParaRPr lang="en-US" sz="1300" dirty="0"/>
          </a:p>
        </p:txBody>
      </p:sp>
      <p:sp>
        <p:nvSpPr>
          <p:cNvPr id="9" name="Text 7"/>
          <p:cNvSpPr/>
          <p:nvPr/>
        </p:nvSpPr>
        <p:spPr>
          <a:xfrm>
            <a:off x="365760" y="5669280"/>
            <a:ext cx="11430000" cy="914400"/>
          </a:xfrm>
          <a:prstGeom prst="rect">
            <a:avLst/>
          </a:prstGeom>
          <a:noFill/>
          <a:ln/>
        </p:spPr>
        <p:txBody>
          <a:bodyPr wrap="square" rtlCol="0" anchor="ctr"/>
          <a:lstStyle/>
          <a:p>
            <a:pPr indent="0" marL="0">
              <a:buNone/>
            </a:pPr>
            <a:r>
              <a:rPr lang="en-US" sz="1300" i="1" dirty="0">
                <a:solidFill>
                  <a:srgbClr val="000000"/>
                </a:solidFill>
                <a:latin typeface="Calibri" pitchFamily="34" charset="0"/>
                <a:ea typeface="Calibri" pitchFamily="34" charset="-122"/>
                <a:cs typeface="Calibri" pitchFamily="34" charset="-120"/>
              </a:rPr>
              <a:t>Este prompt convierte a Claude en analista de churn. No reemplaza tu análisis de datos — lo complementa con hipótesis accionables.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FF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Los tres sistemas de retención: un motor completo</a:t>
            </a:r>
            <a:endParaRPr lang="en-US" sz="2600" dirty="0"/>
          </a:p>
        </p:txBody>
      </p:sp>
      <p:sp>
        <p:nvSpPr>
          <p:cNvPr id="4" name="Shape 2"/>
          <p:cNvSpPr/>
          <p:nvPr/>
        </p:nvSpPr>
        <p:spPr>
          <a:xfrm>
            <a:off x="320040" y="1188720"/>
            <a:ext cx="3657600" cy="548640"/>
          </a:xfrm>
          <a:prstGeom prst="rect">
            <a:avLst/>
          </a:prstGeom>
          <a:solidFill>
            <a:srgbClr val="FF0000"/>
          </a:solidFill>
          <a:ln/>
        </p:spPr>
      </p:sp>
      <p:sp>
        <p:nvSpPr>
          <p:cNvPr id="5" name="Text 3"/>
          <p:cNvSpPr/>
          <p:nvPr/>
        </p:nvSpPr>
        <p:spPr>
          <a:xfrm>
            <a:off x="32004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ONBOARDING</a:t>
            </a:r>
            <a:endParaRPr lang="en-US" sz="1500" dirty="0"/>
          </a:p>
        </p:txBody>
      </p:sp>
      <p:sp>
        <p:nvSpPr>
          <p:cNvPr id="6" name="Shape 4"/>
          <p:cNvSpPr/>
          <p:nvPr/>
        </p:nvSpPr>
        <p:spPr>
          <a:xfrm>
            <a:off x="320040" y="1737360"/>
            <a:ext cx="3657600" cy="4846320"/>
          </a:xfrm>
          <a:prstGeom prst="rect">
            <a:avLst/>
          </a:prstGeom>
          <a:solidFill>
            <a:srgbClr val="FAFAFA"/>
          </a:solidFill>
          <a:ln w="12700">
            <a:solidFill>
              <a:srgbClr val="DDDDDD"/>
            </a:solidFill>
            <a:prstDash val="solid"/>
          </a:ln>
        </p:spPr>
      </p:sp>
      <p:sp>
        <p:nvSpPr>
          <p:cNvPr id="7" name="Shape 5"/>
          <p:cNvSpPr/>
          <p:nvPr/>
        </p:nvSpPr>
        <p:spPr>
          <a:xfrm>
            <a:off x="429768" y="1920240"/>
            <a:ext cx="54864" cy="475488"/>
          </a:xfrm>
          <a:prstGeom prst="rect">
            <a:avLst/>
          </a:prstGeom>
          <a:solidFill>
            <a:srgbClr val="FF0000"/>
          </a:solidFill>
          <a:ln/>
        </p:spPr>
      </p:sp>
      <p:sp>
        <p:nvSpPr>
          <p:cNvPr id="8" name="Text 6"/>
          <p:cNvSpPr/>
          <p:nvPr/>
        </p:nvSpPr>
        <p:spPr>
          <a:xfrm>
            <a:off x="59436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5 emails en 20 minutos</a:t>
            </a:r>
            <a:endParaRPr lang="en-US" sz="1300" dirty="0"/>
          </a:p>
        </p:txBody>
      </p:sp>
      <p:sp>
        <p:nvSpPr>
          <p:cNvPr id="9" name="Shape 7"/>
          <p:cNvSpPr/>
          <p:nvPr/>
        </p:nvSpPr>
        <p:spPr>
          <a:xfrm>
            <a:off x="429768" y="2724912"/>
            <a:ext cx="54864" cy="475488"/>
          </a:xfrm>
          <a:prstGeom prst="rect">
            <a:avLst/>
          </a:prstGeom>
          <a:solidFill>
            <a:srgbClr val="FF0000"/>
          </a:solidFill>
          <a:ln/>
        </p:spPr>
      </p:sp>
      <p:sp>
        <p:nvSpPr>
          <p:cNvPr id="10" name="Text 8"/>
          <p:cNvSpPr/>
          <p:nvPr/>
        </p:nvSpPr>
        <p:spPr>
          <a:xfrm>
            <a:off x="59436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Adapta a cada paso de activación</a:t>
            </a:r>
            <a:endParaRPr lang="en-US" sz="1300" dirty="0"/>
          </a:p>
        </p:txBody>
      </p:sp>
      <p:sp>
        <p:nvSpPr>
          <p:cNvPr id="11" name="Shape 9"/>
          <p:cNvSpPr/>
          <p:nvPr/>
        </p:nvSpPr>
        <p:spPr>
          <a:xfrm>
            <a:off x="429768" y="3529584"/>
            <a:ext cx="54864" cy="475488"/>
          </a:xfrm>
          <a:prstGeom prst="rect">
            <a:avLst/>
          </a:prstGeom>
          <a:solidFill>
            <a:srgbClr val="FF0000"/>
          </a:solidFill>
          <a:ln/>
        </p:spPr>
      </p:sp>
      <p:sp>
        <p:nvSpPr>
          <p:cNvPr id="12" name="Text 10"/>
          <p:cNvSpPr/>
          <p:nvPr/>
        </p:nvSpPr>
        <p:spPr>
          <a:xfrm>
            <a:off x="59436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Menciona el obstáculo por nombre</a:t>
            </a:r>
            <a:endParaRPr lang="en-US" sz="1300" dirty="0"/>
          </a:p>
        </p:txBody>
      </p:sp>
      <p:sp>
        <p:nvSpPr>
          <p:cNvPr id="13" name="Shape 11"/>
          <p:cNvSpPr/>
          <p:nvPr/>
        </p:nvSpPr>
        <p:spPr>
          <a:xfrm>
            <a:off x="429768" y="4334256"/>
            <a:ext cx="54864" cy="475488"/>
          </a:xfrm>
          <a:prstGeom prst="rect">
            <a:avLst/>
          </a:prstGeom>
          <a:solidFill>
            <a:srgbClr val="FF0000"/>
          </a:solidFill>
          <a:ln/>
        </p:spPr>
      </p:sp>
      <p:sp>
        <p:nvSpPr>
          <p:cNvPr id="14" name="Text 12"/>
          <p:cNvSpPr/>
          <p:nvPr/>
        </p:nvSpPr>
        <p:spPr>
          <a:xfrm>
            <a:off x="59436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Urgencia real en el email 5</a:t>
            </a:r>
            <a:endParaRPr lang="en-US" sz="1300" dirty="0"/>
          </a:p>
        </p:txBody>
      </p:sp>
      <p:sp>
        <p:nvSpPr>
          <p:cNvPr id="15" name="Shape 13"/>
          <p:cNvSpPr/>
          <p:nvPr/>
        </p:nvSpPr>
        <p:spPr>
          <a:xfrm>
            <a:off x="4343400" y="1188720"/>
            <a:ext cx="3657600" cy="548640"/>
          </a:xfrm>
          <a:prstGeom prst="rect">
            <a:avLst/>
          </a:prstGeom>
          <a:solidFill>
            <a:srgbClr val="FF6B00"/>
          </a:solidFill>
          <a:ln/>
        </p:spPr>
      </p:sp>
      <p:sp>
        <p:nvSpPr>
          <p:cNvPr id="16" name="Text 14"/>
          <p:cNvSpPr/>
          <p:nvPr/>
        </p:nvSpPr>
        <p:spPr>
          <a:xfrm>
            <a:off x="434340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REACTIVACIÓN</a:t>
            </a:r>
            <a:endParaRPr lang="en-US" sz="1500" dirty="0"/>
          </a:p>
        </p:txBody>
      </p:sp>
      <p:sp>
        <p:nvSpPr>
          <p:cNvPr id="17" name="Shape 15"/>
          <p:cNvSpPr/>
          <p:nvPr/>
        </p:nvSpPr>
        <p:spPr>
          <a:xfrm>
            <a:off x="4343400" y="1737360"/>
            <a:ext cx="3657600" cy="4846320"/>
          </a:xfrm>
          <a:prstGeom prst="rect">
            <a:avLst/>
          </a:prstGeom>
          <a:solidFill>
            <a:srgbClr val="FAFAFA"/>
          </a:solidFill>
          <a:ln w="12700">
            <a:solidFill>
              <a:srgbClr val="DDDDDD"/>
            </a:solidFill>
            <a:prstDash val="solid"/>
          </a:ln>
        </p:spPr>
      </p:sp>
      <p:sp>
        <p:nvSpPr>
          <p:cNvPr id="18" name="Shape 16"/>
          <p:cNvSpPr/>
          <p:nvPr/>
        </p:nvSpPr>
        <p:spPr>
          <a:xfrm>
            <a:off x="4453128" y="1920240"/>
            <a:ext cx="54864" cy="475488"/>
          </a:xfrm>
          <a:prstGeom prst="rect">
            <a:avLst/>
          </a:prstGeom>
          <a:solidFill>
            <a:srgbClr val="FF6B00"/>
          </a:solidFill>
          <a:ln/>
        </p:spPr>
      </p:sp>
      <p:sp>
        <p:nvSpPr>
          <p:cNvPr id="19" name="Text 17"/>
          <p:cNvSpPr/>
          <p:nvPr/>
        </p:nvSpPr>
        <p:spPr>
          <a:xfrm>
            <a:off x="461772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3 emails máximo por segmento</a:t>
            </a:r>
            <a:endParaRPr lang="en-US" sz="1300" dirty="0"/>
          </a:p>
        </p:txBody>
      </p:sp>
      <p:sp>
        <p:nvSpPr>
          <p:cNvPr id="20" name="Shape 18"/>
          <p:cNvSpPr/>
          <p:nvPr/>
        </p:nvSpPr>
        <p:spPr>
          <a:xfrm>
            <a:off x="4453128" y="2724912"/>
            <a:ext cx="54864" cy="475488"/>
          </a:xfrm>
          <a:prstGeom prst="rect">
            <a:avLst/>
          </a:prstGeom>
          <a:solidFill>
            <a:srgbClr val="FF6B00"/>
          </a:solidFill>
          <a:ln/>
        </p:spPr>
      </p:sp>
      <p:sp>
        <p:nvSpPr>
          <p:cNvPr id="21" name="Text 19"/>
          <p:cNvSpPr/>
          <p:nvPr/>
        </p:nvSpPr>
        <p:spPr>
          <a:xfrm>
            <a:off x="461772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Diagnóstico de patrón de churn</a:t>
            </a:r>
            <a:endParaRPr lang="en-US" sz="1300" dirty="0"/>
          </a:p>
        </p:txBody>
      </p:sp>
      <p:sp>
        <p:nvSpPr>
          <p:cNvPr id="22" name="Shape 20"/>
          <p:cNvSpPr/>
          <p:nvPr/>
        </p:nvSpPr>
        <p:spPr>
          <a:xfrm>
            <a:off x="4453128" y="3529584"/>
            <a:ext cx="54864" cy="475488"/>
          </a:xfrm>
          <a:prstGeom prst="rect">
            <a:avLst/>
          </a:prstGeom>
          <a:solidFill>
            <a:srgbClr val="FF6B00"/>
          </a:solidFill>
          <a:ln/>
        </p:spPr>
      </p:sp>
      <p:sp>
        <p:nvSpPr>
          <p:cNvPr id="23" name="Text 21"/>
          <p:cNvSpPr/>
          <p:nvPr/>
        </p:nvSpPr>
        <p:spPr>
          <a:xfrm>
            <a:off x="461772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Sin desesperación en el Email 1</a:t>
            </a:r>
            <a:endParaRPr lang="en-US" sz="1300" dirty="0"/>
          </a:p>
        </p:txBody>
      </p:sp>
      <p:sp>
        <p:nvSpPr>
          <p:cNvPr id="24" name="Shape 22"/>
          <p:cNvSpPr/>
          <p:nvPr/>
        </p:nvSpPr>
        <p:spPr>
          <a:xfrm>
            <a:off x="4453128" y="4334256"/>
            <a:ext cx="54864" cy="475488"/>
          </a:xfrm>
          <a:prstGeom prst="rect">
            <a:avLst/>
          </a:prstGeom>
          <a:solidFill>
            <a:srgbClr val="FF6B00"/>
          </a:solidFill>
          <a:ln/>
        </p:spPr>
      </p:sp>
      <p:sp>
        <p:nvSpPr>
          <p:cNvPr id="25" name="Text 23"/>
          <p:cNvSpPr/>
          <p:nvPr/>
        </p:nvSpPr>
        <p:spPr>
          <a:xfrm>
            <a:off x="461772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Incentivo en Email 2 o 3, no en 1</a:t>
            </a:r>
            <a:endParaRPr lang="en-US" sz="1300" dirty="0"/>
          </a:p>
        </p:txBody>
      </p:sp>
      <p:sp>
        <p:nvSpPr>
          <p:cNvPr id="26" name="Shape 24"/>
          <p:cNvSpPr/>
          <p:nvPr/>
        </p:nvSpPr>
        <p:spPr>
          <a:xfrm>
            <a:off x="8366760" y="1188720"/>
            <a:ext cx="3657600" cy="548640"/>
          </a:xfrm>
          <a:prstGeom prst="rect">
            <a:avLst/>
          </a:prstGeom>
          <a:solidFill>
            <a:srgbClr val="000000"/>
          </a:solidFill>
          <a:ln/>
        </p:spPr>
      </p:sp>
      <p:sp>
        <p:nvSpPr>
          <p:cNvPr id="27" name="Text 25"/>
          <p:cNvSpPr/>
          <p:nvPr/>
        </p:nvSpPr>
        <p:spPr>
          <a:xfrm>
            <a:off x="836676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UPSELL</a:t>
            </a:r>
            <a:endParaRPr lang="en-US" sz="1500" dirty="0"/>
          </a:p>
        </p:txBody>
      </p:sp>
      <p:sp>
        <p:nvSpPr>
          <p:cNvPr id="28" name="Shape 26"/>
          <p:cNvSpPr/>
          <p:nvPr/>
        </p:nvSpPr>
        <p:spPr>
          <a:xfrm>
            <a:off x="8366760" y="1737360"/>
            <a:ext cx="3657600" cy="4846320"/>
          </a:xfrm>
          <a:prstGeom prst="rect">
            <a:avLst/>
          </a:prstGeom>
          <a:solidFill>
            <a:srgbClr val="FAFAFA"/>
          </a:solidFill>
          <a:ln w="12700">
            <a:solidFill>
              <a:srgbClr val="DDDDDD"/>
            </a:solidFill>
            <a:prstDash val="solid"/>
          </a:ln>
        </p:spPr>
      </p:sp>
      <p:sp>
        <p:nvSpPr>
          <p:cNvPr id="29" name="Shape 27"/>
          <p:cNvSpPr/>
          <p:nvPr/>
        </p:nvSpPr>
        <p:spPr>
          <a:xfrm>
            <a:off x="8476488" y="1920240"/>
            <a:ext cx="54864" cy="475488"/>
          </a:xfrm>
          <a:prstGeom prst="rect">
            <a:avLst/>
          </a:prstGeom>
          <a:solidFill>
            <a:srgbClr val="000000"/>
          </a:solidFill>
          <a:ln/>
        </p:spPr>
      </p:sp>
      <p:sp>
        <p:nvSpPr>
          <p:cNvPr id="30" name="Text 28"/>
          <p:cNvSpPr/>
          <p:nvPr/>
        </p:nvSpPr>
        <p:spPr>
          <a:xfrm>
            <a:off x="864108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Trigger basado en comportamiento</a:t>
            </a:r>
            <a:endParaRPr lang="en-US" sz="1300" dirty="0"/>
          </a:p>
        </p:txBody>
      </p:sp>
      <p:sp>
        <p:nvSpPr>
          <p:cNvPr id="31" name="Shape 29"/>
          <p:cNvSpPr/>
          <p:nvPr/>
        </p:nvSpPr>
        <p:spPr>
          <a:xfrm>
            <a:off x="8476488" y="2724912"/>
            <a:ext cx="54864" cy="475488"/>
          </a:xfrm>
          <a:prstGeom prst="rect">
            <a:avLst/>
          </a:prstGeom>
          <a:solidFill>
            <a:srgbClr val="000000"/>
          </a:solidFill>
          <a:ln/>
        </p:spPr>
      </p:sp>
      <p:sp>
        <p:nvSpPr>
          <p:cNvPr id="32" name="Text 30"/>
          <p:cNvSpPr/>
          <p:nvPr/>
        </p:nvSpPr>
        <p:spPr>
          <a:xfrm>
            <a:off x="864108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Beneficio específico, no features</a:t>
            </a:r>
            <a:endParaRPr lang="en-US" sz="1300" dirty="0"/>
          </a:p>
        </p:txBody>
      </p:sp>
      <p:sp>
        <p:nvSpPr>
          <p:cNvPr id="33" name="Shape 31"/>
          <p:cNvSpPr/>
          <p:nvPr/>
        </p:nvSpPr>
        <p:spPr>
          <a:xfrm>
            <a:off x="8476488" y="3529584"/>
            <a:ext cx="54864" cy="475488"/>
          </a:xfrm>
          <a:prstGeom prst="rect">
            <a:avLst/>
          </a:prstGeom>
          <a:solidFill>
            <a:srgbClr val="000000"/>
          </a:solidFill>
          <a:ln/>
        </p:spPr>
      </p:sp>
      <p:sp>
        <p:nvSpPr>
          <p:cNvPr id="34" name="Text 32"/>
          <p:cNvSpPr/>
          <p:nvPr/>
        </p:nvSpPr>
        <p:spPr>
          <a:xfrm>
            <a:off x="864108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Canal: email + in-app</a:t>
            </a:r>
            <a:endParaRPr lang="en-US" sz="1300" dirty="0"/>
          </a:p>
        </p:txBody>
      </p:sp>
      <p:sp>
        <p:nvSpPr>
          <p:cNvPr id="35" name="Shape 33"/>
          <p:cNvSpPr/>
          <p:nvPr/>
        </p:nvSpPr>
        <p:spPr>
          <a:xfrm>
            <a:off x="8476488" y="4334256"/>
            <a:ext cx="54864" cy="475488"/>
          </a:xfrm>
          <a:prstGeom prst="rect">
            <a:avLst/>
          </a:prstGeom>
          <a:solidFill>
            <a:srgbClr val="000000"/>
          </a:solidFill>
          <a:ln/>
        </p:spPr>
      </p:sp>
      <p:sp>
        <p:nvSpPr>
          <p:cNvPr id="36" name="Text 34"/>
          <p:cNvSpPr/>
          <p:nvPr/>
        </p:nvSpPr>
        <p:spPr>
          <a:xfrm>
            <a:off x="864108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Sin urgencia falsa — solo si es real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6B00"/>
          </a:solidFill>
          <a:ln/>
        </p:spPr>
      </p:sp>
      <p:sp>
        <p:nvSpPr>
          <p:cNvPr id="3" name="Shape 1"/>
          <p:cNvSpPr/>
          <p:nvPr/>
        </p:nvSpPr>
        <p:spPr>
          <a:xfrm>
            <a:off x="164592" y="0"/>
            <a:ext cx="12024360" cy="1143000"/>
          </a:xfrm>
          <a:prstGeom prst="rect">
            <a:avLst/>
          </a:prstGeom>
          <a:solidFill>
            <a:srgbClr val="000000"/>
          </a:solidFill>
          <a:ln/>
        </p:spPr>
      </p:sp>
      <p:sp>
        <p:nvSpPr>
          <p:cNvPr id="4" name="Text 2"/>
          <p:cNvSpPr/>
          <p:nvPr/>
        </p:nvSpPr>
        <p:spPr>
          <a:xfrm>
            <a:off x="457200" y="0"/>
            <a:ext cx="11430000" cy="114300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Upsell: los 3 inputs para el mensaje correcto en el momento correcto</a:t>
            </a:r>
            <a:endParaRPr lang="en-US" sz="2600" dirty="0"/>
          </a:p>
        </p:txBody>
      </p:sp>
      <p:sp>
        <p:nvSpPr>
          <p:cNvPr id="5" name="Shape 3"/>
          <p:cNvSpPr/>
          <p:nvPr/>
        </p:nvSpPr>
        <p:spPr>
          <a:xfrm>
            <a:off x="164592" y="1124712"/>
            <a:ext cx="12024360" cy="73152"/>
          </a:xfrm>
          <a:prstGeom prst="rect">
            <a:avLst/>
          </a:prstGeom>
          <a:solidFill>
            <a:srgbClr val="EEFF89"/>
          </a:solidFill>
          <a:ln/>
        </p:spPr>
      </p:sp>
      <p:sp>
        <p:nvSpPr>
          <p:cNvPr id="6" name="Shape 4"/>
          <p:cNvSpPr/>
          <p:nvPr/>
        </p:nvSpPr>
        <p:spPr>
          <a:xfrm>
            <a:off x="457200" y="1490472"/>
            <a:ext cx="384048" cy="384048"/>
          </a:xfrm>
          <a:prstGeom prst="rect">
            <a:avLst/>
          </a:prstGeom>
          <a:solidFill>
            <a:srgbClr val="FF6B00"/>
          </a:solidFill>
          <a:ln/>
        </p:spPr>
      </p:sp>
      <p:sp>
        <p:nvSpPr>
          <p:cNvPr id="7" name="Text 5"/>
          <p:cNvSpPr/>
          <p:nvPr/>
        </p:nvSpPr>
        <p:spPr>
          <a:xfrm>
            <a:off x="457200" y="149047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05840" y="141732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El indicador de expansión — ¿qué comportamiento señala que está listo? Usos frecuentes, límite de plan alcanzado, número de usuarios invitados.</a:t>
            </a:r>
            <a:endParaRPr lang="en-US" sz="1500" dirty="0"/>
          </a:p>
        </p:txBody>
      </p:sp>
      <p:sp>
        <p:nvSpPr>
          <p:cNvPr id="9" name="Shape 7"/>
          <p:cNvSpPr/>
          <p:nvPr/>
        </p:nvSpPr>
        <p:spPr>
          <a:xfrm>
            <a:off x="457200" y="2221992"/>
            <a:ext cx="384048" cy="384048"/>
          </a:xfrm>
          <a:prstGeom prst="rect">
            <a:avLst/>
          </a:prstGeom>
          <a:solidFill>
            <a:srgbClr val="FF6B00"/>
          </a:solidFill>
          <a:ln/>
        </p:spPr>
      </p:sp>
      <p:sp>
        <p:nvSpPr>
          <p:cNvPr id="10" name="Text 8"/>
          <p:cNvSpPr/>
          <p:nvPr/>
        </p:nvSpPr>
        <p:spPr>
          <a:xfrm>
            <a:off x="457200" y="222199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005840" y="214884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El beneficio específico del plan superior PARA ESTE usuario AHORA — no los features genéricos del plan Pro, sino lo que resuelve para alguien que acaba de alcanzar ese límite.</a:t>
            </a:r>
            <a:endParaRPr lang="en-US" sz="1500" dirty="0"/>
          </a:p>
        </p:txBody>
      </p:sp>
      <p:sp>
        <p:nvSpPr>
          <p:cNvPr id="12" name="Shape 10"/>
          <p:cNvSpPr/>
          <p:nvPr/>
        </p:nvSpPr>
        <p:spPr>
          <a:xfrm>
            <a:off x="457200" y="2953512"/>
            <a:ext cx="384048" cy="384048"/>
          </a:xfrm>
          <a:prstGeom prst="rect">
            <a:avLst/>
          </a:prstGeom>
          <a:solidFill>
            <a:srgbClr val="FF6B00"/>
          </a:solidFill>
          <a:ln/>
        </p:spPr>
      </p:sp>
      <p:sp>
        <p:nvSpPr>
          <p:cNvPr id="13" name="Text 11"/>
          <p:cNvSpPr/>
          <p:nvPr/>
        </p:nvSpPr>
        <p:spPr>
          <a:xfrm>
            <a:off x="457200" y="295351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005840" y="288036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El canal y el momento — ¿in-app? ¿Email? ¿Cuántos días después del evento? Claude adapta el tono y la urgencia.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6B00"/>
          </a:solidFill>
          <a:ln/>
        </p:spPr>
      </p:sp>
      <p:sp>
        <p:nvSpPr>
          <p:cNvPr id="3" name="Text 1"/>
          <p:cNvSpPr/>
          <p:nvPr/>
        </p:nvSpPr>
        <p:spPr>
          <a:xfrm>
            <a:off x="457200" y="457200"/>
            <a:ext cx="1828800" cy="1828800"/>
          </a:xfrm>
          <a:prstGeom prst="rect">
            <a:avLst/>
          </a:prstGeom>
          <a:noFill/>
          <a:ln/>
        </p:spPr>
        <p:txBody>
          <a:bodyPr wrap="square" rtlCol="0" anchor="t"/>
          <a:lstStyle/>
          <a:p>
            <a:pPr algn="l" indent="0" marL="0">
              <a:buNone/>
            </a:pPr>
            <a:r>
              <a:rPr lang="en-US" sz="9600" dirty="0">
                <a:solidFill>
                  <a:srgbClr val="FF6B00"/>
                </a:solidFill>
                <a:latin typeface="Arial Black" pitchFamily="34" charset="0"/>
                <a:ea typeface="Arial Black" pitchFamily="34" charset="-122"/>
                <a:cs typeface="Arial Black" pitchFamily="34" charset="-120"/>
              </a:rPr>
              <a:t>“</a:t>
            </a:r>
            <a:endParaRPr lang="en-US" sz="9600" dirty="0"/>
          </a:p>
        </p:txBody>
      </p:sp>
      <p:sp>
        <p:nvSpPr>
          <p:cNvPr id="4" name="Text 2"/>
          <p:cNvSpPr/>
          <p:nvPr/>
        </p:nvSpPr>
        <p:spPr>
          <a:xfrm>
            <a:off x="1371600" y="1097280"/>
            <a:ext cx="9418320" cy="4114800"/>
          </a:xfrm>
          <a:prstGeom prst="rect">
            <a:avLst/>
          </a:prstGeom>
          <a:noFill/>
          <a:ln/>
        </p:spPr>
        <p:txBody>
          <a:bodyPr wrap="square"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La diferencia no es solo velocidad. Es especificidad.</a:t>
            </a:r>
            <a:endParaRPr lang="en-US" sz="2200" dirty="0"/>
          </a:p>
          <a:p>
            <a:pPr algn="ctr" indent="0" marL="0">
              <a:buNone/>
            </a:pPr>
            <a:r>
              <a:rPr lang="en-US" sz="2200" i="1" dirty="0">
                <a:solidFill>
                  <a:srgbClr val="FFFFFF"/>
                </a:solidFill>
                <a:latin typeface="Calibri" pitchFamily="34" charset="0"/>
                <a:ea typeface="Calibri" pitchFamily="34" charset="-122"/>
                <a:cs typeface="Calibri" pitchFamily="34" charset="-120"/>
              </a:rPr>
              <a:t>Claude con los 6 inputs correctos escribe el email que menciona el paso exacto donde está el usuario, el obstáculo que encontró y el resultado concreto si avanza.</a:t>
            </a:r>
            <a:endParaRPr lang="en-US" sz="2200" dirty="0"/>
          </a:p>
        </p:txBody>
      </p:sp>
      <p:sp>
        <p:nvSpPr>
          <p:cNvPr id="5" name="Shape 3"/>
          <p:cNvSpPr/>
          <p:nvPr/>
        </p:nvSpPr>
        <p:spPr>
          <a:xfrm>
            <a:off x="3657600" y="5394960"/>
            <a:ext cx="4873752" cy="73152"/>
          </a:xfrm>
          <a:prstGeom prst="rect">
            <a:avLst/>
          </a:prstGeom>
          <a:solidFill>
            <a:srgbClr val="FF6B00"/>
          </a:solidFill>
          <a:ln/>
        </p:spPr>
      </p:sp>
      <p:sp>
        <p:nvSpPr>
          <p:cNvPr id="6" name="Text 4"/>
          <p:cNvSpPr/>
          <p:nvPr/>
        </p:nvSpPr>
        <p:spPr>
          <a:xfrm>
            <a:off x="1371600" y="5577840"/>
            <a:ext cx="9418320" cy="640080"/>
          </a:xfrm>
          <a:prstGeom prst="rect">
            <a:avLst/>
          </a:prstGeom>
          <a:noFill/>
          <a:ln/>
        </p:spPr>
        <p:txBody>
          <a:bodyPr wrap="square" rtlCol="0" anchor="ctr"/>
          <a:lstStyle/>
          <a:p>
            <a:pPr algn="ctr" indent="0" marL="0">
              <a:buNone/>
            </a:pPr>
            <a:r>
              <a:rPr lang="en-US" sz="1500" b="1" dirty="0">
                <a:solidFill>
                  <a:srgbClr val="EEFF89"/>
                </a:solidFill>
                <a:latin typeface="Calibri" pitchFamily="34" charset="0"/>
                <a:ea typeface="Calibri" pitchFamily="34" charset="-122"/>
                <a:cs typeface="Calibri" pitchFamily="34" charset="-120"/>
              </a:rPr>
              <a:t>Eso no es email marketing. Es onboarding como producto.</a:t>
            </a:r>
            <a:endParaRPr lang="en-US" sz="1500" dirty="0"/>
          </a:p>
        </p:txBody>
      </p:sp>
      <p:sp>
        <p:nvSpPr>
          <p:cNvPr id="7" name="Shape 5"/>
          <p:cNvSpPr/>
          <p:nvPr/>
        </p:nvSpPr>
        <p:spPr>
          <a:xfrm>
            <a:off x="0" y="6748272"/>
            <a:ext cx="12188952" cy="109728"/>
          </a:xfrm>
          <a:prstGeom prst="rect">
            <a:avLst/>
          </a:prstGeom>
          <a:solidFill>
            <a:srgbClr val="FF6B0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Shape 1"/>
          <p:cNvSpPr/>
          <p:nvPr/>
        </p:nvSpPr>
        <p:spPr>
          <a:xfrm>
            <a:off x="548640" y="457200"/>
            <a:ext cx="2743200" cy="457200"/>
          </a:xfrm>
          <a:prstGeom prst="rect">
            <a:avLst/>
          </a:prstGeom>
          <a:solidFill>
            <a:srgbClr val="FF6B00"/>
          </a:solidFill>
          <a:ln/>
        </p:spPr>
      </p:sp>
      <p:sp>
        <p:nvSpPr>
          <p:cNvPr id="4" name="Text 2"/>
          <p:cNvSpPr/>
          <p:nvPr/>
        </p:nvSpPr>
        <p:spPr>
          <a:xfrm>
            <a:off x="548640" y="457200"/>
            <a:ext cx="2743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ENTREGABLE DE LA CLASE</a:t>
            </a:r>
            <a:endParaRPr lang="en-US" sz="1100" dirty="0"/>
          </a:p>
        </p:txBody>
      </p:sp>
      <p:sp>
        <p:nvSpPr>
          <p:cNvPr id="5" name="Text 3"/>
          <p:cNvSpPr/>
          <p:nvPr/>
        </p:nvSpPr>
        <p:spPr>
          <a:xfrm>
            <a:off x="548640" y="1097280"/>
            <a:ext cx="11064240" cy="2194560"/>
          </a:xfrm>
          <a:prstGeom prst="rect">
            <a:avLst/>
          </a:prstGeom>
          <a:noFill/>
          <a:ln/>
        </p:spPr>
        <p:txBody>
          <a:bodyPr wrap="square" rtlCol="0" anchor="t"/>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Templates de secuencias de retención</a:t>
            </a:r>
            <a:endParaRPr lang="en-US" sz="3200" dirty="0"/>
          </a:p>
          <a:p>
            <a:pPr algn="l" indent="0" marL="0">
              <a:buNone/>
            </a:pPr>
            <a:r>
              <a:rPr lang="en-US" sz="3200" b="1" dirty="0">
                <a:solidFill>
                  <a:srgbClr val="FFFFFF"/>
                </a:solidFill>
                <a:latin typeface="Arial Black" pitchFamily="34" charset="0"/>
                <a:ea typeface="Arial Black" pitchFamily="34" charset="-122"/>
                <a:cs typeface="Arial Black" pitchFamily="34" charset="-120"/>
              </a:rPr>
              <a:t>— el entregable</a:t>
            </a:r>
            <a:endParaRPr lang="en-US" sz="3200" dirty="0"/>
          </a:p>
        </p:txBody>
      </p:sp>
      <p:sp>
        <p:nvSpPr>
          <p:cNvPr id="6" name="Shape 4"/>
          <p:cNvSpPr/>
          <p:nvPr/>
        </p:nvSpPr>
        <p:spPr>
          <a:xfrm>
            <a:off x="548640" y="3474720"/>
            <a:ext cx="11064240" cy="1645920"/>
          </a:xfrm>
          <a:prstGeom prst="rect">
            <a:avLst/>
          </a:prstGeom>
          <a:solidFill>
            <a:srgbClr val="FF0000"/>
          </a:solidFill>
          <a:ln/>
        </p:spPr>
      </p:sp>
      <p:sp>
        <p:nvSpPr>
          <p:cNvPr id="7" name="Text 5"/>
          <p:cNvSpPr/>
          <p:nvPr/>
        </p:nvSpPr>
        <p:spPr>
          <a:xfrm>
            <a:off x="731520" y="3520440"/>
            <a:ext cx="10698480" cy="1554480"/>
          </a:xfrm>
          <a:prstGeom prst="rect">
            <a:avLst/>
          </a:prstGeom>
          <a:noFill/>
          <a:ln/>
        </p:spPr>
        <p:txBody>
          <a:bodyPr wrap="square" rtlCol="0" anchor="ctr"/>
          <a:lstStyle/>
          <a:p>
            <a:pPr algn="l" indent="0" marL="0">
              <a:buNone/>
            </a:pPr>
            <a:r>
              <a:rPr lang="en-US" sz="1700" dirty="0">
                <a:solidFill>
                  <a:srgbClr val="FFFFFF"/>
                </a:solidFill>
                <a:latin typeface="Calibri" pitchFamily="34" charset="0"/>
                <a:ea typeface="Calibri" pitchFamily="34" charset="-122"/>
                <a:cs typeface="Calibri" pitchFamily="34" charset="-120"/>
              </a:rPr>
              <a:t>Tu tarea: El entregable tiene tres plantillas — onboarding, reactivación y upsell. Elige UNA. La que más impacto tendría en tu negocio esta semana. Rellena los inputs. Ejecuta el prompt. Carga la secuencia en Mailchimp o Klaviyo.</a:t>
            </a:r>
            <a:endParaRPr lang="en-US" sz="1700" dirty="0"/>
          </a:p>
          <a:p>
            <a:pPr algn="l" indent="0" marL="0">
              <a:buNone/>
            </a:pPr>
            <a:endParaRPr lang="en-US" sz="1700" dirty="0"/>
          </a:p>
          <a:p>
            <a:pPr algn="l" indent="0" marL="0">
              <a:buNone/>
            </a:pPr>
            <a:r>
              <a:rPr lang="en-US" sz="1700" dirty="0">
                <a:solidFill>
                  <a:srgbClr val="FFFFFF"/>
                </a:solidFill>
                <a:latin typeface="Calibri" pitchFamily="34" charset="0"/>
                <a:ea typeface="Calibri" pitchFamily="34" charset="-122"/>
                <a:cs typeface="Calibri" pitchFamily="34" charset="-120"/>
              </a:rPr>
              <a:t>No esperes a tenerla perfecta — tenla activa.</a:t>
            </a:r>
            <a:endParaRPr lang="en-US" sz="1700" dirty="0"/>
          </a:p>
        </p:txBody>
      </p:sp>
      <p:sp>
        <p:nvSpPr>
          <p:cNvPr id="8" name="Shape 6"/>
          <p:cNvSpPr/>
          <p:nvPr/>
        </p:nvSpPr>
        <p:spPr>
          <a:xfrm>
            <a:off x="548640" y="5257800"/>
            <a:ext cx="11064240" cy="54864"/>
          </a:xfrm>
          <a:prstGeom prst="rect">
            <a:avLst/>
          </a:prstGeom>
          <a:solidFill>
            <a:srgbClr val="EEFF89"/>
          </a:solidFill>
          <a:ln/>
        </p:spPr>
      </p:sp>
      <p:sp>
        <p:nvSpPr>
          <p:cNvPr id="9" name="Text 7"/>
          <p:cNvSpPr/>
          <p:nvPr/>
        </p:nvSpPr>
        <p:spPr>
          <a:xfrm>
            <a:off x="548640" y="5440680"/>
            <a:ext cx="11064240" cy="731520"/>
          </a:xfrm>
          <a:prstGeom prst="rect">
            <a:avLst/>
          </a:prstGeom>
          <a:noFill/>
          <a:ln/>
        </p:spPr>
        <p:txBody>
          <a:bodyPr wrap="square" rtlCol="0" anchor="ctr"/>
          <a:lstStyle/>
          <a:p>
            <a:pPr algn="l" indent="0" marL="0">
              <a:buNone/>
            </a:pPr>
            <a:r>
              <a:rPr lang="en-US" sz="1500" i="1" dirty="0">
                <a:solidFill>
                  <a:srgbClr val="EEFF89"/>
                </a:solidFill>
                <a:latin typeface="Calibri" pitchFamily="34" charset="0"/>
                <a:ea typeface="Calibri" pitchFamily="34" charset="-122"/>
                <a:cs typeface="Calibri" pitchFamily="34" charset="-120"/>
              </a:rPr>
              <a:t>Siguiente clase: War Room de Growth — donde adquisición y retención convergen en un sistema de decisión.</a:t>
            </a:r>
            <a:endParaRPr lang="en-US" sz="1500" dirty="0"/>
          </a:p>
        </p:txBody>
      </p:sp>
      <p:sp>
        <p:nvSpPr>
          <p:cNvPr id="10" name="Shape 8"/>
          <p:cNvSpPr/>
          <p:nvPr/>
        </p:nvSpPr>
        <p:spPr>
          <a:xfrm>
            <a:off x="0" y="6748272"/>
            <a:ext cx="12188952" cy="109728"/>
          </a:xfrm>
          <a:prstGeom prst="rect">
            <a:avLst/>
          </a:prstGeom>
          <a:solidFill>
            <a:srgbClr val="FF000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05 — Motor de retención</dc:title>
  <dc:subject>PptxGenJS Presentation</dc:subject>
  <dc:creator>Claude para Growth</dc:creator>
  <cp:lastModifiedBy>Claude para Growth</cp:lastModifiedBy>
  <cp:revision>1</cp:revision>
  <dcterms:created xsi:type="dcterms:W3CDTF">2026-03-25T18:19:35Z</dcterms:created>
  <dcterms:modified xsi:type="dcterms:W3CDTF">2026-03-25T18:19:35Z</dcterms:modified>
</cp:coreProperties>
</file>