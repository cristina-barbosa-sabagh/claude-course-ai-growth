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 al Módulo 04. Este módulo es donde todo lo que aprendiste se convierte en sistema. El primer componente de ese sistema son los skills. Un skill es un prompt que ya probaste, que ya produce resultados, y que está guardado de forma que cualquier miembro de tu equipo —o tú dentro de seis meses— puede usarlo sin pensar. No es una carpeta de "prompts que algún día voy a usar". Es una librería de producción. Con nombre. Con instrucciones. Con ejemplos de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próximos 16 minutos te voy a dar los 15 skills más impactantes para un equipo de Growth. Listos para copiar, personalizar y usar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mayoría de equipos que empiezan con Claude cae en la misma trampa: encuentran un prompt que funciona bien, lo usan una vez, y la próxima vez tienen que reconstruirlo desde cero. Eso no es un sistema. Eso es suerte que no escala.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skill tiene cuatro componentes. Cuatro, no más. Con esos cuatro componentes, un prompt se convierte en skill. Y un skill bien documentado multiplica la capacidad de tu equipo sin contratar a nadie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necesitas un sistema de evaluación complejo. Necesitas una sola pregunta después de cada uso: ¿El output fue mejor o peor que la última vez? Un Growth skill maduro —uno que llevas 3 meses usando y mejorando— produce outputs que no podrías replicar manualmente en el mismo tiempo ni con el mismo nivel de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presentarte los 5 skills que más impacto generan en una operación de Growth. Skill 1: Generador de hipótesis — elimina el sesgo del HiPPO. Skill 2: Analizador de funnel — calcula impacto en revenue. Skill 3: Copies multicanal — consistencia entre canales desde un mismo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4: Revisor de métricas semanales. Cada semana pegas las métricas clave y Claude detecta anomalías, calcula variaciones y genera tres preguntas que deberías estar respondiendo. Skill 5: Redactor de reportes para stakeholders. El que más tiempo ahorra en absolute terms. Output: reporte ejecutivo en formato de 1 página listo para enviar al CEO, al board o al equipo directivo.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construir un skill completo en vivo. Desde el prompt hasta la entrada en Notion. Cuatro minutos. Sin cortes. Fíjate en la estructura: tengo un contexto claro, una tarea específica, y un formato de output definido. Los corchetes son las variables — lo único que cambia cada vez que uso este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próxima vez que alguien del equipo necesite generar hipótesis — tú, un junior, alguien nuevo — abre esta entrada, rellena los corchetes, pega en Claude. No hay curva de aprendizaje. El sistema trabaja. La semana que viene, cuando uses este skill y el output sea mejor de lo esperado, actualiza el prompt. En tres meses, ese skill va a ser tuyo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entregable de esta clase es la biblioteca de 15 skills en Notion. No es para leer y guardar. Es para usar esta semana. Elige uno de los 15 skills, personaliza las variables con tu contexto real, ejecútalo y guarda el output como referencia. Eso es todo. Un skill activo vale más que quince skills guardados.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Shape 1"/>
          <p:cNvSpPr/>
          <p:nvPr/>
        </p:nvSpPr>
        <p:spPr>
          <a:xfrm>
            <a:off x="0" y="6693408"/>
            <a:ext cx="12188952" cy="164592"/>
          </a:xfrm>
          <a:prstGeom prst="rect">
            <a:avLst/>
          </a:prstGeom>
          <a:solidFill>
            <a:srgbClr val="FF6B00"/>
          </a:solidFill>
          <a:ln/>
        </p:spPr>
      </p:sp>
      <p:sp>
        <p:nvSpPr>
          <p:cNvPr id="4" name="Text 2"/>
          <p:cNvSpPr/>
          <p:nvPr/>
        </p:nvSpPr>
        <p:spPr>
          <a:xfrm>
            <a:off x="548640" y="1645920"/>
            <a:ext cx="11064240" cy="2194560"/>
          </a:xfrm>
          <a:prstGeom prst="rect">
            <a:avLst/>
          </a:prstGeom>
          <a:noFill/>
          <a:ln/>
        </p:spPr>
        <p:txBody>
          <a:bodyPr wrap="square" rtlCol="0" anchor="ctr"/>
          <a:lstStyle/>
          <a:p>
            <a:pPr algn="ctr" indent="0" marL="0">
              <a:buNone/>
            </a:pPr>
            <a:r>
              <a:rPr lang="en-US" sz="4400" b="1" dirty="0">
                <a:solidFill>
                  <a:srgbClr val="FFFFFF"/>
                </a:solidFill>
                <a:latin typeface="Arial Black" pitchFamily="34" charset="0"/>
                <a:ea typeface="Arial Black" pitchFamily="34" charset="-122"/>
                <a:cs typeface="Arial Black" pitchFamily="34" charset="-120"/>
              </a:rPr>
              <a:t>Skills de Growth de Elite</a:t>
            </a:r>
            <a:endParaRPr lang="en-US" sz="4400" dirty="0"/>
          </a:p>
        </p:txBody>
      </p:sp>
      <p:sp>
        <p:nvSpPr>
          <p:cNvPr id="5" name="Shape 3"/>
          <p:cNvSpPr/>
          <p:nvPr/>
        </p:nvSpPr>
        <p:spPr>
          <a:xfrm>
            <a:off x="4114800" y="4023360"/>
            <a:ext cx="3959352" cy="54864"/>
          </a:xfrm>
          <a:prstGeom prst="rect">
            <a:avLst/>
          </a:prstGeom>
          <a:solidFill>
            <a:srgbClr val="FF0000"/>
          </a:solidFill>
          <a:ln/>
        </p:spPr>
      </p:sp>
      <p:sp>
        <p:nvSpPr>
          <p:cNvPr id="6" name="Text 4"/>
          <p:cNvSpPr/>
          <p:nvPr/>
        </p:nvSpPr>
        <p:spPr>
          <a:xfrm>
            <a:off x="548640" y="4206240"/>
            <a:ext cx="11064240" cy="1097280"/>
          </a:xfrm>
          <a:prstGeom prst="rect">
            <a:avLst/>
          </a:prstGeom>
          <a:noFill/>
          <a:ln/>
        </p:spPr>
        <p:txBody>
          <a:bodyPr wrap="square" rtlCol="0" anchor="ctr"/>
          <a:lstStyle/>
          <a:p>
            <a:pPr algn="ctr" indent="0" marL="0">
              <a:buNone/>
            </a:pPr>
            <a:r>
              <a:rPr lang="en-US" sz="1800" dirty="0">
                <a:solidFill>
                  <a:srgbClr val="FF6B00"/>
                </a:solidFill>
                <a:latin typeface="Calibri" pitchFamily="34" charset="0"/>
                <a:ea typeface="Calibri" pitchFamily="34" charset="-122"/>
                <a:cs typeface="Calibri" pitchFamily="34" charset="-120"/>
              </a:rPr>
              <a:t>Prompts que se reutilizan y mejoran solos</a:t>
            </a:r>
            <a:endParaRPr lang="en-US" sz="1800" dirty="0"/>
          </a:p>
          <a:p>
            <a:pPr algn="ctr" indent="0" marL="0">
              <a:buNone/>
            </a:pPr>
            <a:r>
              <a:rPr lang="en-US" sz="1800" dirty="0">
                <a:solidFill>
                  <a:srgbClr val="FF6B00"/>
                </a:solidFill>
                <a:latin typeface="Calibri" pitchFamily="34" charset="0"/>
                <a:ea typeface="Calibri" pitchFamily="34" charset="-122"/>
                <a:cs typeface="Calibri" pitchFamily="34" charset="-120"/>
              </a:rPr>
              <a:t>Módulo 04 · Clase 10 · 16 minutos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457200" y="914400"/>
            <a:ext cx="11274552" cy="2743200"/>
          </a:xfrm>
          <a:prstGeom prst="rect">
            <a:avLst/>
          </a:prstGeom>
          <a:noFill/>
          <a:ln/>
        </p:spPr>
        <p:txBody>
          <a:bodyPr wrap="square" rtlCol="0" anchor="ctr"/>
          <a:lstStyle/>
          <a:p>
            <a:pPr algn="ctr" indent="0" marL="0">
              <a:buNone/>
            </a:pPr>
            <a:r>
              <a:rPr lang="en-US" sz="10000" b="1" dirty="0">
                <a:solidFill>
                  <a:srgbClr val="FF0000"/>
                </a:solidFill>
                <a:latin typeface="Arial Black" pitchFamily="34" charset="0"/>
                <a:ea typeface="Arial Black" pitchFamily="34" charset="-122"/>
                <a:cs typeface="Arial Black" pitchFamily="34" charset="-120"/>
              </a:rPr>
              <a:t>15</a:t>
            </a:r>
            <a:endParaRPr lang="en-US" sz="10000" dirty="0"/>
          </a:p>
        </p:txBody>
      </p:sp>
      <p:sp>
        <p:nvSpPr>
          <p:cNvPr id="4" name="Text 2"/>
          <p:cNvSpPr/>
          <p:nvPr/>
        </p:nvSpPr>
        <p:spPr>
          <a:xfrm>
            <a:off x="457200" y="3749040"/>
            <a:ext cx="11274552" cy="1097280"/>
          </a:xfrm>
          <a:prstGeom prst="rect">
            <a:avLst/>
          </a:prstGeom>
          <a:noFill/>
          <a:ln/>
        </p:spPr>
        <p:txBody>
          <a:bodyPr wrap="square" rtlCol="0" anchor="ctr"/>
          <a:lstStyle/>
          <a:p>
            <a:pPr algn="ctr" indent="0" marL="0">
              <a:buNone/>
            </a:pPr>
            <a:r>
              <a:rPr lang="en-US" sz="2800" b="1" dirty="0">
                <a:solidFill>
                  <a:srgbClr val="000000"/>
                </a:solidFill>
                <a:latin typeface="Arial Black" pitchFamily="34" charset="0"/>
                <a:ea typeface="Arial Black" pitchFamily="34" charset="-122"/>
                <a:cs typeface="Arial Black" pitchFamily="34" charset="-120"/>
              </a:rPr>
              <a:t>Skills de Growth de Elite</a:t>
            </a:r>
            <a:endParaRPr lang="en-US" sz="2800" dirty="0"/>
          </a:p>
        </p:txBody>
      </p:sp>
      <p:sp>
        <p:nvSpPr>
          <p:cNvPr id="5" name="Shape 3"/>
          <p:cNvSpPr/>
          <p:nvPr/>
        </p:nvSpPr>
        <p:spPr>
          <a:xfrm>
            <a:off x="1828800" y="5029200"/>
            <a:ext cx="8531352" cy="1280160"/>
          </a:xfrm>
          <a:prstGeom prst="rect">
            <a:avLst/>
          </a:prstGeom>
          <a:solidFill>
            <a:srgbClr val="EEFF89"/>
          </a:solidFill>
          <a:ln/>
        </p:spPr>
      </p:sp>
      <p:sp>
        <p:nvSpPr>
          <p:cNvPr id="6" name="Text 4"/>
          <p:cNvSpPr/>
          <p:nvPr/>
        </p:nvSpPr>
        <p:spPr>
          <a:xfrm>
            <a:off x="2011680" y="5120640"/>
            <a:ext cx="8165592" cy="109728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Listos para copiar, personalizar y usar hoy.</a:t>
            </a:r>
            <a:endParaRPr lang="en-US" sz="1400" dirty="0"/>
          </a:p>
          <a:p>
            <a:pPr algn="ctr" indent="0" marL="0">
              <a:buNone/>
            </a:pPr>
            <a:r>
              <a:rPr lang="en-US" sz="1400" dirty="0">
                <a:solidFill>
                  <a:srgbClr val="000000"/>
                </a:solidFill>
                <a:latin typeface="Calibri" pitchFamily="34" charset="0"/>
                <a:ea typeface="Calibri" pitchFamily="34" charset="-122"/>
                <a:cs typeface="Calibri" pitchFamily="34" charset="-120"/>
              </a:rPr>
              <a:t>Un skill maduro produce resultados que no podrías replicar manualmente en el mismo tiempo.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943600" cy="6858000"/>
          </a:xfrm>
          <a:prstGeom prst="rect">
            <a:avLst/>
          </a:prstGeom>
          <a:solidFill>
            <a:srgbClr val="000000"/>
          </a:solidFill>
          <a:ln/>
        </p:spPr>
      </p:sp>
      <p:sp>
        <p:nvSpPr>
          <p:cNvPr id="3" name="Text 1"/>
          <p:cNvSpPr/>
          <p:nvPr/>
        </p:nvSpPr>
        <p:spPr>
          <a:xfrm>
            <a:off x="274320" y="274320"/>
            <a:ext cx="5394960" cy="822960"/>
          </a:xfrm>
          <a:prstGeom prst="rect">
            <a:avLst/>
          </a:prstGeom>
          <a:noFill/>
          <a:ln/>
        </p:spPr>
        <p:txBody>
          <a:bodyPr wrap="square" rtlCol="0" anchor="ctr"/>
          <a:lstStyle/>
          <a:p>
            <a:pPr algn="ctr" indent="0" marL="0">
              <a:buNone/>
            </a:pPr>
            <a:r>
              <a:rPr lang="en-US" sz="2800" b="1" dirty="0">
                <a:solidFill>
                  <a:srgbClr val="FF6B00"/>
                </a:solidFill>
                <a:latin typeface="Arial Black" pitchFamily="34" charset="0"/>
                <a:ea typeface="Arial Black" pitchFamily="34" charset="-122"/>
                <a:cs typeface="Arial Black" pitchFamily="34" charset="-120"/>
              </a:rPr>
              <a:t>ANTES</a:t>
            </a:r>
            <a:endParaRPr lang="en-US" sz="2800" dirty="0"/>
          </a:p>
        </p:txBody>
      </p:sp>
      <p:sp>
        <p:nvSpPr>
          <p:cNvPr id="4" name="Text 2"/>
          <p:cNvSpPr/>
          <p:nvPr/>
        </p:nvSpPr>
        <p:spPr>
          <a:xfrm>
            <a:off x="365760" y="1280160"/>
            <a:ext cx="5303520" cy="530352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 Sin nombre claro</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Sin contexto de cuándo usarlo</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Sin variables definidas</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Sin output de referencia</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Se reconstruye desde cero cada vez</a:t>
            </a:r>
            <a:endParaRPr lang="en-US" sz="1400" dirty="0"/>
          </a:p>
          <a:p>
            <a:pPr indent="0" marL="0">
              <a:buNone/>
            </a:pP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 Suerte que no escala</a:t>
            </a:r>
            <a:endParaRPr lang="en-US" sz="1400" dirty="0"/>
          </a:p>
        </p:txBody>
      </p:sp>
      <p:sp>
        <p:nvSpPr>
          <p:cNvPr id="5" name="Shape 3"/>
          <p:cNvSpPr/>
          <p:nvPr/>
        </p:nvSpPr>
        <p:spPr>
          <a:xfrm>
            <a:off x="5943600" y="0"/>
            <a:ext cx="6245352" cy="548640"/>
          </a:xfrm>
          <a:prstGeom prst="rect">
            <a:avLst/>
          </a:prstGeom>
          <a:solidFill>
            <a:srgbClr val="FF0000"/>
          </a:solidFill>
          <a:ln/>
        </p:spPr>
      </p:sp>
      <p:sp>
        <p:nvSpPr>
          <p:cNvPr id="6" name="Text 4"/>
          <p:cNvSpPr/>
          <p:nvPr/>
        </p:nvSpPr>
        <p:spPr>
          <a:xfrm>
            <a:off x="6035040" y="45720"/>
            <a:ext cx="6062472" cy="457200"/>
          </a:xfrm>
          <a:prstGeom prst="rect">
            <a:avLst/>
          </a:prstGeom>
          <a:noFill/>
          <a:ln/>
        </p:spPr>
        <p:txBody>
          <a:bodyPr wrap="square" rtlCol="0" anchor="ctr"/>
          <a:lstStyle/>
          <a:p>
            <a:pPr algn="ctr" indent="0" marL="0">
              <a:buNone/>
            </a:pPr>
            <a:r>
              <a:rPr lang="en-US" sz="2800" b="1" dirty="0">
                <a:solidFill>
                  <a:srgbClr val="FFFFFF"/>
                </a:solidFill>
                <a:latin typeface="Arial Black" pitchFamily="34" charset="0"/>
                <a:ea typeface="Arial Black" pitchFamily="34" charset="-122"/>
                <a:cs typeface="Arial Black" pitchFamily="34" charset="-120"/>
              </a:rPr>
              <a:t>DESPUES</a:t>
            </a:r>
            <a:endParaRPr lang="en-US" sz="2800" dirty="0"/>
          </a:p>
        </p:txBody>
      </p:sp>
      <p:sp>
        <p:nvSpPr>
          <p:cNvPr id="7" name="Text 5"/>
          <p:cNvSpPr/>
          <p:nvPr/>
        </p:nvSpPr>
        <p:spPr>
          <a:xfrm>
            <a:off x="6080760" y="1280160"/>
            <a:ext cx="5760720" cy="53035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 Nombre de acción específico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Cuándo usarlo (1 línea)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Prompt con variables en corchetes</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Output real de referencia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Versión + fecha de última iteración</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Sistema que mejora solo</a:t>
            </a:r>
            <a:endParaRPr lang="en-US" sz="1400" dirty="0"/>
          </a:p>
        </p:txBody>
      </p:sp>
      <p:sp>
        <p:nvSpPr>
          <p:cNvPr id="8" name="Shape 6"/>
          <p:cNvSpPr/>
          <p:nvPr/>
        </p:nvSpPr>
        <p:spPr>
          <a:xfrm>
            <a:off x="5852160" y="0"/>
            <a:ext cx="91440" cy="6858000"/>
          </a:xfrm>
          <a:prstGeom prst="rect">
            <a:avLst/>
          </a:prstGeom>
          <a:solidFill>
            <a:srgbClr val="FF0000"/>
          </a:solidFill>
          <a:ln/>
        </p:spPr>
      </p:sp>
      <p:sp>
        <p:nvSpPr>
          <p:cNvPr id="9" name="Text 7"/>
          <p:cNvSpPr/>
          <p:nvPr/>
        </p:nvSpPr>
        <p:spPr>
          <a:xfrm>
            <a:off x="0" y="0"/>
            <a:ext cx="5852160" cy="548640"/>
          </a:xfrm>
          <a:prstGeom prst="rect">
            <a:avLst/>
          </a:prstGeom>
          <a:noFill/>
          <a:ln/>
        </p:spPr>
        <p:txBody>
          <a:bodyPr wrap="square" rtlCol="0" anchor="ctr"/>
          <a:lstStyle/>
          <a:p>
            <a:pPr algn="ctr" indent="0" marL="0">
              <a:buNone/>
            </a:pPr>
            <a:r>
              <a:rPr lang="en-US" sz="1600" b="1" dirty="0">
                <a:solidFill>
                  <a:srgbClr val="FF6B00"/>
                </a:solidFill>
                <a:latin typeface="Arial Black" pitchFamily="34" charset="0"/>
                <a:ea typeface="Arial Black" pitchFamily="34" charset="-122"/>
                <a:cs typeface="Arial Black" pitchFamily="34" charset="-120"/>
              </a:rPr>
              <a:t>Prompt vs. Skill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Anatomía de un Skill de Growth — 4 Componentes</a:t>
            </a:r>
            <a:endParaRPr lang="en-US" sz="3400" dirty="0"/>
          </a:p>
        </p:txBody>
      </p:sp>
      <p:sp>
        <p:nvSpPr>
          <p:cNvPr id="4" name="Shape 2"/>
          <p:cNvSpPr/>
          <p:nvPr/>
        </p:nvSpPr>
        <p:spPr>
          <a:xfrm>
            <a:off x="274320" y="1417320"/>
            <a:ext cx="502920" cy="502920"/>
          </a:xfrm>
          <a:prstGeom prst="ellipse">
            <a:avLst/>
          </a:prstGeom>
          <a:solidFill>
            <a:srgbClr val="FF0000"/>
          </a:solidFill>
          <a:ln/>
        </p:spPr>
      </p:sp>
      <p:sp>
        <p:nvSpPr>
          <p:cNvPr id="5" name="Text 3"/>
          <p:cNvSpPr/>
          <p:nvPr/>
        </p:nvSpPr>
        <p:spPr>
          <a:xfrm>
            <a:off x="274320" y="14173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6" name="Text 4"/>
          <p:cNvSpPr/>
          <p:nvPr/>
        </p:nvSpPr>
        <p:spPr>
          <a:xfrm>
            <a:off x="960120" y="137160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NOMBRE DE ACCIÓN — No "Prompt para copies". Sí: "Generador de copies para Meta — ICP SaaS B2B". El nombre dice exactamente qué hace y para quién.</a:t>
            </a:r>
            <a:endParaRPr lang="en-US" sz="1400" dirty="0"/>
          </a:p>
        </p:txBody>
      </p:sp>
      <p:sp>
        <p:nvSpPr>
          <p:cNvPr id="7" name="Shape 5"/>
          <p:cNvSpPr/>
          <p:nvPr/>
        </p:nvSpPr>
        <p:spPr>
          <a:xfrm>
            <a:off x="274320" y="2720340"/>
            <a:ext cx="502920" cy="502920"/>
          </a:xfrm>
          <a:prstGeom prst="ellipse">
            <a:avLst/>
          </a:prstGeom>
          <a:solidFill>
            <a:srgbClr val="FF6B00"/>
          </a:solidFill>
          <a:ln/>
        </p:spPr>
      </p:sp>
      <p:sp>
        <p:nvSpPr>
          <p:cNvPr id="8" name="Text 6"/>
          <p:cNvSpPr/>
          <p:nvPr/>
        </p:nvSpPr>
        <p:spPr>
          <a:xfrm>
            <a:off x="274320" y="272034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9" name="Text 7"/>
          <p:cNvSpPr/>
          <p:nvPr/>
        </p:nvSpPr>
        <p:spPr>
          <a:xfrm>
            <a:off x="960120" y="267462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CUÁNDO USARLO — Una sola línea. "Usar cuando necesitas 3+ variaciones de copy para campañas pagas de adquisición." No un manual. Una instrucción.</a:t>
            </a:r>
            <a:endParaRPr lang="en-US" sz="1400" dirty="0"/>
          </a:p>
        </p:txBody>
      </p:sp>
      <p:sp>
        <p:nvSpPr>
          <p:cNvPr id="10" name="Shape 8"/>
          <p:cNvSpPr/>
          <p:nvPr/>
        </p:nvSpPr>
        <p:spPr>
          <a:xfrm>
            <a:off x="274320" y="4023360"/>
            <a:ext cx="502920" cy="502920"/>
          </a:xfrm>
          <a:prstGeom prst="ellipse">
            <a:avLst/>
          </a:prstGeom>
          <a:solidFill>
            <a:srgbClr val="FF0000"/>
          </a:solidFill>
          <a:ln/>
        </p:spPr>
      </p:sp>
      <p:sp>
        <p:nvSpPr>
          <p:cNvPr id="11" name="Text 9"/>
          <p:cNvSpPr/>
          <p:nvPr/>
        </p:nvSpPr>
        <p:spPr>
          <a:xfrm>
            <a:off x="274320" y="402336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2" name="Text 10"/>
          <p:cNvSpPr/>
          <p:nvPr/>
        </p:nvSpPr>
        <p:spPr>
          <a:xfrm>
            <a:off x="960120" y="397764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PROMPT CON VARIABLES — El prompt en sí con campos en corchetes donde cambia el contexto: [PRODUCTO], [ICP], [CANAL], [OBJETIVO]. Solo hay que rellenar los corchetes.</a:t>
            </a:r>
            <a:endParaRPr lang="en-US" sz="1400" dirty="0"/>
          </a:p>
        </p:txBody>
      </p:sp>
      <p:sp>
        <p:nvSpPr>
          <p:cNvPr id="13" name="Shape 11"/>
          <p:cNvSpPr/>
          <p:nvPr/>
        </p:nvSpPr>
        <p:spPr>
          <a:xfrm>
            <a:off x="274320" y="5326380"/>
            <a:ext cx="502920" cy="502920"/>
          </a:xfrm>
          <a:prstGeom prst="ellipse">
            <a:avLst/>
          </a:prstGeom>
          <a:solidFill>
            <a:srgbClr val="FF6B00"/>
          </a:solidFill>
          <a:ln/>
        </p:spPr>
      </p:sp>
      <p:sp>
        <p:nvSpPr>
          <p:cNvPr id="14" name="Text 12"/>
          <p:cNvSpPr/>
          <p:nvPr/>
        </p:nvSpPr>
        <p:spPr>
          <a:xfrm>
            <a:off x="274320" y="53263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5" name="Text 13"/>
          <p:cNvSpPr/>
          <p:nvPr/>
        </p:nvSpPr>
        <p:spPr>
          <a:xfrm>
            <a:off x="960120" y="528066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OUTPUT DE REFERENCIA REAL — Un output que realmente generaste. No uno inventado. Uno real, del trabajo de tu equipo, que muestra qué nivel de calidad esperar.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6B00"/>
          </a:solidFill>
          <a:ln/>
        </p:spPr>
      </p:sp>
      <p:sp>
        <p:nvSpPr>
          <p:cNvPr id="3" name="Text 1"/>
          <p:cNvSpPr/>
          <p:nvPr/>
        </p:nvSpPr>
        <p:spPr>
          <a:xfrm>
            <a:off x="457200" y="274320"/>
            <a:ext cx="11274552" cy="822960"/>
          </a:xfrm>
          <a:prstGeom prst="rect">
            <a:avLst/>
          </a:prstGeom>
          <a:noFill/>
          <a:ln/>
        </p:spPr>
        <p:txBody>
          <a:bodyPr wrap="square" rtlCol="0" anchor="ctr"/>
          <a:lstStyle/>
          <a:p>
            <a:pPr algn="ctr" indent="0" marL="0">
              <a:buNone/>
            </a:pPr>
            <a:r>
              <a:rPr lang="en-US" sz="2800" b="1" dirty="0">
                <a:solidFill>
                  <a:srgbClr val="000000"/>
                </a:solidFill>
                <a:latin typeface="Arial Black" pitchFamily="34" charset="0"/>
                <a:ea typeface="Arial Black" pitchFamily="34" charset="-122"/>
                <a:cs typeface="Arial Black" pitchFamily="34" charset="-120"/>
              </a:rPr>
              <a:t>El Sistema de Mejora Continua</a:t>
            </a:r>
            <a:endParaRPr lang="en-US" sz="2800" dirty="0"/>
          </a:p>
        </p:txBody>
      </p:sp>
      <p:sp>
        <p:nvSpPr>
          <p:cNvPr id="4" name="Shape 2"/>
          <p:cNvSpPr/>
          <p:nvPr/>
        </p:nvSpPr>
        <p:spPr>
          <a:xfrm>
            <a:off x="731520" y="1280160"/>
            <a:ext cx="10725912" cy="4114800"/>
          </a:xfrm>
          <a:prstGeom prst="rect">
            <a:avLst/>
          </a:prstGeom>
          <a:solidFill>
            <a:srgbClr val="EEFF89"/>
          </a:solidFill>
          <a:ln/>
        </p:spPr>
      </p:sp>
      <p:sp>
        <p:nvSpPr>
          <p:cNvPr id="5" name="Text 3"/>
          <p:cNvSpPr/>
          <p:nvPr/>
        </p:nvSpPr>
        <p:spPr>
          <a:xfrm>
            <a:off x="1005840" y="1463040"/>
            <a:ext cx="10177272" cy="3657600"/>
          </a:xfrm>
          <a:prstGeom prst="rect">
            <a:avLst/>
          </a:prstGeom>
          <a:noFill/>
          <a:ln/>
        </p:spPr>
        <p:txBody>
          <a:bodyPr wrap="square" rtlCol="0" anchor="ctr"/>
          <a:lstStyle/>
          <a:p>
            <a:pPr algn="ctr" indent="0" marL="0">
              <a:buNone/>
            </a:pPr>
            <a:r>
              <a:rPr lang="en-US" sz="2200" b="1" dirty="0">
                <a:solidFill>
                  <a:srgbClr val="000000"/>
                </a:solidFill>
                <a:latin typeface="Calibri" pitchFamily="34" charset="0"/>
                <a:ea typeface="Calibri" pitchFamily="34" charset="-122"/>
                <a:cs typeface="Calibri" pitchFamily="34" charset="-120"/>
              </a:rPr>
              <a:t>“Una sola pregunta después de cada uso:</a:t>
            </a: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¿El output fue mejor o peor que la última vez?</a:t>
            </a:r>
            <a:endParaRPr lang="en-US" sz="2200" dirty="0"/>
          </a:p>
          <a:p>
            <a:pPr algn="ctr" indent="0" marL="0">
              <a:buNone/>
            </a:pP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Si fue mejor → nada cambia.</a:t>
            </a: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Si fue peor → añades el contexto que faltó.</a:t>
            </a: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Si fue mucho mejor → guardas como versión actual.</a:t>
            </a:r>
            <a:endParaRPr lang="en-US" sz="2200" dirty="0"/>
          </a:p>
          <a:p>
            <a:pPr algn="ctr" indent="0" marL="0">
              <a:buNone/>
            </a:pP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Eso es la ventaja compuesta del sistema.”</a:t>
            </a:r>
            <a:endParaRPr lang="en-US" sz="2200" dirty="0"/>
          </a:p>
        </p:txBody>
      </p:sp>
      <p:sp>
        <p:nvSpPr>
          <p:cNvPr id="6" name="Text 4"/>
          <p:cNvSpPr/>
          <p:nvPr/>
        </p:nvSpPr>
        <p:spPr>
          <a:xfrm>
            <a:off x="731520" y="5577840"/>
            <a:ext cx="10725912" cy="640080"/>
          </a:xfrm>
          <a:prstGeom prst="rect">
            <a:avLst/>
          </a:prstGeom>
          <a:noFill/>
          <a:ln/>
        </p:spPr>
        <p:txBody>
          <a:bodyPr wrap="square" rtlCol="0" anchor="ctr"/>
          <a:lstStyle/>
          <a:p>
            <a:pPr algn="r" indent="0" marL="0">
              <a:buNone/>
            </a:pPr>
            <a:r>
              <a:rPr lang="en-US" sz="1400" i="1" dirty="0">
                <a:solidFill>
                  <a:srgbClr val="FF6B00"/>
                </a:solidFill>
                <a:latin typeface="Calibri" pitchFamily="34" charset="0"/>
                <a:ea typeface="Calibri" pitchFamily="34" charset="-122"/>
                <a:cs typeface="Calibri" pitchFamily="34" charset="-120"/>
              </a:rPr>
              <a:t>— Clase 10 — Módulo 04</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0000"/>
          </a:solidFill>
          <a:ln/>
        </p:spPr>
      </p:sp>
      <p:sp>
        <p:nvSpPr>
          <p:cNvPr id="3" name="Text 1"/>
          <p:cNvSpPr/>
          <p:nvPr/>
        </p:nvSpPr>
        <p:spPr>
          <a:xfrm>
            <a:off x="365760" y="91440"/>
            <a:ext cx="11430000" cy="91440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Los 5 Skills de Mayor Impacto — Parte 1</a:t>
            </a:r>
            <a:endParaRPr lang="en-US" sz="3200" dirty="0"/>
          </a:p>
        </p:txBody>
      </p:sp>
      <p:sp>
        <p:nvSpPr>
          <p:cNvPr id="4" name="Shape 2"/>
          <p:cNvSpPr/>
          <p:nvPr/>
        </p:nvSpPr>
        <p:spPr>
          <a:xfrm>
            <a:off x="274320" y="1280160"/>
            <a:ext cx="3566160" cy="640080"/>
          </a:xfrm>
          <a:prstGeom prst="rect">
            <a:avLst/>
          </a:prstGeom>
          <a:solidFill>
            <a:srgbClr val="FF0000"/>
          </a:solidFill>
          <a:ln/>
        </p:spPr>
      </p:sp>
      <p:sp>
        <p:nvSpPr>
          <p:cNvPr id="5" name="Text 3"/>
          <p:cNvSpPr/>
          <p:nvPr/>
        </p:nvSpPr>
        <p:spPr>
          <a:xfrm>
            <a:off x="365760" y="1325880"/>
            <a:ext cx="3383280" cy="54864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01 Generador de Hipótesis</a:t>
            </a:r>
            <a:endParaRPr lang="en-US" sz="1600" dirty="0"/>
          </a:p>
        </p:txBody>
      </p:sp>
      <p:sp>
        <p:nvSpPr>
          <p:cNvPr id="6" name="Shape 4"/>
          <p:cNvSpPr/>
          <p:nvPr/>
        </p:nvSpPr>
        <p:spPr>
          <a:xfrm>
            <a:off x="274320" y="1920240"/>
            <a:ext cx="3566160" cy="4572000"/>
          </a:xfrm>
          <a:prstGeom prst="rect">
            <a:avLst/>
          </a:prstGeom>
          <a:solidFill>
            <a:srgbClr val="F8F8F8"/>
          </a:solidFill>
          <a:ln/>
        </p:spPr>
      </p:sp>
      <p:sp>
        <p:nvSpPr>
          <p:cNvPr id="7" name="Text 5"/>
          <p:cNvSpPr/>
          <p:nvPr/>
        </p:nvSpPr>
        <p:spPr>
          <a:xfrm>
            <a:off x="411480" y="2011680"/>
            <a:ext cx="3291840" cy="43891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Input: área del funnel + métrica + objetivo</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Output: 5 hipótesis priorizadas por impacto/esfuerzo</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Elimina el sesgo del HiPPO. Los datos son la fuente, no la opinión.</a:t>
            </a:r>
            <a:endParaRPr lang="en-US" sz="1300" dirty="0"/>
          </a:p>
        </p:txBody>
      </p:sp>
      <p:sp>
        <p:nvSpPr>
          <p:cNvPr id="8" name="Shape 6"/>
          <p:cNvSpPr/>
          <p:nvPr/>
        </p:nvSpPr>
        <p:spPr>
          <a:xfrm>
            <a:off x="4297680" y="1280160"/>
            <a:ext cx="3566160" cy="640080"/>
          </a:xfrm>
          <a:prstGeom prst="rect">
            <a:avLst/>
          </a:prstGeom>
          <a:solidFill>
            <a:srgbClr val="FF6B00"/>
          </a:solidFill>
          <a:ln/>
        </p:spPr>
      </p:sp>
      <p:sp>
        <p:nvSpPr>
          <p:cNvPr id="9" name="Text 7"/>
          <p:cNvSpPr/>
          <p:nvPr/>
        </p:nvSpPr>
        <p:spPr>
          <a:xfrm>
            <a:off x="4389120" y="1325880"/>
            <a:ext cx="3383280" cy="54864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02 Analizador de Funnel</a:t>
            </a:r>
            <a:endParaRPr lang="en-US" sz="1600" dirty="0"/>
          </a:p>
        </p:txBody>
      </p:sp>
      <p:sp>
        <p:nvSpPr>
          <p:cNvPr id="10" name="Shape 8"/>
          <p:cNvSpPr/>
          <p:nvPr/>
        </p:nvSpPr>
        <p:spPr>
          <a:xfrm>
            <a:off x="4297680" y="1920240"/>
            <a:ext cx="3566160" cy="4572000"/>
          </a:xfrm>
          <a:prstGeom prst="rect">
            <a:avLst/>
          </a:prstGeom>
          <a:solidFill>
            <a:srgbClr val="F8F8F8"/>
          </a:solidFill>
          <a:ln/>
        </p:spPr>
      </p:sp>
      <p:sp>
        <p:nvSpPr>
          <p:cNvPr id="11" name="Text 9"/>
          <p:cNvSpPr/>
          <p:nvPr/>
        </p:nvSpPr>
        <p:spPr>
          <a:xfrm>
            <a:off x="4434840" y="2011680"/>
            <a:ext cx="3291840" cy="43891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Input: números de cada etapa del funnel</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Output: cuello de botella + impacto en MRR si cada etapa mejora 10%</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Eso es lo que le presentas al board.</a:t>
            </a:r>
            <a:endParaRPr lang="en-US" sz="1300" dirty="0"/>
          </a:p>
        </p:txBody>
      </p:sp>
      <p:sp>
        <p:nvSpPr>
          <p:cNvPr id="12" name="Shape 10"/>
          <p:cNvSpPr/>
          <p:nvPr/>
        </p:nvSpPr>
        <p:spPr>
          <a:xfrm>
            <a:off x="8321040" y="1280160"/>
            <a:ext cx="3566160" cy="640080"/>
          </a:xfrm>
          <a:prstGeom prst="rect">
            <a:avLst/>
          </a:prstGeom>
          <a:solidFill>
            <a:srgbClr val="FF0000"/>
          </a:solidFill>
          <a:ln/>
        </p:spPr>
      </p:sp>
      <p:sp>
        <p:nvSpPr>
          <p:cNvPr id="13" name="Text 11"/>
          <p:cNvSpPr/>
          <p:nvPr/>
        </p:nvSpPr>
        <p:spPr>
          <a:xfrm>
            <a:off x="8412480" y="1325880"/>
            <a:ext cx="3383280" cy="54864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03 Copies Multicanal</a:t>
            </a:r>
            <a:endParaRPr lang="en-US" sz="1600" dirty="0"/>
          </a:p>
        </p:txBody>
      </p:sp>
      <p:sp>
        <p:nvSpPr>
          <p:cNvPr id="14" name="Shape 12"/>
          <p:cNvSpPr/>
          <p:nvPr/>
        </p:nvSpPr>
        <p:spPr>
          <a:xfrm>
            <a:off x="8321040" y="1920240"/>
            <a:ext cx="3566160" cy="4572000"/>
          </a:xfrm>
          <a:prstGeom prst="rect">
            <a:avLst/>
          </a:prstGeom>
          <a:solidFill>
            <a:srgbClr val="F8F8F8"/>
          </a:solidFill>
          <a:ln/>
        </p:spPr>
      </p:sp>
      <p:sp>
        <p:nvSpPr>
          <p:cNvPr id="15" name="Text 13"/>
          <p:cNvSpPr/>
          <p:nvPr/>
        </p:nvSpPr>
        <p:spPr>
          <a:xfrm>
            <a:off x="8458200" y="2011680"/>
            <a:ext cx="3291840" cy="43891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Input: brief de 6 campos</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Output: tabla por canal — headline, copy, CTA listos para ad manager</a:t>
            </a:r>
            <a:endParaRPr lang="en-US" sz="1300" dirty="0"/>
          </a:p>
          <a:p>
            <a:pPr indent="0" marL="0">
              <a:buNone/>
            </a:pPr>
            <a:endParaRPr lang="en-US" sz="1300" dirty="0"/>
          </a:p>
          <a:p>
            <a:pPr indent="0" marL="0">
              <a:buNone/>
            </a:pP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Consistencia de mensaje entre Meta, Google, email y LinkedIn.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Los 5 Skills de Mayor Impacto — Parte 2</a:t>
            </a:r>
            <a:endParaRPr lang="en-US" sz="3200" dirty="0"/>
          </a:p>
        </p:txBody>
      </p:sp>
      <p:sp>
        <p:nvSpPr>
          <p:cNvPr id="4" name="Shape 2"/>
          <p:cNvSpPr/>
          <p:nvPr/>
        </p:nvSpPr>
        <p:spPr>
          <a:xfrm>
            <a:off x="274320" y="1280160"/>
            <a:ext cx="5486400" cy="640080"/>
          </a:xfrm>
          <a:prstGeom prst="rect">
            <a:avLst/>
          </a:prstGeom>
          <a:solidFill>
            <a:srgbClr val="FF0000"/>
          </a:solidFill>
          <a:ln/>
        </p:spPr>
      </p:sp>
      <p:sp>
        <p:nvSpPr>
          <p:cNvPr id="5" name="Text 3"/>
          <p:cNvSpPr/>
          <p:nvPr/>
        </p:nvSpPr>
        <p:spPr>
          <a:xfrm>
            <a:off x="365760" y="1325880"/>
            <a:ext cx="530352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Skill 04 — Revisor de Métricas Semanales</a:t>
            </a:r>
            <a:endParaRPr lang="en-US" sz="1800" dirty="0"/>
          </a:p>
        </p:txBody>
      </p:sp>
      <p:sp>
        <p:nvSpPr>
          <p:cNvPr id="6" name="Shape 4"/>
          <p:cNvSpPr/>
          <p:nvPr/>
        </p:nvSpPr>
        <p:spPr>
          <a:xfrm>
            <a:off x="274320" y="1920240"/>
            <a:ext cx="5486400" cy="4572000"/>
          </a:xfrm>
          <a:prstGeom prst="rect">
            <a:avLst/>
          </a:prstGeom>
          <a:solidFill>
            <a:srgbClr val="F5F5F5"/>
          </a:solidFill>
          <a:ln/>
        </p:spPr>
      </p:sp>
      <p:sp>
        <p:nvSpPr>
          <p:cNvPr id="7" name="Text 5"/>
          <p:cNvSpPr/>
          <p:nvPr/>
        </p:nvSpPr>
        <p:spPr>
          <a:xfrm>
            <a:off x="457200" y="2011680"/>
            <a:ext cx="5212080" cy="43891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Usar: Cada lunes antes del standup de Growth</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Input: métricas de la semana + contexto de campañas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Output:</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Top 3 anomalías vs. semana anterior</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Top 3 anomalías vs. baseline 4 semanas</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Métrica prioritaria + semáforo Verde/Amarillo/Rojo</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No para análisis profundo. Para no perderte lo obvio en el ruido.</a:t>
            </a:r>
            <a:endParaRPr lang="en-US" sz="1400" dirty="0"/>
          </a:p>
        </p:txBody>
      </p:sp>
      <p:sp>
        <p:nvSpPr>
          <p:cNvPr id="8" name="Shape 6"/>
          <p:cNvSpPr/>
          <p:nvPr/>
        </p:nvSpPr>
        <p:spPr>
          <a:xfrm>
            <a:off x="6400800" y="1280160"/>
            <a:ext cx="5486400" cy="640080"/>
          </a:xfrm>
          <a:prstGeom prst="rect">
            <a:avLst/>
          </a:prstGeom>
          <a:solidFill>
            <a:srgbClr val="FF6B00"/>
          </a:solidFill>
          <a:ln/>
        </p:spPr>
      </p:sp>
      <p:sp>
        <p:nvSpPr>
          <p:cNvPr id="9" name="Text 7"/>
          <p:cNvSpPr/>
          <p:nvPr/>
        </p:nvSpPr>
        <p:spPr>
          <a:xfrm>
            <a:off x="6492240" y="1325880"/>
            <a:ext cx="530352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Skill 05 — Redactor de Reportes para Stakeholders</a:t>
            </a:r>
            <a:endParaRPr lang="en-US" sz="1800" dirty="0"/>
          </a:p>
        </p:txBody>
      </p:sp>
      <p:sp>
        <p:nvSpPr>
          <p:cNvPr id="10" name="Shape 8"/>
          <p:cNvSpPr/>
          <p:nvPr/>
        </p:nvSpPr>
        <p:spPr>
          <a:xfrm>
            <a:off x="6400800" y="1920240"/>
            <a:ext cx="5486400" cy="4572000"/>
          </a:xfrm>
          <a:prstGeom prst="rect">
            <a:avLst/>
          </a:prstGeom>
          <a:solidFill>
            <a:srgbClr val="F5F5F5"/>
          </a:solidFill>
          <a:ln/>
        </p:spPr>
      </p:sp>
      <p:sp>
        <p:nvSpPr>
          <p:cNvPr id="11" name="Text 9"/>
          <p:cNvSpPr/>
          <p:nvPr/>
        </p:nvSpPr>
        <p:spPr>
          <a:xfrm>
            <a:off x="6583680" y="2011680"/>
            <a:ext cx="5212080" cy="43891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El skill que más tiempo ahorra en términos absolutos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Input: métricas brutas + contexto de experimentos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Output: reporte ejecutivo de 1 página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Estado actual</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Movimientos del período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Hipótesis para el próximo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Riesgos identificados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Listo para enviar al CEO o al board sin edición de fondo.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Demo en Vivo — Del Prompt al Skill Documentado en Notion</a:t>
            </a:r>
            <a:endParaRPr lang="en-US" sz="3400" dirty="0"/>
          </a:p>
        </p:txBody>
      </p:sp>
      <p:sp>
        <p:nvSpPr>
          <p:cNvPr id="4" name="Shape 2"/>
          <p:cNvSpPr/>
          <p:nvPr/>
        </p:nvSpPr>
        <p:spPr>
          <a:xfrm>
            <a:off x="274320" y="1417320"/>
            <a:ext cx="502920" cy="502920"/>
          </a:xfrm>
          <a:prstGeom prst="ellipse">
            <a:avLst/>
          </a:prstGeom>
          <a:solidFill>
            <a:srgbClr val="FF0000"/>
          </a:solidFill>
          <a:ln/>
        </p:spPr>
      </p:sp>
      <p:sp>
        <p:nvSpPr>
          <p:cNvPr id="5" name="Text 3"/>
          <p:cNvSpPr/>
          <p:nvPr/>
        </p:nvSpPr>
        <p:spPr>
          <a:xfrm>
            <a:off x="274320" y="14173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6" name="Text 4"/>
          <p:cNvSpPr/>
          <p:nvPr/>
        </p:nvSpPr>
        <p:spPr>
          <a:xfrm>
            <a:off x="960120" y="137160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PASO 1 — Construir el prompt base con variables en corchetes: [ÁREA], [MÉTRICA], [OBJETIVO], [CONTEXTO], [RESTRICCIONES]</a:t>
            </a:r>
            <a:endParaRPr lang="en-US" sz="1400" dirty="0"/>
          </a:p>
        </p:txBody>
      </p:sp>
      <p:sp>
        <p:nvSpPr>
          <p:cNvPr id="7" name="Shape 5"/>
          <p:cNvSpPr/>
          <p:nvPr/>
        </p:nvSpPr>
        <p:spPr>
          <a:xfrm>
            <a:off x="274320" y="2720340"/>
            <a:ext cx="502920" cy="502920"/>
          </a:xfrm>
          <a:prstGeom prst="ellipse">
            <a:avLst/>
          </a:prstGeom>
          <a:solidFill>
            <a:srgbClr val="FF6B00"/>
          </a:solidFill>
          <a:ln/>
        </p:spPr>
      </p:sp>
      <p:sp>
        <p:nvSpPr>
          <p:cNvPr id="8" name="Text 6"/>
          <p:cNvSpPr/>
          <p:nvPr/>
        </p:nvSpPr>
        <p:spPr>
          <a:xfrm>
            <a:off x="274320" y="272034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9" name="Text 7"/>
          <p:cNvSpPr/>
          <p:nvPr/>
        </p:nvSpPr>
        <p:spPr>
          <a:xfrm>
            <a:off x="960120" y="267462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PASO 2 — Rellenar con un caso real y ejecutar en Claude. Silencio mientras llega el output. El 80% está listo para trabajar.</a:t>
            </a:r>
            <a:endParaRPr lang="en-US" sz="1400" dirty="0"/>
          </a:p>
        </p:txBody>
      </p:sp>
      <p:sp>
        <p:nvSpPr>
          <p:cNvPr id="10" name="Shape 8"/>
          <p:cNvSpPr/>
          <p:nvPr/>
        </p:nvSpPr>
        <p:spPr>
          <a:xfrm>
            <a:off x="274320" y="4023360"/>
            <a:ext cx="502920" cy="502920"/>
          </a:xfrm>
          <a:prstGeom prst="ellipse">
            <a:avLst/>
          </a:prstGeom>
          <a:solidFill>
            <a:srgbClr val="FF0000"/>
          </a:solidFill>
          <a:ln/>
        </p:spPr>
      </p:sp>
      <p:sp>
        <p:nvSpPr>
          <p:cNvPr id="11" name="Text 9"/>
          <p:cNvSpPr/>
          <p:nvPr/>
        </p:nvSpPr>
        <p:spPr>
          <a:xfrm>
            <a:off x="274320" y="402336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2" name="Text 10"/>
          <p:cNvSpPr/>
          <p:nvPr/>
        </p:nvSpPr>
        <p:spPr>
          <a:xfrm>
            <a:off x="960120" y="397764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PASO 3 — Documentar en Notion en 90 segundos: nombre, cuándo usar, prompt, output de referencia, versión v1.0</a:t>
            </a:r>
            <a:endParaRPr lang="en-US" sz="1400" dirty="0"/>
          </a:p>
        </p:txBody>
      </p:sp>
      <p:sp>
        <p:nvSpPr>
          <p:cNvPr id="13" name="Shape 11"/>
          <p:cNvSpPr/>
          <p:nvPr/>
        </p:nvSpPr>
        <p:spPr>
          <a:xfrm>
            <a:off x="274320" y="5326380"/>
            <a:ext cx="502920" cy="502920"/>
          </a:xfrm>
          <a:prstGeom prst="ellipse">
            <a:avLst/>
          </a:prstGeom>
          <a:solidFill>
            <a:srgbClr val="FF6B00"/>
          </a:solidFill>
          <a:ln/>
        </p:spPr>
      </p:sp>
      <p:sp>
        <p:nvSpPr>
          <p:cNvPr id="14" name="Text 12"/>
          <p:cNvSpPr/>
          <p:nvPr/>
        </p:nvSpPr>
        <p:spPr>
          <a:xfrm>
            <a:off x="274320" y="532638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5" name="Text 13"/>
          <p:cNvSpPr/>
          <p:nvPr/>
        </p:nvSpPr>
        <p:spPr>
          <a:xfrm>
            <a:off x="960120" y="5280660"/>
            <a:ext cx="10881360" cy="1257300"/>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PASO 4 — La regla de oro: la semana que viene, si el output es mejor, actualiza el prompt. Sube a versión 1.1.</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Estructura en Notion — Cómo Vive un Skill</a:t>
            </a:r>
            <a:endParaRPr lang="en-US" sz="3400" dirty="0"/>
          </a:p>
        </p:txBody>
      </p:sp>
      <p:sp>
        <p:nvSpPr>
          <p:cNvPr id="4" name="Text 2"/>
          <p:cNvSpPr/>
          <p:nvPr/>
        </p:nvSpPr>
        <p:spPr>
          <a:xfrm>
            <a:off x="457200" y="1280160"/>
            <a:ext cx="11274552" cy="3474720"/>
          </a:xfrm>
          <a:prstGeom prst="rect">
            <a:avLst/>
          </a:prstGeom>
          <a:noFill/>
          <a:ln/>
        </p:spPr>
        <p:txBody>
          <a:bodyPr wrap="square" rtlCol="0" anchor="t"/>
          <a:lstStyle/>
          <a:p>
            <a:pPr indent="0" marL="0">
              <a:buNone/>
            </a:pPr>
            <a:r>
              <a:rPr lang="en-US" sz="1500" dirty="0">
                <a:solidFill>
                  <a:srgbClr val="000000"/>
                </a:solidFill>
                <a:latin typeface="Calibri" pitchFamily="34" charset="0"/>
                <a:ea typeface="Calibri" pitchFamily="34" charset="-122"/>
                <a:cs typeface="Calibri" pitchFamily="34" charset="-120"/>
              </a:rPr>
              <a:t>En Notion, cada skill vive en una tabla con seis columnas:</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Nombre del skill — identificación rápida</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Cuándo usar — condición de activación</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Prompt (con variables) — el prompt listo para copiar</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Output de referencia — ejemplo real de qué nivel esperar</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Versión — control de iteraciones (v1.0 → v1.1 → v2.0)</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 Última iteración — cuándo se mejoró por última vez</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Los skills no son estáticos. Son organismos vivos en tu operación de Growth.</a:t>
            </a: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La versión 1 era genérica. La versión 3, después de tres semanas de uso real, está ajustada a tu modelo de negocio.</a:t>
            </a:r>
            <a:endParaRPr lang="en-US" sz="1500" dirty="0"/>
          </a:p>
        </p:txBody>
      </p:sp>
      <p:sp>
        <p:nvSpPr>
          <p:cNvPr id="5" name="Shape 3"/>
          <p:cNvSpPr/>
          <p:nvPr/>
        </p:nvSpPr>
        <p:spPr>
          <a:xfrm>
            <a:off x="457200" y="4937760"/>
            <a:ext cx="11274552" cy="1554480"/>
          </a:xfrm>
          <a:prstGeom prst="rect">
            <a:avLst/>
          </a:prstGeom>
          <a:solidFill>
            <a:srgbClr val="EEFF89"/>
          </a:solidFill>
          <a:ln/>
        </p:spPr>
      </p:sp>
      <p:sp>
        <p:nvSpPr>
          <p:cNvPr id="6" name="Text 4"/>
          <p:cNvSpPr/>
          <p:nvPr/>
        </p:nvSpPr>
        <p:spPr>
          <a:xfrm>
            <a:off x="640080" y="5029200"/>
            <a:ext cx="10908792" cy="1371600"/>
          </a:xfrm>
          <a:prstGeom prst="rect">
            <a:avLst/>
          </a:prstGeom>
          <a:noFill/>
          <a:ln/>
        </p:spPr>
        <p:txBody>
          <a:bodyPr wrap="square"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Un skill activo vale más que quince skills guardados.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Shape 1"/>
          <p:cNvSpPr/>
          <p:nvPr/>
        </p:nvSpPr>
        <p:spPr>
          <a:xfrm>
            <a:off x="0" y="6693408"/>
            <a:ext cx="12188952" cy="164592"/>
          </a:xfrm>
          <a:prstGeom prst="rect">
            <a:avLst/>
          </a:prstGeom>
          <a:solidFill>
            <a:srgbClr val="FF6B00"/>
          </a:solidFill>
          <a:ln/>
        </p:spPr>
      </p:sp>
      <p:sp>
        <p:nvSpPr>
          <p:cNvPr id="4" name="Text 2"/>
          <p:cNvSpPr/>
          <p:nvPr/>
        </p:nvSpPr>
        <p:spPr>
          <a:xfrm>
            <a:off x="548640" y="914400"/>
            <a:ext cx="11064240" cy="1645920"/>
          </a:xfrm>
          <a:prstGeom prst="rect">
            <a:avLst/>
          </a:prstGeom>
          <a:noFill/>
          <a:ln/>
        </p:spPr>
        <p:txBody>
          <a:bodyPr wrap="square" rtlCol="0" anchor="ctr"/>
          <a:lstStyle/>
          <a:p>
            <a:pPr algn="ctr" indent="0" marL="0">
              <a:buNone/>
            </a:pPr>
            <a:r>
              <a:rPr lang="en-US" sz="4000" b="1" dirty="0">
                <a:solidFill>
                  <a:srgbClr val="FF0000"/>
                </a:solidFill>
                <a:latin typeface="Arial Black" pitchFamily="34" charset="0"/>
                <a:ea typeface="Arial Black" pitchFamily="34" charset="-122"/>
                <a:cs typeface="Arial Black" pitchFamily="34" charset="-120"/>
              </a:rPr>
              <a:t>Tu Entregable — Biblioteca de 15 Skills</a:t>
            </a:r>
            <a:endParaRPr lang="en-US" sz="4000" dirty="0"/>
          </a:p>
        </p:txBody>
      </p:sp>
      <p:sp>
        <p:nvSpPr>
          <p:cNvPr id="5" name="Text 3"/>
          <p:cNvSpPr/>
          <p:nvPr/>
        </p:nvSpPr>
        <p:spPr>
          <a:xfrm>
            <a:off x="914400" y="2651760"/>
            <a:ext cx="10360152" cy="2560320"/>
          </a:xfrm>
          <a:prstGeom prst="rect">
            <a:avLst/>
          </a:prstGeom>
          <a:noFill/>
          <a:ln/>
        </p:spPr>
        <p:txBody>
          <a:bodyPr wrap="square"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No es para leer y guardar. Es para usar esta semana.</a:t>
            </a:r>
            <a:endParaRPr lang="en-US" sz="1600" dirty="0"/>
          </a:p>
          <a:p>
            <a:pPr algn="ctr" indent="0" marL="0">
              <a:buNone/>
            </a:pP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Elije uno de los 15 skills, personaliza las variables con tu contexto real, ejecútalo y guarda el output como referencia.</a:t>
            </a:r>
            <a:endParaRPr lang="en-US" sz="1600" dirty="0"/>
          </a:p>
          <a:p>
            <a:pPr algn="ctr" indent="0" marL="0">
              <a:buNone/>
            </a:pP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Un skill activo vale más que quince skills guardados.</a:t>
            </a:r>
            <a:endParaRPr lang="en-US" sz="1600" dirty="0"/>
          </a:p>
          <a:p>
            <a:pPr algn="ctr" indent="0" marL="0">
              <a:buNone/>
            </a:pP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Siguiente clase: construyes tu equipo de agentes — cuatro Claude Projects especializados que trabajan en paralelo.</a:t>
            </a:r>
            <a:endParaRPr lang="en-US" sz="1600" dirty="0"/>
          </a:p>
        </p:txBody>
      </p:sp>
      <p:sp>
        <p:nvSpPr>
          <p:cNvPr id="6" name="Shape 4"/>
          <p:cNvSpPr/>
          <p:nvPr/>
        </p:nvSpPr>
        <p:spPr>
          <a:xfrm>
            <a:off x="2286000" y="5394960"/>
            <a:ext cx="7616952" cy="822960"/>
          </a:xfrm>
          <a:prstGeom prst="rect">
            <a:avLst/>
          </a:prstGeom>
          <a:solidFill>
            <a:srgbClr val="FF6B00"/>
          </a:solidFill>
          <a:ln/>
        </p:spPr>
      </p:sp>
      <p:sp>
        <p:nvSpPr>
          <p:cNvPr id="7" name="Text 5"/>
          <p:cNvSpPr/>
          <p:nvPr/>
        </p:nvSpPr>
        <p:spPr>
          <a:xfrm>
            <a:off x="2286000" y="5394960"/>
            <a:ext cx="7616952" cy="822960"/>
          </a:xfrm>
          <a:prstGeom prst="rect">
            <a:avLst/>
          </a:prstGeom>
          <a:noFill/>
          <a:ln/>
        </p:spPr>
        <p:txBody>
          <a:bodyPr wrap="square" rtlCol="0" anchor="ctr"/>
          <a:lstStyle/>
          <a:p>
            <a:pPr algn="ctr" indent="0" marL="0">
              <a:buNone/>
            </a:pPr>
            <a:r>
              <a:rPr lang="en-US" sz="1800" b="1" dirty="0">
                <a:solidFill>
                  <a:srgbClr val="000000"/>
                </a:solidFill>
                <a:latin typeface="Arial Black" pitchFamily="34" charset="0"/>
                <a:ea typeface="Arial Black" pitchFamily="34" charset="-122"/>
                <a:cs typeface="Arial Black" pitchFamily="34" charset="-120"/>
              </a:rPr>
              <a:t>Elige 1 skill hoy. Personaliza. Ejecuta. Guarda.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2026-03-25T18:19:42Z</dcterms:created>
  <dcterms:modified xsi:type="dcterms:W3CDTF">2026-03-25T18:19:42Z</dcterms:modified>
</cp:coreProperties>
</file>