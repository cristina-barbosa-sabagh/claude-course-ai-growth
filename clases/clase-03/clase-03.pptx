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las dos clases anteriores aprendiste qué hace Claude diferente y cómo construir un brief que produce outputs de elite.
Hoy hacemos algo diferente: eliminamos el 80% del trabajo que requiere ese brief.
El campo de CONTEXTO — el que más tardas en escribir — va a estar precargado en Claude desde hoy. Permanentemente. En cada conversación. Sin repetirlo nunca más.
Catorce minutos. Al final de esta clase, Claude trabaja como si te conociera de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campo de CONTEXTO — el que más tardas en escribir — va a estar precargado en Claude desde hoy. Permanentemente. En cada conversación. Sin repetirlo nunca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cargas un documento de contexto en Claude Projects, Claude lo tiene disponible en cada conversación. No tienes que repetirlo. No tienes que recordarlo. Solo trabajas.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Projects tiene una función que muy pocos usan bien: las instrucciones de sistema y la base de conocimiento del proyecto.
El documento de contexto de Growth tiene cuatro bloques. Te explico cada uno.
Bloque 1 — ICP: El error más común: escribir el ICP como si fuera para una presentación interna. "Empresas medianas del sector tecnológico que buscan optimizar sus procesos." Eso no sirve. Claude necesita el ICP de la misma forma en que lo necesita un redactor de copy senior antes de escribir su primer headline.
Bloque 2 — Propuesta de valor única: No tu USP de la landing page. La diferencia específica que hace que un cliente que probó tres competidores se quede contigo.
Bloque 3 — Métricas norte: Claude necesita saber qué cuenta para ti. Sin eso, optimiza para lo que está en internet — que rara vez coincide con lo que importa en tu etapa específica.
Bloque 4 — Tono de marca: Con el tono cargado, Claude no va a escribirte headlines de startup genérica cuando tu marca habla con la voz de un practitioner con años de experiencia.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más común: escribir el ICP como si fuera para una presentación interna. "Empresas medianas del sector tecnológico que buscan optimizar sus procesos." Eso no sirve.
El ICP para Claude tiene cuatro dimensiones: Quién es (cargo exacto, tamaño de empresa, sector, herramientas que usa hoy), Qué le duele (el problema específico que lo quita del sueño — con las palabras que él usaría, no las que usas tú), Qué considera éxito (la métrica o el resultado concreto que le diría a su jefe el viernes), Por qué no ha resuelto esto todavía (la objeción real, no la diplomática).
Con ese ICP cargado, cada copy que genera Claude habla el idioma de tu cliente. Sin que tengas que explicarlo en cada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instrucciones de sistema son el texto que Claude lee antes de cada conversación. Viven en el campo "Project Instructions" dentro de tu Project.
No son un documento de bienvenida. Son el briefing operativo de tu co-piloto.
Hay tres cosas que siempre van en las instrucciones de sistema — y que son distintas del documento de contexto.
Instrucción 1 — Tu rol y el rol de Claude: Le dices quién eres tú y qué se supone que hace Claude en este Project.
Instrucción 2 — Cómo quieres que responda: No das por sentado que Claude sabe cómo operas. Se lo dices explícitamente.
Instrucción 3 — Las restricciones permanentes: Las cosas que nunca quieres en ningún output de este Project.
Estas tres instrucciones toman 15 minutos en escribir. Y eliminan el 80% del ruido en cada respuesta de Claude para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tres instrucciones toman 15 minutos en escribir. Y eliminan el 80% del ruido en cada respuesta de Claude para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lo hacemos en vivo. Voy a construir el documento de contexto de Growth completo y cargarlo en Claude. Y al final, voy a hacer una sola pregunta para probar si funciona.
Lo que acabo de hacer es la versión mínima viable. No tiene que ser perfecta para que funcione. Tiene que ser específica.
¿Ven la diferencia? Claude no me preguntó quién es mi cliente. No asumió que soy una empresa grande o pequeña. No me propuso lo genérico.
Habló de mi ICP, usó mis métricas, y habló en mi tono. Eso es lo que cambia cuando cargas el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entregable de esta clase es la Plantilla de Contexto de Growth para Claude. Cuatro bloques. Llénala hoy — en 30 minutos si lo haces con foco.
Una vez que la cargues en tu Project, el brief que aprendiste en la Clase 2 se vuelve el 40% más rápido de escribir. Porque el CONTEXTO ya está.
A partir de aquí, el Módulo 01 está completo. Tienes Claude configurado. Sabes cómo hablarle. Sabes qué cargarle.
El Módulo 02 es donde empieza la ejecución real: Copy, campañas, análisis y experimentos. Todo con Claude ya configurado para tu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entregable de esta clase es la Plantilla de Contexto de Growth para Claude. Cuatro bloques. Llénala hoy — en 30 minutos si lo haces con foco.
Una vez que la cargues en tu Project, el brief que aprendiste en la Clase 2 se vuelve el 40% más rápido de escribir. Porque el CONTEXTO ya está.
A partir de aquí, el Módulo 01 está completo. Tienes Claude configurado. Sabes cómo hablarle. Sabes qué cargarle.
El Módulo 02 es donde empieza la ejecución real: Copy, campañas, análisis y experimentos. Todo con Claude ya configurado para tu negocio.
Nos vemos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640080" y="502920"/>
            <a:ext cx="10972800" cy="365760"/>
          </a:xfrm>
          <a:prstGeom prst="rect">
            <a:avLst/>
          </a:prstGeom>
          <a:noFill/>
          <a:ln/>
        </p:spPr>
        <p:txBody>
          <a:bodyPr wrap="square" rtlCol="0" anchor="ctr"/>
          <a:lstStyle/>
          <a:p>
            <a:pPr algn="l" indent="0" marL="0">
              <a:buNone/>
            </a:pPr>
            <a:r>
              <a:rPr lang="en-US" sz="1300" dirty="0">
                <a:solidFill>
                  <a:srgbClr val="FF6B00"/>
                </a:solidFill>
                <a:latin typeface="Calibri" pitchFamily="34" charset="0"/>
                <a:ea typeface="Calibri" pitchFamily="34" charset="-122"/>
                <a:cs typeface="Calibri" pitchFamily="34" charset="-120"/>
              </a:rPr>
              <a:t>MÓDULO 01 · CLASE 03</a:t>
            </a:r>
            <a:endParaRPr lang="en-US" sz="1300" dirty="0"/>
          </a:p>
        </p:txBody>
      </p:sp>
      <p:sp>
        <p:nvSpPr>
          <p:cNvPr id="4" name="Text 2"/>
          <p:cNvSpPr/>
          <p:nvPr/>
        </p:nvSpPr>
        <p:spPr>
          <a:xfrm>
            <a:off x="640080" y="1188720"/>
            <a:ext cx="10881360" cy="2560320"/>
          </a:xfrm>
          <a:prstGeom prst="rect">
            <a:avLst/>
          </a:prstGeom>
          <a:noFill/>
          <a:ln/>
        </p:spPr>
        <p:txBody>
          <a:bodyPr wrap="square" rtlCol="0" anchor="t"/>
          <a:lstStyle/>
          <a:p>
            <a:pPr algn="l" indent="0" marL="0">
              <a:buNone/>
            </a:pPr>
            <a:r>
              <a:rPr lang="en-US" sz="4400" b="1" dirty="0">
                <a:solidFill>
                  <a:srgbClr val="FF0000"/>
                </a:solidFill>
                <a:latin typeface="Arial Black" pitchFamily="34" charset="0"/>
                <a:ea typeface="Arial Black" pitchFamily="34" charset="-122"/>
                <a:cs typeface="Arial Black" pitchFamily="34" charset="-120"/>
              </a:rPr>
              <a:t>Configura tu cerebro de Growth en Claude:</a:t>
            </a:r>
            <a:endParaRPr lang="en-US" sz="4400" dirty="0"/>
          </a:p>
          <a:p>
            <a:pPr algn="l" indent="0" marL="0">
              <a:buNone/>
            </a:pPr>
            <a:r>
              <a:rPr lang="en-US" sz="4400" b="1" dirty="0">
                <a:solidFill>
                  <a:srgbClr val="FF0000"/>
                </a:solidFill>
                <a:latin typeface="Arial Black" pitchFamily="34" charset="0"/>
                <a:ea typeface="Arial Black" pitchFamily="34" charset="-122"/>
                <a:cs typeface="Arial Black" pitchFamily="34" charset="-120"/>
              </a:rPr>
              <a:t>ICP, métricas y contexto</a:t>
            </a:r>
            <a:endParaRPr lang="en-US" sz="4400" dirty="0"/>
          </a:p>
        </p:txBody>
      </p:sp>
      <p:sp>
        <p:nvSpPr>
          <p:cNvPr id="5" name="Text 3"/>
          <p:cNvSpPr/>
          <p:nvPr/>
        </p:nvSpPr>
        <p:spPr>
          <a:xfrm>
            <a:off x="640080" y="4023360"/>
            <a:ext cx="9144000" cy="1645920"/>
          </a:xfrm>
          <a:prstGeom prst="rect">
            <a:avLst/>
          </a:prstGeom>
          <a:noFill/>
          <a:ln/>
        </p:spPr>
        <p:txBody>
          <a:bodyPr wrap="square" rtlCol="0" anchor="ctr"/>
          <a:lstStyle/>
          <a:p>
            <a:pPr algn="l" indent="0" marL="0">
              <a:buNone/>
            </a:pPr>
            <a:r>
              <a:rPr lang="en-US" sz="1800" dirty="0">
                <a:solidFill>
                  <a:srgbClr val="FFFFFF"/>
                </a:solidFill>
                <a:latin typeface="Calibri" pitchFamily="34" charset="0"/>
                <a:ea typeface="Calibri" pitchFamily="34" charset="-122"/>
                <a:cs typeface="Calibri" pitchFamily="34" charset="-120"/>
              </a:rPr>
              <a:t>Instructor B · 14 minutos · De asistente genérico a co-piloto estratégico</a:t>
            </a:r>
            <a:endParaRPr lang="en-US" sz="1800" dirty="0"/>
          </a:p>
        </p:txBody>
      </p:sp>
      <p:sp>
        <p:nvSpPr>
          <p:cNvPr id="6" name="Shape 4"/>
          <p:cNvSpPr/>
          <p:nvPr/>
        </p:nvSpPr>
        <p:spPr>
          <a:xfrm>
            <a:off x="0" y="6675120"/>
            <a:ext cx="12188952" cy="182880"/>
          </a:xfrm>
          <a:prstGeom prst="rect">
            <a:avLst/>
          </a:prstGeom>
          <a:solidFill>
            <a:srgbClr val="FF6B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0" cy="6858000"/>
          </a:xfrm>
          <a:prstGeom prst="rect">
            <a:avLst/>
          </a:prstGeom>
          <a:solidFill>
            <a:srgbClr val="FF0000"/>
          </a:solidFill>
          <a:ln/>
        </p:spPr>
      </p:sp>
      <p:sp>
        <p:nvSpPr>
          <p:cNvPr id="3" name="Text 1"/>
          <p:cNvSpPr/>
          <p:nvPr/>
        </p:nvSpPr>
        <p:spPr>
          <a:xfrm>
            <a:off x="914400" y="548640"/>
            <a:ext cx="10515600" cy="457200"/>
          </a:xfrm>
          <a:prstGeom prst="rect">
            <a:avLst/>
          </a:prstGeom>
          <a:noFill/>
          <a:ln/>
        </p:spPr>
        <p:txBody>
          <a:bodyPr wrap="square" rtlCol="0" anchor="ctr"/>
          <a:lstStyle/>
          <a:p>
            <a:pPr indent="0" marL="0">
              <a:buNone/>
            </a:pPr>
            <a:r>
              <a:rPr lang="en-US" sz="1400" b="1" dirty="0">
                <a:solidFill>
                  <a:srgbClr val="FF6B00"/>
                </a:solidFill>
                <a:latin typeface="Calibri" pitchFamily="34" charset="0"/>
                <a:ea typeface="Calibri" pitchFamily="34" charset="-122"/>
                <a:cs typeface="Calibri" pitchFamily="34" charset="-120"/>
              </a:rPr>
              <a:t>EL PUNTO DE INFLEXIÓN</a:t>
            </a:r>
            <a:endParaRPr lang="en-US" sz="1400" dirty="0"/>
          </a:p>
        </p:txBody>
      </p:sp>
      <p:sp>
        <p:nvSpPr>
          <p:cNvPr id="4" name="Shape 2"/>
          <p:cNvSpPr/>
          <p:nvPr/>
        </p:nvSpPr>
        <p:spPr>
          <a:xfrm>
            <a:off x="914400" y="1188720"/>
            <a:ext cx="10241280" cy="3840480"/>
          </a:xfrm>
          <a:prstGeom prst="rect">
            <a:avLst/>
          </a:prstGeom>
          <a:solidFill>
            <a:srgbClr val="EEFF89"/>
          </a:solidFill>
          <a:ln w="25400">
            <a:solidFill>
              <a:srgbClr val="FF6B00"/>
            </a:solidFill>
            <a:prstDash val="solid"/>
          </a:ln>
        </p:spPr>
      </p:sp>
      <p:sp>
        <p:nvSpPr>
          <p:cNvPr id="5" name="Text 3"/>
          <p:cNvSpPr/>
          <p:nvPr/>
        </p:nvSpPr>
        <p:spPr>
          <a:xfrm>
            <a:off x="1280160" y="1371600"/>
            <a:ext cx="9509760" cy="3474720"/>
          </a:xfrm>
          <a:prstGeom prst="rect">
            <a:avLst/>
          </a:prstGeom>
          <a:noFill/>
          <a:ln/>
        </p:spPr>
        <p:txBody>
          <a:bodyPr wrap="square" rtlCol="0" anchor="ctr"/>
          <a:lstStyle/>
          <a:p>
            <a:pPr algn="l" indent="0" marL="0">
              <a:buNone/>
            </a:pPr>
            <a:r>
              <a:rPr lang="en-US" sz="2200" b="1" dirty="0">
                <a:solidFill>
                  <a:srgbClr val="000000"/>
                </a:solidFill>
                <a:latin typeface="Arial Black" pitchFamily="34" charset="0"/>
                <a:ea typeface="Arial Black" pitchFamily="34" charset="-122"/>
                <a:cs typeface="Arial Black" pitchFamily="34" charset="-120"/>
              </a:rPr>
              <a:t>"Claude sin contexto = asistente genérico. Claude con tu contexto = co-piloto estratégico que ya sabe quién eres, a quién le hablas y qué métricas importan."</a:t>
            </a:r>
            <a:endParaRPr lang="en-US" sz="2200" dirty="0"/>
          </a:p>
        </p:txBody>
      </p:sp>
      <p:sp>
        <p:nvSpPr>
          <p:cNvPr id="6" name="Text 4"/>
          <p:cNvSpPr/>
          <p:nvPr/>
        </p:nvSpPr>
        <p:spPr>
          <a:xfrm>
            <a:off x="914400" y="5212080"/>
            <a:ext cx="10241280" cy="731520"/>
          </a:xfrm>
          <a:prstGeom prst="rect">
            <a:avLst/>
          </a:prstGeom>
          <a:noFill/>
          <a:ln/>
        </p:spPr>
        <p:txBody>
          <a:bodyPr wrap="square" rtlCol="0" anchor="ctr"/>
          <a:lstStyle/>
          <a:p>
            <a:pPr algn="r" indent="0" marL="0">
              <a:buNone/>
            </a:pPr>
            <a:r>
              <a:rPr lang="en-US" sz="1400" b="1" dirty="0">
                <a:solidFill>
                  <a:srgbClr val="FF0000"/>
                </a:solidFill>
                <a:latin typeface="Calibri" pitchFamily="34" charset="0"/>
                <a:ea typeface="Calibri" pitchFamily="34" charset="-122"/>
                <a:cs typeface="Calibri" pitchFamily="34" charset="-120"/>
              </a:rPr>
              <a:t>— Clase 03 · Módulo 01</a:t>
            </a:r>
            <a:endParaRPr lang="en-US" sz="1400" dirty="0"/>
          </a:p>
        </p:txBody>
      </p:sp>
      <p:sp>
        <p:nvSpPr>
          <p:cNvPr id="7" name="Shape 5"/>
          <p:cNvSpPr/>
          <p:nvPr/>
        </p:nvSpPr>
        <p:spPr>
          <a:xfrm>
            <a:off x="0" y="6629400"/>
            <a:ext cx="12188952" cy="228600"/>
          </a:xfrm>
          <a:prstGeom prst="rect">
            <a:avLst/>
          </a:prstGeom>
          <a:solidFill>
            <a:srgbClr val="FF6B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Con contexto vs. Sin contexto: lo que cambia en cada output</a:t>
            </a:r>
            <a:endParaRPr lang="en-US" sz="2600" dirty="0"/>
          </a:p>
        </p:txBody>
      </p:sp>
      <p:sp>
        <p:nvSpPr>
          <p:cNvPr id="4" name="Shape 2"/>
          <p:cNvSpPr/>
          <p:nvPr/>
        </p:nvSpPr>
        <p:spPr>
          <a:xfrm>
            <a:off x="274320" y="1097280"/>
            <a:ext cx="5394960" cy="5486400"/>
          </a:xfrm>
          <a:prstGeom prst="rect">
            <a:avLst/>
          </a:prstGeom>
          <a:solidFill>
            <a:srgbClr val="1A1A1A"/>
          </a:solidFill>
          <a:ln/>
        </p:spPr>
      </p:sp>
      <p:sp>
        <p:nvSpPr>
          <p:cNvPr id="5" name="Text 3"/>
          <p:cNvSpPr/>
          <p:nvPr/>
        </p:nvSpPr>
        <p:spPr>
          <a:xfrm>
            <a:off x="274320" y="1097280"/>
            <a:ext cx="539496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ANTES</a:t>
            </a:r>
            <a:endParaRPr lang="en-US" sz="1800" dirty="0"/>
          </a:p>
        </p:txBody>
      </p:sp>
      <p:sp>
        <p:nvSpPr>
          <p:cNvPr id="6" name="Shape 4"/>
          <p:cNvSpPr/>
          <p:nvPr/>
        </p:nvSpPr>
        <p:spPr>
          <a:xfrm>
            <a:off x="274320" y="1645920"/>
            <a:ext cx="5394960" cy="36576"/>
          </a:xfrm>
          <a:prstGeom prst="rect">
            <a:avLst/>
          </a:prstGeom>
          <a:solidFill>
            <a:srgbClr val="FF6B00"/>
          </a:solidFill>
          <a:ln/>
        </p:spPr>
      </p:sp>
      <p:sp>
        <p:nvSpPr>
          <p:cNvPr id="7" name="Text 5"/>
          <p:cNvSpPr/>
          <p:nvPr/>
        </p:nvSpPr>
        <p:spPr>
          <a:xfrm>
            <a:off x="457200" y="1783080"/>
            <a:ext cx="5029200" cy="4572000"/>
          </a:xfrm>
          <a:prstGeom prst="rect">
            <a:avLst/>
          </a:prstGeom>
          <a:noFill/>
          <a:ln/>
        </p:spPr>
        <p:txBody>
          <a:bodyPr wrap="square" rtlCol="0" anchor="t"/>
          <a:lstStyle/>
          <a:p>
            <a:pPr>
              <a:spcBef>
                <a:spcPts val="600"/>
              </a:spcBef>
            </a:pPr>
            <a:r>
              <a:rPr lang="en-US" sz="1300" dirty="0">
                <a:solidFill>
                  <a:srgbClr val="CCCCCC"/>
                </a:solidFill>
                <a:latin typeface="Calibri" pitchFamily="34" charset="0"/>
                <a:ea typeface="Calibri" pitchFamily="34" charset="-122"/>
                <a:cs typeface="Calibri" pitchFamily="34" charset="-120"/>
              </a:rPr>
              <a:t>Cada prompt tiene que incluir producto + ICP + etapa + métricas</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Claude hace supuestos genéricos que no aplican a tu negocio</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El output habla de cualquier empresa, no de la tuya</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Tiempo de setup por prompt: 5–10 minutos de contexto manual</a:t>
            </a:r>
            <a:endParaRPr lang="en-US" sz="1300" dirty="0"/>
          </a:p>
          <a:p>
            <a:pPr>
              <a:spcBef>
                <a:spcPts val="600"/>
              </a:spcBef>
            </a:pPr>
            <a:r>
              <a:rPr lang="en-US" sz="1300" dirty="0">
                <a:solidFill>
                  <a:srgbClr val="CCCCCC"/>
                </a:solidFill>
                <a:latin typeface="Calibri" pitchFamily="34" charset="0"/>
                <a:ea typeface="Calibri" pitchFamily="34" charset="-122"/>
                <a:cs typeface="Calibri" pitchFamily="34" charset="-120"/>
              </a:rPr>
              <a:t>Error frecuente: Claude propone lo que ya probaste y no funcionó</a:t>
            </a:r>
            <a:endParaRPr lang="en-US" sz="1300" dirty="0"/>
          </a:p>
        </p:txBody>
      </p:sp>
      <p:sp>
        <p:nvSpPr>
          <p:cNvPr id="8" name="Shape 6"/>
          <p:cNvSpPr/>
          <p:nvPr/>
        </p:nvSpPr>
        <p:spPr>
          <a:xfrm>
            <a:off x="6492240" y="1097280"/>
            <a:ext cx="5394960" cy="5486400"/>
          </a:xfrm>
          <a:prstGeom prst="rect">
            <a:avLst/>
          </a:prstGeom>
          <a:solidFill>
            <a:srgbClr val="FF0000"/>
          </a:solidFill>
          <a:ln/>
        </p:spPr>
      </p:sp>
      <p:sp>
        <p:nvSpPr>
          <p:cNvPr id="9" name="Text 7"/>
          <p:cNvSpPr/>
          <p:nvPr/>
        </p:nvSpPr>
        <p:spPr>
          <a:xfrm>
            <a:off x="6492240" y="1097280"/>
            <a:ext cx="539496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CON CLAUDE</a:t>
            </a:r>
            <a:endParaRPr lang="en-US" sz="1800" dirty="0"/>
          </a:p>
        </p:txBody>
      </p:sp>
      <p:sp>
        <p:nvSpPr>
          <p:cNvPr id="10" name="Shape 8"/>
          <p:cNvSpPr/>
          <p:nvPr/>
        </p:nvSpPr>
        <p:spPr>
          <a:xfrm>
            <a:off x="6492240" y="1645920"/>
            <a:ext cx="5394960" cy="36576"/>
          </a:xfrm>
          <a:prstGeom prst="rect">
            <a:avLst/>
          </a:prstGeom>
          <a:solidFill>
            <a:srgbClr val="EEFF89"/>
          </a:solidFill>
          <a:ln/>
        </p:spPr>
      </p:sp>
      <p:sp>
        <p:nvSpPr>
          <p:cNvPr id="11" name="Text 9"/>
          <p:cNvSpPr/>
          <p:nvPr/>
        </p:nvSpPr>
        <p:spPr>
          <a:xfrm>
            <a:off x="6675120" y="1783080"/>
            <a:ext cx="5029200" cy="4572000"/>
          </a:xfrm>
          <a:prstGeom prst="rect">
            <a:avLst/>
          </a:prstGeom>
          <a:noFill/>
          <a:ln/>
        </p:spPr>
        <p:txBody>
          <a:bodyPr wrap="square" rtlCol="0" anchor="t"/>
          <a:lstStyle/>
          <a:p>
            <a:pPr>
              <a:spcBef>
                <a:spcPts val="600"/>
              </a:spcBef>
            </a:pPr>
            <a:r>
              <a:rPr lang="en-US" sz="1300" dirty="0">
                <a:solidFill>
                  <a:srgbClr val="FFFFFF"/>
                </a:solidFill>
                <a:latin typeface="Calibri" pitchFamily="34" charset="0"/>
                <a:ea typeface="Calibri" pitchFamily="34" charset="-122"/>
                <a:cs typeface="Calibri" pitchFamily="34" charset="-120"/>
              </a:rPr>
              <a:t>El contexto está cargado — nunca más lo repites</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Claude conoce tu ICP, tus métricas y tu tono antes de que hables</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El output habla de TU negocio, TU cliente, TU etapa</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Tiempo de setup por prompt: 0 minutos — ya está</a:t>
            </a:r>
            <a:endParaRPr lang="en-US" sz="1300" dirty="0"/>
          </a:p>
          <a:p>
            <a:pPr>
              <a:spcBef>
                <a:spcPts val="600"/>
              </a:spcBef>
            </a:pPr>
            <a:r>
              <a:rPr lang="en-US" sz="1300" dirty="0">
                <a:solidFill>
                  <a:srgbClr val="FFFFFF"/>
                </a:solidFill>
                <a:latin typeface="Calibri" pitchFamily="34" charset="0"/>
                <a:ea typeface="Calibri" pitchFamily="34" charset="-122"/>
                <a:cs typeface="Calibri" pitchFamily="34" charset="-120"/>
              </a:rPr>
              <a:t>Claude sabe qué ya probaste y qué no recomendar</a:t>
            </a:r>
            <a:endParaRPr lang="en-US" sz="1300" dirty="0"/>
          </a:p>
        </p:txBody>
      </p:sp>
      <p:sp>
        <p:nvSpPr>
          <p:cNvPr id="12" name="Shape 10"/>
          <p:cNvSpPr/>
          <p:nvPr/>
        </p:nvSpPr>
        <p:spPr>
          <a:xfrm>
            <a:off x="5870448" y="1097280"/>
            <a:ext cx="457200" cy="5486400"/>
          </a:xfrm>
          <a:prstGeom prst="rect">
            <a:avLst/>
          </a:prstGeom>
          <a:solidFill>
            <a:srgbClr val="EEFF89"/>
          </a:solidFill>
          <a:ln/>
        </p:spPr>
      </p:sp>
      <p:sp>
        <p:nvSpPr>
          <p:cNvPr id="13" name="Text 11"/>
          <p:cNvSpPr/>
          <p:nvPr/>
        </p:nvSpPr>
        <p:spPr>
          <a:xfrm>
            <a:off x="5870448" y="3383280"/>
            <a:ext cx="457200" cy="640080"/>
          </a:xfrm>
          <a:prstGeom prst="rect">
            <a:avLst/>
          </a:prstGeom>
          <a:noFill/>
          <a:ln/>
        </p:spPr>
        <p:txBody>
          <a:bodyPr wrap="square" rtlCol="0" anchor="ctr"/>
          <a:lstStyle/>
          <a:p>
            <a:pPr algn="ctr" indent="0" marL="0">
              <a:buNone/>
            </a:pPr>
            <a:r>
              <a:rPr lang="en-US" sz="1100" b="1" dirty="0">
                <a:solidFill>
                  <a:srgbClr val="000000"/>
                </a:solidFill>
                <a:latin typeface="Arial Black" pitchFamily="34" charset="0"/>
                <a:ea typeface="Arial Black" pitchFamily="34" charset="-122"/>
                <a:cs typeface="Arial Black" pitchFamily="34" charset="-120"/>
              </a:rPr>
              <a:t>VS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FF0000"/>
          </a:solidFill>
          <a:ln/>
        </p:spPr>
      </p:sp>
      <p:sp>
        <p:nvSpPr>
          <p:cNvPr id="3" name="Text 1"/>
          <p:cNvSpPr/>
          <p:nvPr/>
        </p:nvSpPr>
        <p:spPr>
          <a:xfrm>
            <a:off x="365760" y="91440"/>
            <a:ext cx="11430000" cy="86868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El documento de contexto de Growth: 4 bloques que lo cambian todo</a:t>
            </a:r>
            <a:endParaRPr lang="en-US" sz="2800" dirty="0"/>
          </a:p>
        </p:txBody>
      </p:sp>
      <p:sp>
        <p:nvSpPr>
          <p:cNvPr id="4" name="Shape 2"/>
          <p:cNvSpPr/>
          <p:nvPr/>
        </p:nvSpPr>
        <p:spPr>
          <a:xfrm>
            <a:off x="0" y="1051560"/>
            <a:ext cx="164592" cy="5806440"/>
          </a:xfrm>
          <a:prstGeom prst="rect">
            <a:avLst/>
          </a:prstGeom>
          <a:solidFill>
            <a:srgbClr val="FF6B00"/>
          </a:solidFill>
          <a:ln/>
        </p:spPr>
      </p:sp>
      <p:sp>
        <p:nvSpPr>
          <p:cNvPr id="5" name="Text 3"/>
          <p:cNvSpPr/>
          <p:nvPr/>
        </p:nvSpPr>
        <p:spPr>
          <a:xfrm>
            <a:off x="457200" y="1188720"/>
            <a:ext cx="11430000" cy="5394960"/>
          </a:xfrm>
          <a:prstGeom prst="rect">
            <a:avLst/>
          </a:prstGeom>
          <a:noFill/>
          <a:ln/>
        </p:spPr>
        <p:txBody>
          <a:bodyPr wrap="square" rtlCol="0" anchor="t"/>
          <a:lstStyle/>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1 — ICP: tu cliente ideal con la precisión que necesita Claude</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Quién es (cargo exacto, tamaño, sector, herramientas), Qué le duele (en sus palabras, no las tuyas), Qué considera éxito (métrica o resultado el viernes), Por qué no resolvió esto todavía (objeción real)</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2 — Propuesta de valor única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Lo que haces que ningún competidor hace igual + Resultado cuantificable más fuerte + Palabras exactas que han usado clientes reales + Lo que NO eres</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3 — Métricas norte</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Adquisición (CAC, CPL, conversión a trial) + Retención (churn, NPS, DAU/MAU) + Revenue (MRR, ARR, LTV) + Benchmarks actuales aunque sean malos</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4 — Tono de marca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Cómo SÍ suenas (3 adjetivos + ejemplo real) + Cómo NO suenas (3 cosas a evitar) + Referencia de estilo + Vocabulario prohibido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Bloque 1: El ICP que realmente necesita Claude</a:t>
            </a:r>
            <a:endParaRPr lang="en-US" sz="2600" dirty="0"/>
          </a:p>
        </p:txBody>
      </p:sp>
      <p:sp>
        <p:nvSpPr>
          <p:cNvPr id="4" name="Shape 2"/>
          <p:cNvSpPr/>
          <p:nvPr/>
        </p:nvSpPr>
        <p:spPr>
          <a:xfrm>
            <a:off x="274320" y="1097280"/>
            <a:ext cx="3474720" cy="640080"/>
          </a:xfrm>
          <a:prstGeom prst="rect">
            <a:avLst/>
          </a:prstGeom>
          <a:solidFill>
            <a:srgbClr val="FF0000"/>
          </a:solidFill>
          <a:ln/>
        </p:spPr>
      </p:sp>
      <p:sp>
        <p:nvSpPr>
          <p:cNvPr id="5" name="Text 3"/>
          <p:cNvSpPr/>
          <p:nvPr/>
        </p:nvSpPr>
        <p:spPr>
          <a:xfrm>
            <a:off x="274320"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ICP VAGO (no sirve)</a:t>
            </a:r>
            <a:endParaRPr lang="en-US" sz="1400" dirty="0"/>
          </a:p>
        </p:txBody>
      </p:sp>
      <p:sp>
        <p:nvSpPr>
          <p:cNvPr id="6" name="Shape 4"/>
          <p:cNvSpPr/>
          <p:nvPr/>
        </p:nvSpPr>
        <p:spPr>
          <a:xfrm>
            <a:off x="274320" y="1737360"/>
            <a:ext cx="3474720" cy="4846320"/>
          </a:xfrm>
          <a:prstGeom prst="rect">
            <a:avLst/>
          </a:prstGeom>
          <a:solidFill>
            <a:srgbClr val="F7F7F7"/>
          </a:solidFill>
          <a:ln/>
        </p:spPr>
      </p:sp>
      <p:sp>
        <p:nvSpPr>
          <p:cNvPr id="7" name="Text 5"/>
          <p:cNvSpPr/>
          <p:nvPr/>
        </p:nvSpPr>
        <p:spPr>
          <a:xfrm>
            <a:off x="411480"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"Empresas medianas del sector tecnológico"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"Buscan optimizar sus procesos"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"Perfil tomador de decisión"</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"Valoran la eficiencia"</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Aplica a 10.000 empresas simultáneamente</a:t>
            </a:r>
            <a:endParaRPr lang="en-US" sz="1300" dirty="0"/>
          </a:p>
        </p:txBody>
      </p:sp>
      <p:sp>
        <p:nvSpPr>
          <p:cNvPr id="8" name="Shape 6"/>
          <p:cNvSpPr/>
          <p:nvPr/>
        </p:nvSpPr>
        <p:spPr>
          <a:xfrm>
            <a:off x="4361688" y="1097280"/>
            <a:ext cx="3474720" cy="640080"/>
          </a:xfrm>
          <a:prstGeom prst="rect">
            <a:avLst/>
          </a:prstGeom>
          <a:solidFill>
            <a:srgbClr val="FF6B00"/>
          </a:solidFill>
          <a:ln/>
        </p:spPr>
      </p:sp>
      <p:sp>
        <p:nvSpPr>
          <p:cNvPr id="9" name="Text 7"/>
          <p:cNvSpPr/>
          <p:nvPr/>
        </p:nvSpPr>
        <p:spPr>
          <a:xfrm>
            <a:off x="4361688"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ICP PARA CLAUDE (sirve)</a:t>
            </a:r>
            <a:endParaRPr lang="en-US" sz="1400" dirty="0"/>
          </a:p>
        </p:txBody>
      </p:sp>
      <p:sp>
        <p:nvSpPr>
          <p:cNvPr id="10" name="Shape 8"/>
          <p:cNvSpPr/>
          <p:nvPr/>
        </p:nvSpPr>
        <p:spPr>
          <a:xfrm>
            <a:off x="4361688" y="1737360"/>
            <a:ext cx="3474720" cy="4846320"/>
          </a:xfrm>
          <a:prstGeom prst="rect">
            <a:avLst/>
          </a:prstGeom>
          <a:solidFill>
            <a:srgbClr val="F7F7F7"/>
          </a:solidFill>
          <a:ln/>
        </p:spPr>
      </p:sp>
      <p:sp>
        <p:nvSpPr>
          <p:cNvPr id="11" name="Text 9"/>
          <p:cNvSpPr/>
          <p:nvPr/>
        </p:nvSpPr>
        <p:spPr>
          <a:xfrm>
            <a:off x="4498848"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Cargo: Head of Sales en SaaS B2B 50-200 empleados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"Mis reportes semanales me consumen 4 horas que no tengo"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Éxito: "Reduje el reporte de 4h a 20min — le muestro a mi VP el viernes"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Herramientas actuales: Salesforce + Excel + Notion</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No resolvió: cree que necesita IT para cualquier herramienta nueva</a:t>
            </a:r>
            <a:endParaRPr lang="en-US" sz="1300" dirty="0"/>
          </a:p>
        </p:txBody>
      </p:sp>
      <p:sp>
        <p:nvSpPr>
          <p:cNvPr id="12" name="Shape 10"/>
          <p:cNvSpPr/>
          <p:nvPr/>
        </p:nvSpPr>
        <p:spPr>
          <a:xfrm>
            <a:off x="8439912" y="1097280"/>
            <a:ext cx="3474720" cy="640080"/>
          </a:xfrm>
          <a:prstGeom prst="rect">
            <a:avLst/>
          </a:prstGeom>
          <a:solidFill>
            <a:srgbClr val="555555"/>
          </a:solidFill>
          <a:ln/>
        </p:spPr>
      </p:sp>
      <p:sp>
        <p:nvSpPr>
          <p:cNvPr id="13" name="Text 11"/>
          <p:cNvSpPr/>
          <p:nvPr/>
        </p:nvSpPr>
        <p:spPr>
          <a:xfrm>
            <a:off x="8439912"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QUÉ CAMBIA EN EL OUTPUT</a:t>
            </a:r>
            <a:endParaRPr lang="en-US" sz="1400" dirty="0"/>
          </a:p>
        </p:txBody>
      </p:sp>
      <p:sp>
        <p:nvSpPr>
          <p:cNvPr id="14" name="Shape 12"/>
          <p:cNvSpPr/>
          <p:nvPr/>
        </p:nvSpPr>
        <p:spPr>
          <a:xfrm>
            <a:off x="8439912" y="1737360"/>
            <a:ext cx="3474720" cy="4846320"/>
          </a:xfrm>
          <a:prstGeom prst="rect">
            <a:avLst/>
          </a:prstGeom>
          <a:solidFill>
            <a:srgbClr val="F7F7F7"/>
          </a:solidFill>
          <a:ln/>
        </p:spPr>
      </p:sp>
      <p:sp>
        <p:nvSpPr>
          <p:cNvPr id="15" name="Text 13"/>
          <p:cNvSpPr/>
          <p:nvPr/>
        </p:nvSpPr>
        <p:spPr>
          <a:xfrm>
            <a:off x="8577072"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Copy usa las palabras que tu cliente usa para su dolor</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Los ángulos de mensaje resuenan con su realidad</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Las secuencias de email hablan de su momento de vida</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Las objeciones en el copy son las reales, no las diplomáticas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Claude no propone mensajes que tu ICP no reconocería como suyos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0000"/>
                </a:solidFill>
                <a:latin typeface="Arial Black" pitchFamily="34" charset="0"/>
                <a:ea typeface="Arial Black" pitchFamily="34" charset="-122"/>
                <a:cs typeface="Arial Black" pitchFamily="34" charset="-120"/>
              </a:rPr>
              <a:t>Instrucciones de sistema: la configuración que lo cambia todo</a:t>
            </a:r>
            <a:endParaRPr lang="en-US" sz="2600" dirty="0"/>
          </a:p>
        </p:txBody>
      </p:sp>
      <p:sp>
        <p:nvSpPr>
          <p:cNvPr id="4" name="Shape 2"/>
          <p:cNvSpPr/>
          <p:nvPr/>
        </p:nvSpPr>
        <p:spPr>
          <a:xfrm>
            <a:off x="274320" y="1097280"/>
            <a:ext cx="5394960" cy="502920"/>
          </a:xfrm>
          <a:prstGeom prst="rect">
            <a:avLst/>
          </a:prstGeom>
          <a:solidFill>
            <a:srgbClr val="FF6B00"/>
          </a:solidFill>
          <a:ln/>
        </p:spPr>
      </p:sp>
      <p:sp>
        <p:nvSpPr>
          <p:cNvPr id="5" name="Text 3"/>
          <p:cNvSpPr/>
          <p:nvPr/>
        </p:nvSpPr>
        <p:spPr>
          <a:xfrm>
            <a:off x="27432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INSTRUCCIONES DE SISTEMA</a:t>
            </a:r>
            <a:endParaRPr lang="en-US" sz="1600" dirty="0"/>
          </a:p>
        </p:txBody>
      </p:sp>
      <p:sp>
        <p:nvSpPr>
          <p:cNvPr id="6" name="Shape 4"/>
          <p:cNvSpPr/>
          <p:nvPr/>
        </p:nvSpPr>
        <p:spPr>
          <a:xfrm>
            <a:off x="274320" y="1600200"/>
            <a:ext cx="5394960" cy="4937760"/>
          </a:xfrm>
          <a:prstGeom prst="rect">
            <a:avLst/>
          </a:prstGeom>
          <a:solidFill>
            <a:srgbClr val="F5F5F5"/>
          </a:solidFill>
          <a:ln/>
        </p:spPr>
      </p:sp>
      <p:sp>
        <p:nvSpPr>
          <p:cNvPr id="7" name="Text 5"/>
          <p:cNvSpPr/>
          <p:nvPr/>
        </p:nvSpPr>
        <p:spPr>
          <a:xfrm>
            <a:off x="45720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Definen CÓMO debe comportarse Claude</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Aplican en CADA respuesta, siempre</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Viven en "Project Instructions"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Cambian poco — cuando cambia tu forma de operar</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Las 3 instrucciones clave:</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1. Tu rol y el rol de Claude en este Project</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2. Cómo quieres que responda (directamente, sin intro, pregunta si necesita contexto)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3. Restricciones permanentes (nunca disclaimers, nunca "A/B test" genérico, nunca adjetivos de catálogo)</a:t>
            </a:r>
            <a:endParaRPr lang="en-US" sz="1400" dirty="0"/>
          </a:p>
        </p:txBody>
      </p:sp>
      <p:sp>
        <p:nvSpPr>
          <p:cNvPr id="8" name="Shape 6"/>
          <p:cNvSpPr/>
          <p:nvPr/>
        </p:nvSpPr>
        <p:spPr>
          <a:xfrm>
            <a:off x="6492240" y="1097280"/>
            <a:ext cx="5394960" cy="502920"/>
          </a:xfrm>
          <a:prstGeom prst="rect">
            <a:avLst/>
          </a:prstGeom>
          <a:solidFill>
            <a:srgbClr val="FF0000"/>
          </a:solidFill>
          <a:ln/>
        </p:spPr>
      </p:sp>
      <p:sp>
        <p:nvSpPr>
          <p:cNvPr id="9" name="Text 7"/>
          <p:cNvSpPr/>
          <p:nvPr/>
        </p:nvSpPr>
        <p:spPr>
          <a:xfrm>
            <a:off x="649224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DOCUMENTO DE CONTEXTO</a:t>
            </a:r>
            <a:endParaRPr lang="en-US" sz="1600" dirty="0"/>
          </a:p>
        </p:txBody>
      </p:sp>
      <p:sp>
        <p:nvSpPr>
          <p:cNvPr id="10" name="Shape 8"/>
          <p:cNvSpPr/>
          <p:nvPr/>
        </p:nvSpPr>
        <p:spPr>
          <a:xfrm>
            <a:off x="6492240" y="1600200"/>
            <a:ext cx="5394960" cy="4937760"/>
          </a:xfrm>
          <a:prstGeom prst="rect">
            <a:avLst/>
          </a:prstGeom>
          <a:solidFill>
            <a:srgbClr val="F5F5F5"/>
          </a:solidFill>
          <a:ln/>
        </p:spPr>
      </p:sp>
      <p:sp>
        <p:nvSpPr>
          <p:cNvPr id="11" name="Text 9"/>
          <p:cNvSpPr/>
          <p:nvPr/>
        </p:nvSpPr>
        <p:spPr>
          <a:xfrm>
            <a:off x="667512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Define QUÉ sabe Claude sobre tu negocio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Se activa cuando la tarea lo requiere</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Vive en Knowledge / archivos del Project</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Se actualiza regularmente (trimestral mínimo)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Los 4 bloques de contenido: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1. ICP con las 4 dimensiones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2. Propuesta de valor con números y citas reales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3. Métricas norte con benchmarks actuales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4. Tono de marca con ejemplos y vocabulario prohibido</a:t>
            </a:r>
            <a:endParaRPr lang="en-US" sz="1400" dirty="0"/>
          </a:p>
        </p:txBody>
      </p:sp>
      <p:sp>
        <p:nvSpPr>
          <p:cNvPr id="12" name="Shape 10"/>
          <p:cNvSpPr/>
          <p:nvPr/>
        </p:nvSpPr>
        <p:spPr>
          <a:xfrm>
            <a:off x="5989320" y="1051560"/>
            <a:ext cx="228600" cy="5577840"/>
          </a:xfrm>
          <a:prstGeom prst="rect">
            <a:avLst/>
          </a:prstGeom>
          <a:solidFill>
            <a:srgbClr val="EEFF89"/>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566160" y="640080"/>
            <a:ext cx="5029200" cy="5029200"/>
          </a:xfrm>
          <a:prstGeom prst="ellipse">
            <a:avLst/>
          </a:prstGeom>
          <a:solidFill>
            <a:srgbClr val="FF0000"/>
          </a:solidFill>
          <a:ln w="38100">
            <a:solidFill>
              <a:srgbClr val="FF6B00"/>
            </a:solidFill>
            <a:prstDash val="solid"/>
          </a:ln>
        </p:spPr>
      </p:sp>
      <p:sp>
        <p:nvSpPr>
          <p:cNvPr id="3" name="Text 1"/>
          <p:cNvSpPr/>
          <p:nvPr/>
        </p:nvSpPr>
        <p:spPr>
          <a:xfrm>
            <a:off x="1371600" y="1188720"/>
            <a:ext cx="9418320" cy="2926080"/>
          </a:xfrm>
          <a:prstGeom prst="rect">
            <a:avLst/>
          </a:prstGeom>
          <a:noFill/>
          <a:ln/>
        </p:spPr>
        <p:txBody>
          <a:bodyPr wrap="square" rtlCol="0" anchor="ctr"/>
          <a:lstStyle/>
          <a:p>
            <a:pPr algn="ctr" indent="0" marL="0">
              <a:buNone/>
            </a:pPr>
            <a:r>
              <a:rPr lang="en-US" sz="8800" b="1" dirty="0">
                <a:solidFill>
                  <a:srgbClr val="EEFF89"/>
                </a:solidFill>
                <a:latin typeface="Arial Black" pitchFamily="34" charset="0"/>
                <a:ea typeface="Arial Black" pitchFamily="34" charset="-122"/>
                <a:cs typeface="Arial Black" pitchFamily="34" charset="-120"/>
              </a:rPr>
              <a:t>80%</a:t>
            </a:r>
            <a:endParaRPr lang="en-US" sz="8800" dirty="0"/>
          </a:p>
        </p:txBody>
      </p:sp>
      <p:sp>
        <p:nvSpPr>
          <p:cNvPr id="4" name="Text 2"/>
          <p:cNvSpPr/>
          <p:nvPr/>
        </p:nvSpPr>
        <p:spPr>
          <a:xfrm>
            <a:off x="1371600" y="3931920"/>
            <a:ext cx="9418320" cy="914400"/>
          </a:xfrm>
          <a:prstGeom prst="rect">
            <a:avLst/>
          </a:prstGeom>
          <a:noFill/>
          <a:ln/>
        </p:spPr>
        <p:txBody>
          <a:bodyPr wrap="square"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Del ruido en cada respuesta de Claude que eliminan las instrucciones de sistema</a:t>
            </a:r>
            <a:endParaRPr lang="en-US" sz="2400" dirty="0"/>
          </a:p>
        </p:txBody>
      </p:sp>
      <p:sp>
        <p:nvSpPr>
          <p:cNvPr id="5" name="Text 3"/>
          <p:cNvSpPr/>
          <p:nvPr/>
        </p:nvSpPr>
        <p:spPr>
          <a:xfrm>
            <a:off x="1371600" y="5029200"/>
            <a:ext cx="9418320" cy="1097280"/>
          </a:xfrm>
          <a:prstGeom prst="rect">
            <a:avLst/>
          </a:prstGeom>
          <a:noFill/>
          <a:ln/>
        </p:spPr>
        <p:txBody>
          <a:bodyPr wrap="square" rtlCol="0" anchor="ctr"/>
          <a:lstStyle/>
          <a:p>
            <a:pPr algn="ctr" indent="0" marL="0">
              <a:buNone/>
            </a:pPr>
            <a:r>
              <a:rPr lang="en-US" sz="1500" dirty="0">
                <a:solidFill>
                  <a:srgbClr val="FF6B00"/>
                </a:solidFill>
                <a:latin typeface="Calibri" pitchFamily="34" charset="0"/>
                <a:ea typeface="Calibri" pitchFamily="34" charset="-122"/>
                <a:cs typeface="Calibri" pitchFamily="34" charset="-120"/>
              </a:rPr>
              <a:t>15 minutos de configuración. Una sola vez. Funciona en cada conversación para siempre.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EEFF89"/>
                </a:solidFill>
                <a:latin typeface="Arial Black" pitchFamily="34" charset="0"/>
                <a:ea typeface="Arial Black" pitchFamily="34" charset="-122"/>
                <a:cs typeface="Arial Black" pitchFamily="34" charset="-120"/>
              </a:rPr>
              <a:t>Demo: Cargar el contexto completo en 10 minutos</a:t>
            </a:r>
            <a:endParaRPr lang="en-US" sz="2600" dirty="0"/>
          </a:p>
        </p:txBody>
      </p:sp>
      <p:sp>
        <p:nvSpPr>
          <p:cNvPr id="4" name="Shape 2"/>
          <p:cNvSpPr/>
          <p:nvPr/>
        </p:nvSpPr>
        <p:spPr>
          <a:xfrm>
            <a:off x="274320" y="1143000"/>
            <a:ext cx="685800" cy="685800"/>
          </a:xfrm>
          <a:prstGeom prst="ellipse">
            <a:avLst/>
          </a:prstGeom>
          <a:solidFill>
            <a:srgbClr val="FF0000"/>
          </a:solidFill>
          <a:ln/>
        </p:spPr>
      </p:sp>
      <p:sp>
        <p:nvSpPr>
          <p:cNvPr id="5" name="Text 3"/>
          <p:cNvSpPr/>
          <p:nvPr/>
        </p:nvSpPr>
        <p:spPr>
          <a:xfrm>
            <a:off x="274320" y="1143000"/>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p:nvPr/>
        </p:nvSpPr>
        <p:spPr>
          <a:xfrm>
            <a:off x="1188720" y="1115568"/>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Abre tu Project en Claude</a:t>
            </a:r>
            <a:endParaRPr lang="en-US" sz="1500" dirty="0"/>
          </a:p>
        </p:txBody>
      </p:sp>
      <p:sp>
        <p:nvSpPr>
          <p:cNvPr id="7" name="Text 5"/>
          <p:cNvSpPr/>
          <p:nvPr/>
        </p:nvSpPr>
        <p:spPr>
          <a:xfrm>
            <a:off x="1188720" y="1517904"/>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Ve al Project que creaste en la Clase 1. Navega a "Project Instructions" (arriba a la derecha).</a:t>
            </a:r>
            <a:endParaRPr lang="en-US" sz="1300" dirty="0"/>
          </a:p>
        </p:txBody>
      </p:sp>
      <p:sp>
        <p:nvSpPr>
          <p:cNvPr id="8" name="Shape 6"/>
          <p:cNvSpPr/>
          <p:nvPr/>
        </p:nvSpPr>
        <p:spPr>
          <a:xfrm>
            <a:off x="274320" y="2221992"/>
            <a:ext cx="685800" cy="685800"/>
          </a:xfrm>
          <a:prstGeom prst="ellipse">
            <a:avLst/>
          </a:prstGeom>
          <a:solidFill>
            <a:srgbClr val="FF6B00"/>
          </a:solidFill>
          <a:ln/>
        </p:spPr>
      </p:sp>
      <p:sp>
        <p:nvSpPr>
          <p:cNvPr id="9" name="Text 7"/>
          <p:cNvSpPr/>
          <p:nvPr/>
        </p:nvSpPr>
        <p:spPr>
          <a:xfrm>
            <a:off x="274320" y="2221992"/>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p:nvPr/>
        </p:nvSpPr>
        <p:spPr>
          <a:xfrm>
            <a:off x="1188720" y="2194560"/>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Pega las instrucciones de sistema</a:t>
            </a:r>
            <a:endParaRPr lang="en-US" sz="1500" dirty="0"/>
          </a:p>
        </p:txBody>
      </p:sp>
      <p:sp>
        <p:nvSpPr>
          <p:cNvPr id="11" name="Text 9"/>
          <p:cNvSpPr/>
          <p:nvPr/>
        </p:nvSpPr>
        <p:spPr>
          <a:xfrm>
            <a:off x="1188720" y="2596896"/>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Usa la plantilla del entregable: tu rol + cómo responder + restricciones permanentes. 3 bloques, 15 líneas máximo.</a:t>
            </a:r>
            <a:endParaRPr lang="en-US" sz="1300" dirty="0"/>
          </a:p>
        </p:txBody>
      </p:sp>
      <p:sp>
        <p:nvSpPr>
          <p:cNvPr id="12" name="Shape 10"/>
          <p:cNvSpPr/>
          <p:nvPr/>
        </p:nvSpPr>
        <p:spPr>
          <a:xfrm>
            <a:off x="274320" y="3300984"/>
            <a:ext cx="685800" cy="685800"/>
          </a:xfrm>
          <a:prstGeom prst="ellipse">
            <a:avLst/>
          </a:prstGeom>
          <a:solidFill>
            <a:srgbClr val="FF0000"/>
          </a:solidFill>
          <a:ln/>
        </p:spPr>
      </p:sp>
      <p:sp>
        <p:nvSpPr>
          <p:cNvPr id="13" name="Text 11"/>
          <p:cNvSpPr/>
          <p:nvPr/>
        </p:nvSpPr>
        <p:spPr>
          <a:xfrm>
            <a:off x="274320" y="3300984"/>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p:nvPr/>
        </p:nvSpPr>
        <p:spPr>
          <a:xfrm>
            <a:off x="1188720" y="3273552"/>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Crea el documento de contexto</a:t>
            </a:r>
            <a:endParaRPr lang="en-US" sz="1500" dirty="0"/>
          </a:p>
        </p:txBody>
      </p:sp>
      <p:sp>
        <p:nvSpPr>
          <p:cNvPr id="15" name="Text 13"/>
          <p:cNvSpPr/>
          <p:nvPr/>
        </p:nvSpPr>
        <p:spPr>
          <a:xfrm>
            <a:off x="1188720" y="3675888"/>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Llena los 4 bloques en el template: ICP + propuesta de valor + métricas norte + tono de marca. Guarda como contexto-growth.md.</a:t>
            </a:r>
            <a:endParaRPr lang="en-US" sz="1300" dirty="0"/>
          </a:p>
        </p:txBody>
      </p:sp>
      <p:sp>
        <p:nvSpPr>
          <p:cNvPr id="16" name="Shape 14"/>
          <p:cNvSpPr/>
          <p:nvPr/>
        </p:nvSpPr>
        <p:spPr>
          <a:xfrm>
            <a:off x="274320" y="4379976"/>
            <a:ext cx="685800" cy="685800"/>
          </a:xfrm>
          <a:prstGeom prst="ellipse">
            <a:avLst/>
          </a:prstGeom>
          <a:solidFill>
            <a:srgbClr val="FF6B00"/>
          </a:solidFill>
          <a:ln/>
        </p:spPr>
      </p:sp>
      <p:sp>
        <p:nvSpPr>
          <p:cNvPr id="17" name="Text 15"/>
          <p:cNvSpPr/>
          <p:nvPr/>
        </p:nvSpPr>
        <p:spPr>
          <a:xfrm>
            <a:off x="274320" y="4379976"/>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18" name="Text 16"/>
          <p:cNvSpPr/>
          <p:nvPr/>
        </p:nvSpPr>
        <p:spPr>
          <a:xfrm>
            <a:off x="1188720" y="4352544"/>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Sube el documento al Project</a:t>
            </a:r>
            <a:endParaRPr lang="en-US" sz="1500" dirty="0"/>
          </a:p>
        </p:txBody>
      </p:sp>
      <p:sp>
        <p:nvSpPr>
          <p:cNvPr id="19" name="Text 17"/>
          <p:cNvSpPr/>
          <p:nvPr/>
        </p:nvSpPr>
        <p:spPr>
          <a:xfrm>
            <a:off x="1188720" y="4754880"/>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En la sección Knowledge o Files del Project, sube el archivo contexto-growth.md. Claude lo tendrá disponible en cada conversación.</a:t>
            </a:r>
            <a:endParaRPr lang="en-US" sz="1300" dirty="0"/>
          </a:p>
        </p:txBody>
      </p:sp>
      <p:sp>
        <p:nvSpPr>
          <p:cNvPr id="20" name="Shape 18"/>
          <p:cNvSpPr/>
          <p:nvPr/>
        </p:nvSpPr>
        <p:spPr>
          <a:xfrm>
            <a:off x="274320" y="5458968"/>
            <a:ext cx="685800" cy="685800"/>
          </a:xfrm>
          <a:prstGeom prst="ellipse">
            <a:avLst/>
          </a:prstGeom>
          <a:solidFill>
            <a:srgbClr val="FF0000"/>
          </a:solidFill>
          <a:ln/>
        </p:spPr>
      </p:sp>
      <p:sp>
        <p:nvSpPr>
          <p:cNvPr id="21" name="Text 19"/>
          <p:cNvSpPr/>
          <p:nvPr/>
        </p:nvSpPr>
        <p:spPr>
          <a:xfrm>
            <a:off x="274320" y="5458968"/>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a:t>
            </a:r>
            <a:endParaRPr lang="en-US" sz="2000" dirty="0"/>
          </a:p>
        </p:txBody>
      </p:sp>
      <p:sp>
        <p:nvSpPr>
          <p:cNvPr id="22" name="Text 20"/>
          <p:cNvSpPr/>
          <p:nvPr/>
        </p:nvSpPr>
        <p:spPr>
          <a:xfrm>
            <a:off x="1188720" y="5431536"/>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Haz la prueba de alineación</a:t>
            </a:r>
            <a:endParaRPr lang="en-US" sz="1500" dirty="0"/>
          </a:p>
        </p:txBody>
      </p:sp>
      <p:sp>
        <p:nvSpPr>
          <p:cNvPr id="23" name="Text 21"/>
          <p:cNvSpPr/>
          <p:nvPr/>
        </p:nvSpPr>
        <p:spPr>
          <a:xfrm>
            <a:off x="1188720" y="5833872"/>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¿Qué entiendes sobre mi negocio, mi ICP y mis métricas basándote en el contexto que tienes? Dame un resumen en tabla. Evalúa contra el checklist del entregable.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FF0000"/>
          </a:solidFill>
          <a:ln/>
        </p:spPr>
      </p:sp>
      <p:sp>
        <p:nvSpPr>
          <p:cNvPr id="3" name="Text 1"/>
          <p:cNvSpPr/>
          <p:nvPr/>
        </p:nvSpPr>
        <p:spPr>
          <a:xfrm>
            <a:off x="365760" y="91440"/>
            <a:ext cx="11430000" cy="86868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Entregable: Plantilla de Contexto de Growth (4 bloques)</a:t>
            </a:r>
            <a:endParaRPr lang="en-US" sz="2800" dirty="0"/>
          </a:p>
        </p:txBody>
      </p:sp>
      <p:sp>
        <p:nvSpPr>
          <p:cNvPr id="4" name="Shape 2"/>
          <p:cNvSpPr/>
          <p:nvPr/>
        </p:nvSpPr>
        <p:spPr>
          <a:xfrm>
            <a:off x="0" y="1051560"/>
            <a:ext cx="164592" cy="5806440"/>
          </a:xfrm>
          <a:prstGeom prst="rect">
            <a:avLst/>
          </a:prstGeom>
          <a:solidFill>
            <a:srgbClr val="FF6B00"/>
          </a:solidFill>
          <a:ln/>
        </p:spPr>
      </p:sp>
      <p:sp>
        <p:nvSpPr>
          <p:cNvPr id="5" name="Text 3"/>
          <p:cNvSpPr/>
          <p:nvPr/>
        </p:nvSpPr>
        <p:spPr>
          <a:xfrm>
            <a:off x="457200" y="1188720"/>
            <a:ext cx="11430000" cy="5394960"/>
          </a:xfrm>
          <a:prstGeom prst="rect">
            <a:avLst/>
          </a:prstGeom>
          <a:noFill/>
          <a:ln/>
        </p:spPr>
        <p:txBody>
          <a:bodyPr wrap="square" rtlCol="0" anchor="t"/>
          <a:lstStyle/>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1: ICP</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Cargo exacto + industria + tamaño + herramientas + momento de compra + dolor en sus palabras + definición de éxito + objeción real</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2: Propuesta de Valor</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Qué hacemos (formulación exacta) + diferencia específica vs. competidores + resultado más fuerte documentado + frases de clientes reales + lo que NO somos</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3: Métricas Norte</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Etapa del negocio + foco 90 días + métricas de adquisición/retención/revenue con valores actuales y benchmarks + lo que NO optimizamos ahora</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BLOQUE 4: Tono de Marca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Cómo SÍ suenas (3 adjetivos + ejemplo real) + cómo NO suenas + referencia de estilo + vocabulario prohibido</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PLUS: Plantilla de Instrucciones de Sistema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Lista para pegar en Project Instructions — 3 bloques: rol de Claude, cómo responder, restricciones permanentes</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Tiempo estimado: 30 minutos</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Vale cada minuto. Al terminar, el campo CONTEXTO de tu brief se llena automáticamente en cada conversación.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640080" y="457200"/>
            <a:ext cx="10881360" cy="1280160"/>
          </a:xfrm>
          <a:prstGeom prst="rect">
            <a:avLst/>
          </a:prstGeom>
          <a:noFill/>
          <a:ln/>
        </p:spPr>
        <p:txBody>
          <a:bodyPr wrap="square" rtlCol="0" anchor="ctr"/>
          <a:lstStyle/>
          <a:p>
            <a:pPr indent="0" marL="0">
              <a:buNone/>
            </a:pPr>
            <a:r>
              <a:rPr lang="en-US" sz="3600" b="1" dirty="0">
                <a:solidFill>
                  <a:srgbClr val="FF0000"/>
                </a:solidFill>
                <a:latin typeface="Arial Black" pitchFamily="34" charset="0"/>
                <a:ea typeface="Arial Black" pitchFamily="34" charset="-122"/>
                <a:cs typeface="Arial Black" pitchFamily="34" charset="-120"/>
              </a:rPr>
              <a:t>Módulo 01 completo.</a:t>
            </a:r>
            <a:endParaRPr lang="en-US" sz="3600" dirty="0"/>
          </a:p>
          <a:p>
            <a:pPr indent="0" marL="0">
              <a:buNone/>
            </a:pPr>
            <a:r>
              <a:rPr lang="en-US" sz="3600" b="1" dirty="0">
                <a:solidFill>
                  <a:srgbClr val="FF0000"/>
                </a:solidFill>
                <a:latin typeface="Arial Black" pitchFamily="34" charset="0"/>
                <a:ea typeface="Arial Black" pitchFamily="34" charset="-122"/>
                <a:cs typeface="Arial Black" pitchFamily="34" charset="-120"/>
              </a:rPr>
              <a:t>Tu Growth OS está encendido.</a:t>
            </a:r>
            <a:endParaRPr lang="en-US" sz="3600" dirty="0"/>
          </a:p>
        </p:txBody>
      </p:sp>
      <p:sp>
        <p:nvSpPr>
          <p:cNvPr id="4" name="Text 2"/>
          <p:cNvSpPr/>
          <p:nvPr/>
        </p:nvSpPr>
        <p:spPr>
          <a:xfrm>
            <a:off x="640080" y="1828800"/>
            <a:ext cx="10881360" cy="548640"/>
          </a:xfrm>
          <a:prstGeom prst="rect">
            <a:avLst/>
          </a:prstGeom>
          <a:noFill/>
          <a:ln/>
        </p:spPr>
        <p:txBody>
          <a:bodyPr wrap="square" rtlCol="0" anchor="ctr"/>
          <a:lstStyle/>
          <a:p>
            <a:pPr indent="0" marL="0">
              <a:buNone/>
            </a:pPr>
            <a:r>
              <a:rPr lang="en-US" sz="1700" b="1" dirty="0">
                <a:solidFill>
                  <a:srgbClr val="FF6B00"/>
                </a:solidFill>
                <a:latin typeface="Calibri" pitchFamily="34" charset="0"/>
                <a:ea typeface="Calibri" pitchFamily="34" charset="-122"/>
                <a:cs typeface="Calibri" pitchFamily="34" charset="-120"/>
              </a:rPr>
              <a:t>Lo que construiste en estas 3 clases</a:t>
            </a:r>
            <a:endParaRPr lang="en-US" sz="1700" dirty="0"/>
          </a:p>
        </p:txBody>
      </p:sp>
      <p:sp>
        <p:nvSpPr>
          <p:cNvPr id="5" name="Text 3"/>
          <p:cNvSpPr/>
          <p:nvPr/>
        </p:nvSpPr>
        <p:spPr>
          <a:xfrm>
            <a:off x="640080" y="2468880"/>
            <a:ext cx="10515600" cy="3749040"/>
          </a:xfrm>
          <a:prstGeom prst="rect">
            <a:avLst/>
          </a:prstGeom>
          <a:noFill/>
          <a:ln/>
        </p:spPr>
        <p:txBody>
          <a:bodyPr wrap="square" rtlCol="0" anchor="t"/>
          <a:lstStyle/>
          <a:p>
            <a:pPr>
              <a:spcBef>
                <a:spcPts val="500"/>
              </a:spcBef>
            </a:pPr>
            <a:r>
              <a:rPr lang="en-US" sz="1400" dirty="0">
                <a:solidFill>
                  <a:srgbClr val="FFFFFF"/>
                </a:solidFill>
                <a:latin typeface="Calibri" pitchFamily="34" charset="0"/>
                <a:ea typeface="Calibri" pitchFamily="34" charset="-122"/>
                <a:cs typeface="Calibri" pitchFamily="34" charset="-120"/>
              </a:rPr>
              <a:t>Claude Pro con Project de Growth configurado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Instrucciones de sistema: Claude sabe cómo trabajar contigo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Contexto cargado: ICP, propuesta de valor, métricas y tono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Brief de elite: la estructura de 5 elementos dominada</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Primer output de Growth real generado y evaluado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Protocolo de iteración de 2 rondas aplicado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Módulo 02: Copy, campañas, análisis y experimentos — Claude ya listo</a:t>
            </a:r>
            <a:endParaRPr lang="en-US" sz="1400" dirty="0"/>
          </a:p>
        </p:txBody>
      </p:sp>
      <p:sp>
        <p:nvSpPr>
          <p:cNvPr id="6" name="Shape 4"/>
          <p:cNvSpPr/>
          <p:nvPr/>
        </p:nvSpPr>
        <p:spPr>
          <a:xfrm>
            <a:off x="640080" y="6035040"/>
            <a:ext cx="3657600" cy="502920"/>
          </a:xfrm>
          <a:prstGeom prst="rect">
            <a:avLst/>
          </a:prstGeom>
          <a:solidFill>
            <a:srgbClr val="FF6B00"/>
          </a:solidFill>
          <a:ln/>
        </p:spPr>
      </p:sp>
      <p:sp>
        <p:nvSpPr>
          <p:cNvPr id="7" name="Text 5"/>
          <p:cNvSpPr/>
          <p:nvPr/>
        </p:nvSpPr>
        <p:spPr>
          <a:xfrm>
            <a:off x="640080" y="6035040"/>
            <a:ext cx="36576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MÓDULO 02 →</a:t>
            </a:r>
            <a:endParaRPr lang="en-US" sz="1300" dirty="0"/>
          </a:p>
        </p:txBody>
      </p:sp>
      <p:sp>
        <p:nvSpPr>
          <p:cNvPr id="8" name="Shape 6"/>
          <p:cNvSpPr/>
          <p:nvPr/>
        </p:nvSpPr>
        <p:spPr>
          <a:xfrm>
            <a:off x="0" y="6675120"/>
            <a:ext cx="12188952" cy="182880"/>
          </a:xfrm>
          <a:prstGeom prst="rect">
            <a:avLst/>
          </a:prstGeom>
          <a:solidFill>
            <a:srgbClr val="FF6B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2026-03-25T18:19:46Z</dcterms:created>
  <dcterms:modified xsi:type="dcterms:W3CDTF">2026-03-25T18:19:46Z</dcterms:modified>
</cp:coreProperties>
</file>