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¿Cuántas ideas de experimento tienes ahora mismo que no han llegado a producción porque necesitabas a un desarrollador para hacer la landing? La mayoría de Chiefs of Growth tienen entre tres y cinco de esas ideas esperando. Hoy las desbloqueamos todas.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directa: ¿cuántas ideas de experimento tienes ahora mismo que no han llegado a producción porque necesitabas a un desarrollador para hacer la landing?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7 campos, Claude Code construye una landing de conversión completa: H1, subtítulo, beneficios, objeciones, prueba social, formulario y CTA. No necesitas saber HTML. Solo tienes que saber tu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campos. Cuanto más específico seas en cada campo, mejor va a ser la landing que genera Claude Code. El H1 viene de tu propuesta de valor. El copy viene de tu ICP.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campos → una landing completa en 2–4 minutos de generación. No tienes que saber HTML. No tienes que saber CSS. Solo tienes que saber tu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que Claude Code genera tu landing, tienes una carpeta con archivos. Probablemente un index.html. Publicarla en internet tarda literalmente dos minutos. Vercel es gratis para experimentos, el deploy es instantáneo y las páginas cargan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llenar el brief, 3 minutos Claude Code genera la landing, 2 minutos subir a Vercel. Total: 10 minutos de la idea a la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Vercel es la opción porque es gratis para experimentos, el deploy es instantáneo (sin servidores, sin configuración), las páginas cargan rápido (y la velocidad afecta la conversión), y puedes tener múltiples experimentos en URLs separadas sin costo adicional. Netlify también funciona con exactamente el mismo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ves no es un truco de demo. Es exactamente cómo publicas tus experimentos de Growth de ahora en adelante. Fíjate en lo que está pasando: Claude Code está escribiendo el HTML estructura por estructura. No estoy tocando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tarea: completa el brief de landing del entregable. Siete campos. Quince minutos. Al final tienes los inputs para que Claude Code construya tu primera landing de experimento.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acabas de ver no es un truco de demo. Es exactamente cómo publicas tus experimentos de Growth de ahora en adelante. Sin esperar al desarrollador. Sin tickets en Jira. Sin reuniones de estimación. La clase 9 construimos el resto de tu stack: tracker, reportes y alertas.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Text 1"/>
          <p:cNvSpPr/>
          <p:nvPr/>
        </p:nvSpPr>
        <p:spPr>
          <a:xfrm>
            <a:off x="548640" y="411480"/>
            <a:ext cx="10972800" cy="365760"/>
          </a:xfrm>
          <a:prstGeom prst="rect">
            <a:avLst/>
          </a:prstGeom>
          <a:noFill/>
          <a:ln/>
        </p:spPr>
        <p:txBody>
          <a:bodyPr wrap="square" rtlCol="0" anchor="ctr"/>
          <a:lstStyle/>
          <a:p>
            <a:pPr algn="l" indent="0" marL="0">
              <a:buNone/>
            </a:pPr>
            <a:r>
              <a:rPr lang="en-US" sz="1300" b="1" dirty="0">
                <a:solidFill>
                  <a:srgbClr val="FF6B00"/>
                </a:solidFill>
                <a:latin typeface="Calibri" pitchFamily="34" charset="0"/>
                <a:ea typeface="Calibri" pitchFamily="34" charset="-122"/>
                <a:cs typeface="Calibri" pitchFamily="34" charset="-120"/>
              </a:rPr>
              <a:t>MÓDULO 03 — CLAUDE CODE</a:t>
            </a:r>
            <a:endParaRPr lang="en-US" sz="1300" dirty="0"/>
          </a:p>
        </p:txBody>
      </p:sp>
      <p:sp>
        <p:nvSpPr>
          <p:cNvPr id="4" name="Text 2"/>
          <p:cNvSpPr/>
          <p:nvPr/>
        </p:nvSpPr>
        <p:spPr>
          <a:xfrm>
            <a:off x="548640" y="1280160"/>
            <a:ext cx="11064240" cy="2560320"/>
          </a:xfrm>
          <a:prstGeom prst="rect">
            <a:avLst/>
          </a:prstGeom>
          <a:noFill/>
          <a:ln/>
        </p:spPr>
        <p:txBody>
          <a:bodyPr wrap="square" rtlCol="0" anchor="ctr"/>
          <a:lstStyle/>
          <a:p>
            <a:pPr algn="l" indent="0" marL="0">
              <a:buNone/>
            </a:pPr>
            <a:r>
              <a:rPr lang="en-US" sz="4000" b="1" dirty="0">
                <a:solidFill>
                  <a:srgbClr val="FFFFFF"/>
                </a:solidFill>
                <a:latin typeface="Arial Black" pitchFamily="34" charset="0"/>
                <a:ea typeface="Arial Black" pitchFamily="34" charset="-122"/>
                <a:cs typeface="Arial Black" pitchFamily="34" charset="-120"/>
              </a:rPr>
              <a:t>Landing page de experimento</a:t>
            </a:r>
            <a:endParaRPr lang="en-US" sz="4000" dirty="0"/>
          </a:p>
          <a:p>
            <a:pPr algn="l" indent="0" marL="0">
              <a:buNone/>
            </a:pPr>
            <a:r>
              <a:rPr lang="en-US" sz="4000" b="1" dirty="0">
                <a:solidFill>
                  <a:srgbClr val="FFFFFF"/>
                </a:solidFill>
                <a:latin typeface="Arial Black" pitchFamily="34" charset="0"/>
                <a:ea typeface="Arial Black" pitchFamily="34" charset="-122"/>
                <a:cs typeface="Arial Black" pitchFamily="34" charset="-120"/>
              </a:rPr>
              <a:t>en vivo: de idea a URL</a:t>
            </a:r>
            <a:endParaRPr lang="en-US" sz="4000" dirty="0"/>
          </a:p>
          <a:p>
            <a:pPr algn="l" indent="0" marL="0">
              <a:buNone/>
            </a:pPr>
            <a:r>
              <a:rPr lang="en-US" sz="4000" b="1" dirty="0">
                <a:solidFill>
                  <a:srgbClr val="FFFFFF"/>
                </a:solidFill>
                <a:latin typeface="Arial Black" pitchFamily="34" charset="0"/>
                <a:ea typeface="Arial Black" pitchFamily="34" charset="-122"/>
                <a:cs typeface="Arial Black" pitchFamily="34" charset="-120"/>
              </a:rPr>
              <a:t>en 20 minutos</a:t>
            </a:r>
            <a:endParaRPr lang="en-US" sz="4000" dirty="0"/>
          </a:p>
        </p:txBody>
      </p:sp>
      <p:sp>
        <p:nvSpPr>
          <p:cNvPr id="5" name="Shape 3"/>
          <p:cNvSpPr/>
          <p:nvPr/>
        </p:nvSpPr>
        <p:spPr>
          <a:xfrm>
            <a:off x="548640" y="3931920"/>
            <a:ext cx="2926080" cy="109728"/>
          </a:xfrm>
          <a:prstGeom prst="rect">
            <a:avLst/>
          </a:prstGeom>
          <a:solidFill>
            <a:srgbClr val="FF0000"/>
          </a:solidFill>
          <a:ln/>
        </p:spPr>
      </p:sp>
      <p:sp>
        <p:nvSpPr>
          <p:cNvPr id="6" name="Text 4"/>
          <p:cNvSpPr/>
          <p:nvPr/>
        </p:nvSpPr>
        <p:spPr>
          <a:xfrm>
            <a:off x="548640" y="4206240"/>
            <a:ext cx="11064240" cy="914400"/>
          </a:xfrm>
          <a:prstGeom prst="rect">
            <a:avLst/>
          </a:prstGeom>
          <a:noFill/>
          <a:ln/>
        </p:spPr>
        <p:txBody>
          <a:bodyPr wrap="square" rtlCol="0" anchor="ctr"/>
          <a:lstStyle/>
          <a:p>
            <a:pPr algn="l" indent="0" marL="0">
              <a:buNone/>
            </a:pPr>
            <a:r>
              <a:rPr lang="en-US" sz="1800" dirty="0">
                <a:solidFill>
                  <a:srgbClr val="EEFF89"/>
                </a:solidFill>
                <a:latin typeface="Calibri" pitchFamily="34" charset="0"/>
                <a:ea typeface="Calibri" pitchFamily="34" charset="-122"/>
                <a:cs typeface="Calibri" pitchFamily="34" charset="-120"/>
              </a:rPr>
              <a:t>Módulo 03 · Clase 08 · 16 minutos</a:t>
            </a:r>
            <a:endParaRPr lang="en-US" sz="1800" dirty="0"/>
          </a:p>
        </p:txBody>
      </p:sp>
      <p:sp>
        <p:nvSpPr>
          <p:cNvPr id="7" name="Shape 5"/>
          <p:cNvSpPr/>
          <p:nvPr/>
        </p:nvSpPr>
        <p:spPr>
          <a:xfrm>
            <a:off x="0" y="6537960"/>
            <a:ext cx="12188952" cy="320040"/>
          </a:xfrm>
          <a:prstGeom prst="rect">
            <a:avLst/>
          </a:prstGeom>
          <a:solidFill>
            <a:srgbClr val="FF0000"/>
          </a:solidFill>
          <a:ln/>
        </p:spPr>
      </p:sp>
      <p:sp>
        <p:nvSpPr>
          <p:cNvPr id="8" name="Text 6"/>
          <p:cNvSpPr/>
          <p:nvPr/>
        </p:nvSpPr>
        <p:spPr>
          <a:xfrm>
            <a:off x="365760" y="6556248"/>
            <a:ext cx="10972800" cy="274320"/>
          </a:xfrm>
          <a:prstGeom prst="rect">
            <a:avLst/>
          </a:prstGeom>
          <a:noFill/>
          <a:ln/>
        </p:spPr>
        <p:txBody>
          <a:bodyPr wrap="square"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Claude para Growth · Módulo 03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El experimento más rápido es el que prueba antes de construir</a:t>
            </a:r>
            <a:endParaRPr lang="en-US" sz="2800" dirty="0"/>
          </a:p>
        </p:txBody>
      </p:sp>
      <p:sp>
        <p:nvSpPr>
          <p:cNvPr id="4" name="Text 2"/>
          <p:cNvSpPr/>
          <p:nvPr/>
        </p:nvSpPr>
        <p:spPr>
          <a:xfrm>
            <a:off x="1371600" y="1371600"/>
            <a:ext cx="9418320" cy="2926080"/>
          </a:xfrm>
          <a:prstGeom prst="rect">
            <a:avLst/>
          </a:prstGeom>
          <a:noFill/>
          <a:ln/>
        </p:spPr>
        <p:txBody>
          <a:bodyPr wrap="square" rtlCol="0" anchor="ctr"/>
          <a:lstStyle/>
          <a:p>
            <a:pPr algn="ctr" indent="0" marL="0">
              <a:buNone/>
            </a:pPr>
            <a:r>
              <a:rPr lang="en-US" sz="12000" b="1" dirty="0">
                <a:solidFill>
                  <a:srgbClr val="FF0000"/>
                </a:solidFill>
                <a:latin typeface="Arial Black" pitchFamily="34" charset="0"/>
                <a:ea typeface="Arial Black" pitchFamily="34" charset="-122"/>
                <a:cs typeface="Arial Black" pitchFamily="34" charset="-120"/>
              </a:rPr>
              <a:t>3–5</a:t>
            </a:r>
            <a:endParaRPr lang="en-US" sz="12000" dirty="0"/>
          </a:p>
        </p:txBody>
      </p:sp>
      <p:sp>
        <p:nvSpPr>
          <p:cNvPr id="5" name="Text 3"/>
          <p:cNvSpPr/>
          <p:nvPr/>
        </p:nvSpPr>
        <p:spPr>
          <a:xfrm>
            <a:off x="1371600" y="4206240"/>
            <a:ext cx="9418320" cy="731520"/>
          </a:xfrm>
          <a:prstGeom prst="rect">
            <a:avLst/>
          </a:prstGeom>
          <a:noFill/>
          <a:ln/>
        </p:spPr>
        <p:txBody>
          <a:bodyPr wrap="square" rtlCol="0" anchor="ctr"/>
          <a:lstStyle/>
          <a:p>
            <a:pPr algn="ctr" indent="0" marL="0">
              <a:buNone/>
            </a:pPr>
            <a:r>
              <a:rPr lang="en-US" sz="2800" b="1" dirty="0">
                <a:solidFill>
                  <a:srgbClr val="FF6B00"/>
                </a:solidFill>
                <a:latin typeface="Arial Black" pitchFamily="34" charset="0"/>
                <a:ea typeface="Arial Black" pitchFamily="34" charset="-122"/>
                <a:cs typeface="Arial Black" pitchFamily="34" charset="-120"/>
              </a:rPr>
              <a:t>ideas de experimento bloqueadas esperando al desarrollador</a:t>
            </a:r>
            <a:endParaRPr lang="en-US" sz="2800" dirty="0"/>
          </a:p>
        </p:txBody>
      </p:sp>
      <p:sp>
        <p:nvSpPr>
          <p:cNvPr id="6" name="Shape 4"/>
          <p:cNvSpPr/>
          <p:nvPr/>
        </p:nvSpPr>
        <p:spPr>
          <a:xfrm>
            <a:off x="1828800" y="5074920"/>
            <a:ext cx="8503920" cy="1280160"/>
          </a:xfrm>
          <a:prstGeom prst="rect">
            <a:avLst/>
          </a:prstGeom>
          <a:solidFill>
            <a:srgbClr val="EEFF89"/>
          </a:solidFill>
          <a:ln/>
        </p:spPr>
      </p:sp>
      <p:sp>
        <p:nvSpPr>
          <p:cNvPr id="7" name="Text 5"/>
          <p:cNvSpPr/>
          <p:nvPr/>
        </p:nvSpPr>
        <p:spPr>
          <a:xfrm>
            <a:off x="2011680" y="5166360"/>
            <a:ext cx="8138160" cy="109728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Hoy las desbloqueamos todas. Dieciséis minutos. Al final tienes una URL funcionando con tu página de experimento publicada. No una maqueta. No un boceto. Una URL real.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El brief perfecto para Claude Code: 7 campos</a:t>
            </a:r>
            <a:endParaRPr lang="en-US" sz="2800" dirty="0"/>
          </a:p>
        </p:txBody>
      </p:sp>
      <p:sp>
        <p:nvSpPr>
          <p:cNvPr id="4" name="Text 2"/>
          <p:cNvSpPr/>
          <p:nvPr/>
        </p:nvSpPr>
        <p:spPr>
          <a:xfrm>
            <a:off x="411480" y="1143000"/>
            <a:ext cx="11338560" cy="594360"/>
          </a:xfrm>
          <a:prstGeom prst="rect">
            <a:avLst/>
          </a:prstGeom>
          <a:noFill/>
          <a:ln/>
        </p:spPr>
        <p:txBody>
          <a:bodyPr wrap="square" rtlCol="0" anchor="ctr"/>
          <a:lstStyle/>
          <a:p>
            <a:pPr indent="0" marL="0">
              <a:buNone/>
            </a:pPr>
            <a:r>
              <a:rPr lang="en-US" sz="1600" b="1" i="1" dirty="0">
                <a:solidFill>
                  <a:srgbClr val="FF6B00"/>
                </a:solidFill>
                <a:latin typeface="Calibri" pitchFamily="34" charset="0"/>
                <a:ea typeface="Calibri" pitchFamily="34" charset="-122"/>
                <a:cs typeface="Calibri" pitchFamily="34" charset="-120"/>
              </a:rPr>
              <a:t>Claude Code no lee mentes — pero sí lee briefs bien escritos:</a:t>
            </a:r>
            <a:endParaRPr lang="en-US" sz="1600" dirty="0"/>
          </a:p>
        </p:txBody>
      </p:sp>
      <p:sp>
        <p:nvSpPr>
          <p:cNvPr id="5" name="Shape 3"/>
          <p:cNvSpPr/>
          <p:nvPr/>
        </p:nvSpPr>
        <p:spPr>
          <a:xfrm>
            <a:off x="0" y="1005840"/>
            <a:ext cx="109728" cy="5852160"/>
          </a:xfrm>
          <a:prstGeom prst="rect">
            <a:avLst/>
          </a:prstGeom>
          <a:solidFill>
            <a:srgbClr val="FF6B00"/>
          </a:solidFill>
          <a:ln/>
        </p:spPr>
      </p:sp>
      <p:sp>
        <p:nvSpPr>
          <p:cNvPr id="6" name="Shape 4"/>
          <p:cNvSpPr/>
          <p:nvPr/>
        </p:nvSpPr>
        <p:spPr>
          <a:xfrm>
            <a:off x="320040" y="1828800"/>
            <a:ext cx="11430000" cy="804672"/>
          </a:xfrm>
          <a:prstGeom prst="rect">
            <a:avLst/>
          </a:prstGeom>
          <a:solidFill>
            <a:srgbClr val="EEFF89"/>
          </a:solidFill>
          <a:ln w="12700">
            <a:solidFill>
              <a:srgbClr val="DDDDDD"/>
            </a:solidFill>
            <a:prstDash val="solid"/>
          </a:ln>
        </p:spPr>
      </p:sp>
      <p:sp>
        <p:nvSpPr>
          <p:cNvPr id="7" name="Shape 5"/>
          <p:cNvSpPr/>
          <p:nvPr/>
        </p:nvSpPr>
        <p:spPr>
          <a:xfrm>
            <a:off x="320040" y="1828800"/>
            <a:ext cx="164592" cy="804672"/>
          </a:xfrm>
          <a:prstGeom prst="rect">
            <a:avLst/>
          </a:prstGeom>
          <a:solidFill>
            <a:srgbClr val="FF0000"/>
          </a:solidFill>
          <a:ln/>
        </p:spPr>
      </p:sp>
      <p:sp>
        <p:nvSpPr>
          <p:cNvPr id="8" name="Text 6"/>
          <p:cNvSpPr/>
          <p:nvPr/>
        </p:nvSpPr>
        <p:spPr>
          <a:xfrm>
            <a:off x="594360" y="1901952"/>
            <a:ext cx="11064240" cy="658368"/>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Campo 1 — PROPUESTA DE VALOR: una sola línea, el beneficio que obtiene el visitante al convertir (no el feature — el resultado)</a:t>
            </a:r>
            <a:endParaRPr lang="en-US" sz="1500" dirty="0"/>
          </a:p>
        </p:txBody>
      </p:sp>
      <p:sp>
        <p:nvSpPr>
          <p:cNvPr id="9" name="Shape 7"/>
          <p:cNvSpPr/>
          <p:nvPr/>
        </p:nvSpPr>
        <p:spPr>
          <a:xfrm>
            <a:off x="320040" y="2743200"/>
            <a:ext cx="11430000" cy="804672"/>
          </a:xfrm>
          <a:prstGeom prst="rect">
            <a:avLst/>
          </a:prstGeom>
          <a:solidFill>
            <a:srgbClr val="FFF0E0"/>
          </a:solidFill>
          <a:ln w="12700">
            <a:solidFill>
              <a:srgbClr val="DDDDDD"/>
            </a:solidFill>
            <a:prstDash val="solid"/>
          </a:ln>
        </p:spPr>
      </p:sp>
      <p:sp>
        <p:nvSpPr>
          <p:cNvPr id="10" name="Shape 8"/>
          <p:cNvSpPr/>
          <p:nvPr/>
        </p:nvSpPr>
        <p:spPr>
          <a:xfrm>
            <a:off x="320040" y="2743200"/>
            <a:ext cx="164592" cy="804672"/>
          </a:xfrm>
          <a:prstGeom prst="rect">
            <a:avLst/>
          </a:prstGeom>
          <a:solidFill>
            <a:srgbClr val="FF6B00"/>
          </a:solidFill>
          <a:ln/>
        </p:spPr>
      </p:sp>
      <p:sp>
        <p:nvSpPr>
          <p:cNvPr id="11" name="Text 9"/>
          <p:cNvSpPr/>
          <p:nvPr/>
        </p:nvSpPr>
        <p:spPr>
          <a:xfrm>
            <a:off x="594360" y="2816352"/>
            <a:ext cx="11064240" cy="658368"/>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Campo 2 — ICP: rol, tipo de empresa, problema concreto — cuanto más específico, mejor el copy</a:t>
            </a:r>
            <a:endParaRPr lang="en-US" sz="1500" dirty="0"/>
          </a:p>
        </p:txBody>
      </p:sp>
      <p:sp>
        <p:nvSpPr>
          <p:cNvPr id="12" name="Shape 10"/>
          <p:cNvSpPr/>
          <p:nvPr/>
        </p:nvSpPr>
        <p:spPr>
          <a:xfrm>
            <a:off x="320040" y="3657600"/>
            <a:ext cx="11430000" cy="804672"/>
          </a:xfrm>
          <a:prstGeom prst="rect">
            <a:avLst/>
          </a:prstGeom>
          <a:solidFill>
            <a:srgbClr val="E8FFE8"/>
          </a:solidFill>
          <a:ln w="12700">
            <a:solidFill>
              <a:srgbClr val="DDDDDD"/>
            </a:solidFill>
            <a:prstDash val="solid"/>
          </a:ln>
        </p:spPr>
      </p:sp>
      <p:sp>
        <p:nvSpPr>
          <p:cNvPr id="13" name="Shape 11"/>
          <p:cNvSpPr/>
          <p:nvPr/>
        </p:nvSpPr>
        <p:spPr>
          <a:xfrm>
            <a:off x="320040" y="3657600"/>
            <a:ext cx="164592" cy="804672"/>
          </a:xfrm>
          <a:prstGeom prst="rect">
            <a:avLst/>
          </a:prstGeom>
          <a:solidFill>
            <a:srgbClr val="FF0000"/>
          </a:solidFill>
          <a:ln/>
        </p:spPr>
      </p:sp>
      <p:sp>
        <p:nvSpPr>
          <p:cNvPr id="14" name="Text 12"/>
          <p:cNvSpPr/>
          <p:nvPr/>
        </p:nvSpPr>
        <p:spPr>
          <a:xfrm>
            <a:off x="594360" y="3730752"/>
            <a:ext cx="11064240" cy="658368"/>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Campo 3 — CTA PRINCIPAL: una sola acción — "Reservar demo de 20 minutos" es mejor que "Contáctanos"</a:t>
            </a:r>
            <a:endParaRPr lang="en-US" sz="1500" dirty="0"/>
          </a:p>
        </p:txBody>
      </p:sp>
      <p:sp>
        <p:nvSpPr>
          <p:cNvPr id="15" name="Shape 13"/>
          <p:cNvSpPr/>
          <p:nvPr/>
        </p:nvSpPr>
        <p:spPr>
          <a:xfrm>
            <a:off x="320040" y="4572000"/>
            <a:ext cx="11430000" cy="804672"/>
          </a:xfrm>
          <a:prstGeom prst="rect">
            <a:avLst/>
          </a:prstGeom>
          <a:solidFill>
            <a:srgbClr val="E8F0FF"/>
          </a:solidFill>
          <a:ln w="12700">
            <a:solidFill>
              <a:srgbClr val="DDDDDD"/>
            </a:solidFill>
            <a:prstDash val="solid"/>
          </a:ln>
        </p:spPr>
      </p:sp>
      <p:sp>
        <p:nvSpPr>
          <p:cNvPr id="16" name="Shape 14"/>
          <p:cNvSpPr/>
          <p:nvPr/>
        </p:nvSpPr>
        <p:spPr>
          <a:xfrm>
            <a:off x="320040" y="4572000"/>
            <a:ext cx="164592" cy="804672"/>
          </a:xfrm>
          <a:prstGeom prst="rect">
            <a:avLst/>
          </a:prstGeom>
          <a:solidFill>
            <a:srgbClr val="FF6B00"/>
          </a:solidFill>
          <a:ln/>
        </p:spPr>
      </p:sp>
      <p:sp>
        <p:nvSpPr>
          <p:cNvPr id="17" name="Text 15"/>
          <p:cNvSpPr/>
          <p:nvPr/>
        </p:nvSpPr>
        <p:spPr>
          <a:xfrm>
            <a:off x="594360" y="4645152"/>
            <a:ext cx="11064240" cy="658368"/>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Campo 4 — BENEFICIOS CLAVE: 3–5 resultados concretos, cada uno con un número si es posible</a:t>
            </a:r>
            <a:endParaRPr lang="en-US" sz="1500" dirty="0"/>
          </a:p>
        </p:txBody>
      </p:sp>
      <p:sp>
        <p:nvSpPr>
          <p:cNvPr id="18" name="Shape 16"/>
          <p:cNvSpPr/>
          <p:nvPr/>
        </p:nvSpPr>
        <p:spPr>
          <a:xfrm>
            <a:off x="320040" y="5486400"/>
            <a:ext cx="11430000" cy="804672"/>
          </a:xfrm>
          <a:prstGeom prst="rect">
            <a:avLst/>
          </a:prstGeom>
          <a:solidFill>
            <a:srgbClr val="FFE8E8"/>
          </a:solidFill>
          <a:ln w="12700">
            <a:solidFill>
              <a:srgbClr val="DDDDDD"/>
            </a:solidFill>
            <a:prstDash val="solid"/>
          </a:ln>
        </p:spPr>
      </p:sp>
      <p:sp>
        <p:nvSpPr>
          <p:cNvPr id="19" name="Shape 17"/>
          <p:cNvSpPr/>
          <p:nvPr/>
        </p:nvSpPr>
        <p:spPr>
          <a:xfrm>
            <a:off x="320040" y="5486400"/>
            <a:ext cx="164592" cy="804672"/>
          </a:xfrm>
          <a:prstGeom prst="rect">
            <a:avLst/>
          </a:prstGeom>
          <a:solidFill>
            <a:srgbClr val="FF0000"/>
          </a:solidFill>
          <a:ln/>
        </p:spPr>
      </p:sp>
      <p:sp>
        <p:nvSpPr>
          <p:cNvPr id="20" name="Text 18"/>
          <p:cNvSpPr/>
          <p:nvPr/>
        </p:nvSpPr>
        <p:spPr>
          <a:xfrm>
            <a:off x="594360" y="5559552"/>
            <a:ext cx="11064240" cy="658368"/>
          </a:xfrm>
          <a:prstGeom prst="rect">
            <a:avLst/>
          </a:prstGeom>
          <a:noFill/>
          <a:ln/>
        </p:spPr>
        <p:txBody>
          <a:bodyPr wrap="square" rtlCol="0" anchor="ctr"/>
          <a:lstStyle/>
          <a:p>
            <a:pPr indent="0" marL="0">
              <a:buNone/>
            </a:pPr>
            <a:r>
              <a:rPr lang="en-US" sz="1500" dirty="0">
                <a:solidFill>
                  <a:srgbClr val="000000"/>
                </a:solidFill>
                <a:latin typeface="Calibri" pitchFamily="34" charset="0"/>
                <a:ea typeface="Calibri" pitchFamily="34" charset="-122"/>
                <a:cs typeface="Calibri" pitchFamily="34" charset="-120"/>
              </a:rPr>
              <a:t>Campo 5 — OBJECIONES: las 3 razones por las que tu ICP no convierte ahora mismo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Completando el brief: prueba social y URL</a:t>
            </a:r>
            <a:endParaRPr lang="en-US" sz="2800" dirty="0"/>
          </a:p>
        </p:txBody>
      </p:sp>
      <p:sp>
        <p:nvSpPr>
          <p:cNvPr id="4" name="Shape 2"/>
          <p:cNvSpPr/>
          <p:nvPr/>
        </p:nvSpPr>
        <p:spPr>
          <a:xfrm>
            <a:off x="274320" y="1143000"/>
            <a:ext cx="5486400" cy="548640"/>
          </a:xfrm>
          <a:prstGeom prst="rect">
            <a:avLst/>
          </a:prstGeom>
          <a:solidFill>
            <a:srgbClr val="000000"/>
          </a:solidFill>
          <a:ln/>
        </p:spPr>
      </p:sp>
      <p:sp>
        <p:nvSpPr>
          <p:cNvPr id="5" name="Text 3"/>
          <p:cNvSpPr/>
          <p:nvPr/>
        </p:nvSpPr>
        <p:spPr>
          <a:xfrm>
            <a:off x="411480" y="1188720"/>
            <a:ext cx="5212080" cy="457200"/>
          </a:xfrm>
          <a:prstGeom prst="rect">
            <a:avLst/>
          </a:prstGeom>
          <a:noFill/>
          <a:ln/>
        </p:spPr>
        <p:txBody>
          <a:bodyPr wrap="square"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Campo 6 — Prueba Social</a:t>
            </a:r>
            <a:endParaRPr lang="en-US" sz="1600" dirty="0"/>
          </a:p>
        </p:txBody>
      </p:sp>
      <p:sp>
        <p:nvSpPr>
          <p:cNvPr id="6" name="Shape 4"/>
          <p:cNvSpPr/>
          <p:nvPr/>
        </p:nvSpPr>
        <p:spPr>
          <a:xfrm>
            <a:off x="274320" y="1691640"/>
            <a:ext cx="5486400" cy="4754880"/>
          </a:xfrm>
          <a:prstGeom prst="rect">
            <a:avLst/>
          </a:prstGeom>
          <a:solidFill>
            <a:srgbClr val="F5F5F5"/>
          </a:solidFill>
          <a:ln w="12700">
            <a:solidFill>
              <a:srgbClr val="DDDDDD"/>
            </a:solidFill>
            <a:prstDash val="solid"/>
          </a:ln>
        </p:spPr>
      </p:sp>
      <p:sp>
        <p:nvSpPr>
          <p:cNvPr id="7" name="Text 5"/>
          <p:cNvSpPr/>
          <p:nvPr/>
        </p:nvSpPr>
        <p:spPr>
          <a:xfrm>
            <a:off x="457200" y="1828800"/>
            <a:ext cx="5120640" cy="4389120"/>
          </a:xfrm>
          <a:prstGeom prst="rect">
            <a:avLst/>
          </a:prstGeom>
          <a:noFill/>
          <a:ln/>
        </p:spPr>
        <p:txBody>
          <a:bodyPr wrap="square" rtlCol="0" anchor="ctr"/>
          <a:lstStyle/>
          <a:p>
            <a:pPr>
              <a:spcAft>
                <a:spcPts val="800"/>
              </a:spcAft>
            </a:pPr>
            <a:r>
              <a:rPr lang="en-US" sz="1400" dirty="0">
                <a:solidFill>
                  <a:srgbClr val="000000"/>
                </a:solidFill>
                <a:latin typeface="Calibri" pitchFamily="34" charset="0"/>
                <a:ea typeface="Calibri" pitchFamily="34" charset="-122"/>
                <a:cs typeface="Calibri" pitchFamily="34" charset="-120"/>
              </a:rPr>
              <a:t>Lo que tienes disponible para generar credibilidad</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Número de clientes activos o usuarios</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Testimonios reales con nombre y cargo</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Logos de empresas que lo usan (si tienes permiso)</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Si no tienes nada: "usar placeholders" — Claude propone opciones realistas</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Regla: no inventes números</a:t>
            </a:r>
            <a:endParaRPr lang="en-US" sz="1400" dirty="0"/>
          </a:p>
        </p:txBody>
      </p:sp>
      <p:sp>
        <p:nvSpPr>
          <p:cNvPr id="8" name="Shape 6"/>
          <p:cNvSpPr/>
          <p:nvPr/>
        </p:nvSpPr>
        <p:spPr>
          <a:xfrm>
            <a:off x="6400800" y="1143000"/>
            <a:ext cx="5486400" cy="548640"/>
          </a:xfrm>
          <a:prstGeom prst="rect">
            <a:avLst/>
          </a:prstGeom>
          <a:solidFill>
            <a:srgbClr val="FF0000"/>
          </a:solidFill>
          <a:ln/>
        </p:spPr>
      </p:sp>
      <p:sp>
        <p:nvSpPr>
          <p:cNvPr id="9" name="Text 7"/>
          <p:cNvSpPr/>
          <p:nvPr/>
        </p:nvSpPr>
        <p:spPr>
          <a:xfrm>
            <a:off x="6537960" y="1188720"/>
            <a:ext cx="5212080" cy="457200"/>
          </a:xfrm>
          <a:prstGeom prst="rect">
            <a:avLst/>
          </a:prstGeom>
          <a:noFill/>
          <a:ln/>
        </p:spPr>
        <p:txBody>
          <a:bodyPr wrap="square"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Campo 7 — URL del Experimento</a:t>
            </a:r>
            <a:endParaRPr lang="en-US" sz="1600" dirty="0"/>
          </a:p>
        </p:txBody>
      </p:sp>
      <p:sp>
        <p:nvSpPr>
          <p:cNvPr id="10" name="Shape 8"/>
          <p:cNvSpPr/>
          <p:nvPr/>
        </p:nvSpPr>
        <p:spPr>
          <a:xfrm>
            <a:off x="6400800" y="1691640"/>
            <a:ext cx="5486400" cy="4754880"/>
          </a:xfrm>
          <a:prstGeom prst="rect">
            <a:avLst/>
          </a:prstGeom>
          <a:solidFill>
            <a:srgbClr val="FFF8F0"/>
          </a:solidFill>
          <a:ln w="12700">
            <a:solidFill>
              <a:srgbClr val="FF6B00"/>
            </a:solidFill>
            <a:prstDash val="solid"/>
          </a:ln>
        </p:spPr>
      </p:sp>
      <p:sp>
        <p:nvSpPr>
          <p:cNvPr id="11" name="Text 9"/>
          <p:cNvSpPr/>
          <p:nvPr/>
        </p:nvSpPr>
        <p:spPr>
          <a:xfrm>
            <a:off x="6583680" y="1828800"/>
            <a:ext cx="5120640" cy="4389120"/>
          </a:xfrm>
          <a:prstGeom prst="rect">
            <a:avLst/>
          </a:prstGeom>
          <a:noFill/>
          <a:ln/>
        </p:spPr>
        <p:txBody>
          <a:bodyPr wrap="square" rtlCol="0" anchor="ctr"/>
          <a:lstStyle/>
          <a:p>
            <a:pPr>
              <a:spcAft>
                <a:spcPts val="800"/>
              </a:spcAft>
            </a:pPr>
            <a:r>
              <a:rPr lang="en-US" sz="1400" dirty="0">
                <a:solidFill>
                  <a:srgbClr val="000000"/>
                </a:solidFill>
                <a:latin typeface="Calibri" pitchFamily="34" charset="0"/>
                <a:ea typeface="Calibri" pitchFamily="34" charset="-122"/>
                <a:cs typeface="Calibri" pitchFamily="34" charset="-120"/>
              </a:rPr>
              <a:t>El slug que quieres usar para esta landing</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Limpio, descriptivo y rastreable en Analytics</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Ejemplos válidos: /demo-reportes, /prueba-gratis-sales</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Evita slugs genéricos como /landing1</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Con UTM params en los links que van a esta URL</a:t>
            </a:r>
            <a:endParaRPr lang="en-US" sz="1400" dirty="0"/>
          </a:p>
          <a:p>
            <a:pPr>
              <a:spcAft>
                <a:spcPts val="800"/>
              </a:spcAft>
            </a:pPr>
            <a:r>
              <a:rPr lang="en-US" sz="1400" dirty="0">
                <a:solidFill>
                  <a:srgbClr val="000000"/>
                </a:solidFill>
                <a:latin typeface="Calibri" pitchFamily="34" charset="0"/>
                <a:ea typeface="Calibri" pitchFamily="34" charset="-122"/>
                <a:cs typeface="Calibri" pitchFamily="34" charset="-120"/>
              </a:rPr>
              <a:t>Una landing = una URL = un experimento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La landing que Claude Code construye con tu brief</a:t>
            </a:r>
            <a:endParaRPr lang="en-US" sz="2800" dirty="0"/>
          </a:p>
        </p:txBody>
      </p:sp>
      <p:sp>
        <p:nvSpPr>
          <p:cNvPr id="4" name="Shape 2"/>
          <p:cNvSpPr/>
          <p:nvPr/>
        </p:nvSpPr>
        <p:spPr>
          <a:xfrm>
            <a:off x="228600" y="1143000"/>
            <a:ext cx="3840480" cy="594360"/>
          </a:xfrm>
          <a:prstGeom prst="rect">
            <a:avLst/>
          </a:prstGeom>
          <a:solidFill>
            <a:srgbClr val="FF0000"/>
          </a:solidFill>
          <a:ln/>
        </p:spPr>
      </p:sp>
      <p:sp>
        <p:nvSpPr>
          <p:cNvPr id="5" name="Text 3"/>
          <p:cNvSpPr/>
          <p:nvPr/>
        </p:nvSpPr>
        <p:spPr>
          <a:xfrm>
            <a:off x="320040" y="1170432"/>
            <a:ext cx="3657600" cy="530352"/>
          </a:xfrm>
          <a:prstGeom prst="rect">
            <a:avLst/>
          </a:prstGeom>
          <a:noFill/>
          <a:ln/>
        </p:spPr>
        <p:txBody>
          <a:bodyPr wrap="square"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Hero Section</a:t>
            </a:r>
            <a:endParaRPr lang="en-US" sz="1500" dirty="0"/>
          </a:p>
        </p:txBody>
      </p:sp>
      <p:sp>
        <p:nvSpPr>
          <p:cNvPr id="6" name="Shape 4"/>
          <p:cNvSpPr/>
          <p:nvPr/>
        </p:nvSpPr>
        <p:spPr>
          <a:xfrm>
            <a:off x="228600" y="1737360"/>
            <a:ext cx="3840480" cy="4892040"/>
          </a:xfrm>
          <a:prstGeom prst="rect">
            <a:avLst/>
          </a:prstGeom>
          <a:solidFill>
            <a:srgbClr val="FAFAFA"/>
          </a:solidFill>
          <a:ln w="12700">
            <a:solidFill>
              <a:srgbClr val="E0E0E0"/>
            </a:solidFill>
            <a:prstDash val="solid"/>
          </a:ln>
        </p:spPr>
      </p:sp>
      <p:sp>
        <p:nvSpPr>
          <p:cNvPr id="7" name="Text 5"/>
          <p:cNvSpPr/>
          <p:nvPr/>
        </p:nvSpPr>
        <p:spPr>
          <a:xfrm>
            <a:off x="365760" y="1874520"/>
            <a:ext cx="3566160" cy="3840480"/>
          </a:xfrm>
          <a:prstGeom prst="rect">
            <a:avLst/>
          </a:prstGeom>
          <a:noFill/>
          <a:ln/>
        </p:spPr>
        <p:txBody>
          <a:bodyPr wrap="square" rtlCol="0" anchor="ctr"/>
          <a:lstStyle/>
          <a:p>
            <a:pPr>
              <a:spcAft>
                <a:spcPts val="1000"/>
              </a:spcAft>
            </a:pPr>
            <a:r>
              <a:rPr lang="en-US" sz="1300" dirty="0">
                <a:solidFill>
                  <a:srgbClr val="000000"/>
                </a:solidFill>
                <a:latin typeface="Calibri" pitchFamily="34" charset="0"/>
                <a:ea typeface="Calibri" pitchFamily="34" charset="-122"/>
                <a:cs typeface="Calibri" pitchFamily="34" charset="-120"/>
              </a:rPr>
              <a:t>H1: tu propuesta de valor exacta</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Subtítulo: ICP + problema que resuelve</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Formulario: email + nombre</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CTA en el fold (visible sin scroll)</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Sin distracciones — un solo camino</a:t>
            </a:r>
            <a:endParaRPr lang="en-US" sz="1300" dirty="0"/>
          </a:p>
        </p:txBody>
      </p:sp>
      <p:sp>
        <p:nvSpPr>
          <p:cNvPr id="8" name="Shape 6"/>
          <p:cNvSpPr/>
          <p:nvPr/>
        </p:nvSpPr>
        <p:spPr>
          <a:xfrm>
            <a:off x="4270248" y="1143000"/>
            <a:ext cx="3840480" cy="594360"/>
          </a:xfrm>
          <a:prstGeom prst="rect">
            <a:avLst/>
          </a:prstGeom>
          <a:solidFill>
            <a:srgbClr val="FF6B00"/>
          </a:solidFill>
          <a:ln/>
        </p:spPr>
      </p:sp>
      <p:sp>
        <p:nvSpPr>
          <p:cNvPr id="9" name="Text 7"/>
          <p:cNvSpPr/>
          <p:nvPr/>
        </p:nvSpPr>
        <p:spPr>
          <a:xfrm>
            <a:off x="4361688" y="1170432"/>
            <a:ext cx="3657600" cy="530352"/>
          </a:xfrm>
          <a:prstGeom prst="rect">
            <a:avLst/>
          </a:prstGeom>
          <a:noFill/>
          <a:ln/>
        </p:spPr>
        <p:txBody>
          <a:bodyPr wrap="square"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Cuerpo de la Página</a:t>
            </a:r>
            <a:endParaRPr lang="en-US" sz="1500" dirty="0"/>
          </a:p>
        </p:txBody>
      </p:sp>
      <p:sp>
        <p:nvSpPr>
          <p:cNvPr id="10" name="Shape 8"/>
          <p:cNvSpPr/>
          <p:nvPr/>
        </p:nvSpPr>
        <p:spPr>
          <a:xfrm>
            <a:off x="4270248" y="1737360"/>
            <a:ext cx="3840480" cy="4892040"/>
          </a:xfrm>
          <a:prstGeom prst="rect">
            <a:avLst/>
          </a:prstGeom>
          <a:solidFill>
            <a:srgbClr val="FAFAFA"/>
          </a:solidFill>
          <a:ln w="12700">
            <a:solidFill>
              <a:srgbClr val="E0E0E0"/>
            </a:solidFill>
            <a:prstDash val="solid"/>
          </a:ln>
        </p:spPr>
      </p:sp>
      <p:sp>
        <p:nvSpPr>
          <p:cNvPr id="11" name="Text 9"/>
          <p:cNvSpPr/>
          <p:nvPr/>
        </p:nvSpPr>
        <p:spPr>
          <a:xfrm>
            <a:off x="4407408" y="1874520"/>
            <a:ext cx="3566160" cy="3840480"/>
          </a:xfrm>
          <a:prstGeom prst="rect">
            <a:avLst/>
          </a:prstGeom>
          <a:noFill/>
          <a:ln/>
        </p:spPr>
        <p:txBody>
          <a:bodyPr wrap="square" rtlCol="0" anchor="ctr"/>
          <a:lstStyle/>
          <a:p>
            <a:pPr>
              <a:spcAft>
                <a:spcPts val="1000"/>
              </a:spcAft>
            </a:pPr>
            <a:r>
              <a:rPr lang="en-US" sz="1300" dirty="0">
                <a:solidFill>
                  <a:srgbClr val="000000"/>
                </a:solidFill>
                <a:latin typeface="Calibri" pitchFamily="34" charset="0"/>
                <a:ea typeface="Calibri" pitchFamily="34" charset="-122"/>
                <a:cs typeface="Calibri" pitchFamily="34" charset="-120"/>
              </a:rPr>
              <a:t>Sección de beneficios con iconos SVG</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Prueba social: clientes + testimonio</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FAQ: 3 objeciones desmontadas</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CTA repetido al final con copy diferente</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Footer mínimo</a:t>
            </a:r>
            <a:endParaRPr lang="en-US" sz="1300" dirty="0"/>
          </a:p>
        </p:txBody>
      </p:sp>
      <p:sp>
        <p:nvSpPr>
          <p:cNvPr id="12" name="Shape 10"/>
          <p:cNvSpPr/>
          <p:nvPr/>
        </p:nvSpPr>
        <p:spPr>
          <a:xfrm>
            <a:off x="8302752" y="1143000"/>
            <a:ext cx="3840480" cy="594360"/>
          </a:xfrm>
          <a:prstGeom prst="rect">
            <a:avLst/>
          </a:prstGeom>
          <a:solidFill>
            <a:srgbClr val="000000"/>
          </a:solidFill>
          <a:ln/>
        </p:spPr>
      </p:sp>
      <p:sp>
        <p:nvSpPr>
          <p:cNvPr id="13" name="Text 11"/>
          <p:cNvSpPr/>
          <p:nvPr/>
        </p:nvSpPr>
        <p:spPr>
          <a:xfrm>
            <a:off x="8394192" y="1170432"/>
            <a:ext cx="3657600" cy="530352"/>
          </a:xfrm>
          <a:prstGeom prst="rect">
            <a:avLst/>
          </a:prstGeom>
          <a:noFill/>
          <a:ln/>
        </p:spPr>
        <p:txBody>
          <a:bodyPr wrap="square" rtlCol="0" anchor="ctr"/>
          <a:lstStyle/>
          <a:p>
            <a:pPr algn="ctr" indent="0" marL="0">
              <a:buNone/>
            </a:pPr>
            <a:r>
              <a:rPr lang="en-US" sz="1500" b="1" dirty="0">
                <a:solidFill>
                  <a:srgbClr val="FFFFFF"/>
                </a:solidFill>
                <a:latin typeface="Arial Black" pitchFamily="34" charset="0"/>
                <a:ea typeface="Arial Black" pitchFamily="34" charset="-122"/>
                <a:cs typeface="Arial Black" pitchFamily="34" charset="-120"/>
              </a:rPr>
              <a:t>Specs Técnicas</a:t>
            </a:r>
            <a:endParaRPr lang="en-US" sz="1500" dirty="0"/>
          </a:p>
        </p:txBody>
      </p:sp>
      <p:sp>
        <p:nvSpPr>
          <p:cNvPr id="14" name="Shape 12"/>
          <p:cNvSpPr/>
          <p:nvPr/>
        </p:nvSpPr>
        <p:spPr>
          <a:xfrm>
            <a:off x="8302752" y="1737360"/>
            <a:ext cx="3840480" cy="4892040"/>
          </a:xfrm>
          <a:prstGeom prst="rect">
            <a:avLst/>
          </a:prstGeom>
          <a:solidFill>
            <a:srgbClr val="FAFAFA"/>
          </a:solidFill>
          <a:ln w="12700">
            <a:solidFill>
              <a:srgbClr val="E0E0E0"/>
            </a:solidFill>
            <a:prstDash val="solid"/>
          </a:ln>
        </p:spPr>
      </p:sp>
      <p:sp>
        <p:nvSpPr>
          <p:cNvPr id="15" name="Text 13"/>
          <p:cNvSpPr/>
          <p:nvPr/>
        </p:nvSpPr>
        <p:spPr>
          <a:xfrm>
            <a:off x="8439912" y="1874520"/>
            <a:ext cx="3566160" cy="3840480"/>
          </a:xfrm>
          <a:prstGeom prst="rect">
            <a:avLst/>
          </a:prstGeom>
          <a:noFill/>
          <a:ln/>
        </p:spPr>
        <p:txBody>
          <a:bodyPr wrap="square" rtlCol="0" anchor="ctr"/>
          <a:lstStyle/>
          <a:p>
            <a:pPr>
              <a:spcAft>
                <a:spcPts val="1000"/>
              </a:spcAft>
            </a:pPr>
            <a:r>
              <a:rPr lang="en-US" sz="1300" dirty="0">
                <a:solidFill>
                  <a:srgbClr val="000000"/>
                </a:solidFill>
                <a:latin typeface="Calibri" pitchFamily="34" charset="0"/>
                <a:ea typeface="Calibri" pitchFamily="34" charset="-122"/>
                <a:cs typeface="Calibri" pitchFamily="34" charset="-120"/>
              </a:rPr>
              <a:t>Un solo archivo HTML (todo incluido)</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CSS interno — sin archivos separados</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Mobile-first y responsive</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Sin dependencias externas</a:t>
            </a:r>
            <a:endParaRPr lang="en-US" sz="1300" dirty="0"/>
          </a:p>
          <a:p>
            <a:pPr>
              <a:spcAft>
                <a:spcPts val="1000"/>
              </a:spcAft>
            </a:pPr>
            <a:r>
              <a:rPr lang="en-US" sz="1300" dirty="0">
                <a:solidFill>
                  <a:srgbClr val="000000"/>
                </a:solidFill>
                <a:latin typeface="Calibri" pitchFamily="34" charset="0"/>
                <a:ea typeface="Calibri" pitchFamily="34" charset="-122"/>
                <a:cs typeface="Calibri" pitchFamily="34" charset="-120"/>
              </a:rPr>
              <a:t>Funciona sin internet (excepto Google Fonts)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De código a URL: deploy en Vercel en 3 pasos</a:t>
            </a:r>
            <a:endParaRPr lang="en-US" sz="2800" dirty="0"/>
          </a:p>
        </p:txBody>
      </p:sp>
      <p:sp>
        <p:nvSpPr>
          <p:cNvPr id="4" name="Shape 2"/>
          <p:cNvSpPr/>
          <p:nvPr/>
        </p:nvSpPr>
        <p:spPr>
          <a:xfrm>
            <a:off x="274320" y="1307592"/>
            <a:ext cx="658368" cy="658368"/>
          </a:xfrm>
          <a:prstGeom prst="ellipse">
            <a:avLst/>
          </a:prstGeom>
          <a:solidFill>
            <a:srgbClr val="FF0000"/>
          </a:solidFill>
          <a:ln/>
        </p:spPr>
      </p:sp>
      <p:sp>
        <p:nvSpPr>
          <p:cNvPr id="5" name="Text 3"/>
          <p:cNvSpPr/>
          <p:nvPr/>
        </p:nvSpPr>
        <p:spPr>
          <a:xfrm>
            <a:off x="274320" y="1307592"/>
            <a:ext cx="658368" cy="65836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Shape 4"/>
          <p:cNvSpPr/>
          <p:nvPr/>
        </p:nvSpPr>
        <p:spPr>
          <a:xfrm>
            <a:off x="1097280" y="1289304"/>
            <a:ext cx="10698480" cy="731520"/>
          </a:xfrm>
          <a:prstGeom prst="rect">
            <a:avLst/>
          </a:prstGeom>
          <a:solidFill>
            <a:srgbClr val="FFF3E0"/>
          </a:solidFill>
          <a:ln w="12700">
            <a:solidFill>
              <a:srgbClr val="FF6B00"/>
            </a:solidFill>
            <a:prstDash val="solid"/>
          </a:ln>
        </p:spPr>
      </p:sp>
      <p:sp>
        <p:nvSpPr>
          <p:cNvPr id="7" name="Text 5"/>
          <p:cNvSpPr/>
          <p:nvPr/>
        </p:nvSpPr>
        <p:spPr>
          <a:xfrm>
            <a:off x="1280160" y="1325880"/>
            <a:ext cx="10424160" cy="64008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Ir a vercel.com → crear cuenta gratuita con tu email de trabajo (plan Hobby, sin tarjeta de crédito)</a:t>
            </a:r>
            <a:endParaRPr lang="en-US" sz="1400" dirty="0"/>
          </a:p>
        </p:txBody>
      </p:sp>
      <p:sp>
        <p:nvSpPr>
          <p:cNvPr id="8" name="Shape 6"/>
          <p:cNvSpPr/>
          <p:nvPr/>
        </p:nvSpPr>
        <p:spPr>
          <a:xfrm>
            <a:off x="274320" y="2240280"/>
            <a:ext cx="658368" cy="658368"/>
          </a:xfrm>
          <a:prstGeom prst="ellipse">
            <a:avLst/>
          </a:prstGeom>
          <a:solidFill>
            <a:srgbClr val="FF6B00"/>
          </a:solidFill>
          <a:ln/>
        </p:spPr>
      </p:sp>
      <p:sp>
        <p:nvSpPr>
          <p:cNvPr id="9" name="Text 7"/>
          <p:cNvSpPr/>
          <p:nvPr/>
        </p:nvSpPr>
        <p:spPr>
          <a:xfrm>
            <a:off x="274320" y="2240280"/>
            <a:ext cx="658368" cy="65836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Shape 8"/>
          <p:cNvSpPr/>
          <p:nvPr/>
        </p:nvSpPr>
        <p:spPr>
          <a:xfrm>
            <a:off x="1097280" y="2221992"/>
            <a:ext cx="10698480" cy="731520"/>
          </a:xfrm>
          <a:prstGeom prst="rect">
            <a:avLst/>
          </a:prstGeom>
          <a:solidFill>
            <a:srgbClr val="F5F5F5"/>
          </a:solidFill>
          <a:ln w="12700">
            <a:solidFill>
              <a:srgbClr val="CCCCCC"/>
            </a:solidFill>
            <a:prstDash val="solid"/>
          </a:ln>
        </p:spPr>
      </p:sp>
      <p:sp>
        <p:nvSpPr>
          <p:cNvPr id="11" name="Text 9"/>
          <p:cNvSpPr/>
          <p:nvPr/>
        </p:nvSpPr>
        <p:spPr>
          <a:xfrm>
            <a:off x="1280160" y="2258568"/>
            <a:ext cx="10424160" cy="64008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Dashboard → Add New → Project → arrastrar la carpeta que generó Claude Code (o seleccionar "Deploy from file")</a:t>
            </a:r>
            <a:endParaRPr lang="en-US" sz="1400" dirty="0"/>
          </a:p>
        </p:txBody>
      </p:sp>
      <p:sp>
        <p:nvSpPr>
          <p:cNvPr id="12" name="Shape 10"/>
          <p:cNvSpPr/>
          <p:nvPr/>
        </p:nvSpPr>
        <p:spPr>
          <a:xfrm>
            <a:off x="274320" y="3172968"/>
            <a:ext cx="658368" cy="658368"/>
          </a:xfrm>
          <a:prstGeom prst="ellipse">
            <a:avLst/>
          </a:prstGeom>
          <a:solidFill>
            <a:srgbClr val="CC9900"/>
          </a:solidFill>
          <a:ln/>
        </p:spPr>
      </p:sp>
      <p:sp>
        <p:nvSpPr>
          <p:cNvPr id="13" name="Text 11"/>
          <p:cNvSpPr/>
          <p:nvPr/>
        </p:nvSpPr>
        <p:spPr>
          <a:xfrm>
            <a:off x="274320" y="3172968"/>
            <a:ext cx="658368" cy="65836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Shape 12"/>
          <p:cNvSpPr/>
          <p:nvPr/>
        </p:nvSpPr>
        <p:spPr>
          <a:xfrm>
            <a:off x="1097280" y="3154680"/>
            <a:ext cx="10698480" cy="731520"/>
          </a:xfrm>
          <a:prstGeom prst="rect">
            <a:avLst/>
          </a:prstGeom>
          <a:solidFill>
            <a:srgbClr val="FFF3E0"/>
          </a:solidFill>
          <a:ln w="12700">
            <a:solidFill>
              <a:srgbClr val="FF6B00"/>
            </a:solidFill>
            <a:prstDash val="solid"/>
          </a:ln>
        </p:spPr>
      </p:sp>
      <p:sp>
        <p:nvSpPr>
          <p:cNvPr id="15" name="Text 13"/>
          <p:cNvSpPr/>
          <p:nvPr/>
        </p:nvSpPr>
        <p:spPr>
          <a:xfrm>
            <a:off x="1280160" y="3191256"/>
            <a:ext cx="10424160" cy="64008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Vercel detecta automáticamente el proyecto estático → Deploy → en menos de 60 segundos tienes tu URL: [nombre].vercel.app</a:t>
            </a:r>
            <a:endParaRPr lang="en-US" sz="1400" dirty="0"/>
          </a:p>
        </p:txBody>
      </p:sp>
      <p:sp>
        <p:nvSpPr>
          <p:cNvPr id="16" name="Shape 14"/>
          <p:cNvSpPr/>
          <p:nvPr/>
        </p:nvSpPr>
        <p:spPr>
          <a:xfrm>
            <a:off x="274320" y="4105656"/>
            <a:ext cx="658368" cy="658368"/>
          </a:xfrm>
          <a:prstGeom prst="ellipse">
            <a:avLst/>
          </a:prstGeom>
          <a:solidFill>
            <a:srgbClr val="228B22"/>
          </a:solidFill>
          <a:ln/>
        </p:spPr>
      </p:sp>
      <p:sp>
        <p:nvSpPr>
          <p:cNvPr id="17" name="Text 15"/>
          <p:cNvSpPr/>
          <p:nvPr/>
        </p:nvSpPr>
        <p:spPr>
          <a:xfrm>
            <a:off x="274320" y="4105656"/>
            <a:ext cx="658368" cy="65836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Shape 16"/>
          <p:cNvSpPr/>
          <p:nvPr/>
        </p:nvSpPr>
        <p:spPr>
          <a:xfrm>
            <a:off x="1097280" y="4087368"/>
            <a:ext cx="10698480" cy="731520"/>
          </a:xfrm>
          <a:prstGeom prst="rect">
            <a:avLst/>
          </a:prstGeom>
          <a:solidFill>
            <a:srgbClr val="F5F5F5"/>
          </a:solidFill>
          <a:ln w="12700">
            <a:solidFill>
              <a:srgbClr val="CCCCCC"/>
            </a:solidFill>
            <a:prstDash val="solid"/>
          </a:ln>
        </p:spPr>
      </p:sp>
      <p:sp>
        <p:nvSpPr>
          <p:cNvPr id="19" name="Text 17"/>
          <p:cNvSpPr/>
          <p:nvPr/>
        </p:nvSpPr>
        <p:spPr>
          <a:xfrm>
            <a:off x="1280160" y="4123944"/>
            <a:ext cx="10424160" cy="64008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OPCIONAL: conectar tu dominio propio → Settings → Domains → seguir instrucciones de DNS (5 minutos)</a:t>
            </a:r>
            <a:endParaRPr lang="en-US" sz="1400" dirty="0"/>
          </a:p>
        </p:txBody>
      </p:sp>
      <p:sp>
        <p:nvSpPr>
          <p:cNvPr id="20" name="Shape 18"/>
          <p:cNvSpPr/>
          <p:nvPr/>
        </p:nvSpPr>
        <p:spPr>
          <a:xfrm>
            <a:off x="274320" y="5038344"/>
            <a:ext cx="658368" cy="658368"/>
          </a:xfrm>
          <a:prstGeom prst="ellipse">
            <a:avLst/>
          </a:prstGeom>
          <a:solidFill>
            <a:srgbClr val="1565C0"/>
          </a:solidFill>
          <a:ln/>
        </p:spPr>
      </p:sp>
      <p:sp>
        <p:nvSpPr>
          <p:cNvPr id="21" name="Text 19"/>
          <p:cNvSpPr/>
          <p:nvPr/>
        </p:nvSpPr>
        <p:spPr>
          <a:xfrm>
            <a:off x="274320" y="5038344"/>
            <a:ext cx="658368" cy="65836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22" name="Shape 20"/>
          <p:cNvSpPr/>
          <p:nvPr/>
        </p:nvSpPr>
        <p:spPr>
          <a:xfrm>
            <a:off x="1097280" y="5020056"/>
            <a:ext cx="10698480" cy="731520"/>
          </a:xfrm>
          <a:prstGeom prst="rect">
            <a:avLst/>
          </a:prstGeom>
          <a:solidFill>
            <a:srgbClr val="FFF3E0"/>
          </a:solidFill>
          <a:ln w="12700">
            <a:solidFill>
              <a:srgbClr val="FF6B00"/>
            </a:solidFill>
            <a:prstDash val="solid"/>
          </a:ln>
        </p:spPr>
      </p:sp>
      <p:sp>
        <p:nvSpPr>
          <p:cNvPr id="23" name="Text 21"/>
          <p:cNvSpPr/>
          <p:nvPr/>
        </p:nvSpPr>
        <p:spPr>
          <a:xfrm>
            <a:off x="1280160" y="5056632"/>
            <a:ext cx="10424160" cy="64008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RESULTADO: URL pública lista para recibir tráfico y medir conversiones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El tiempo real de idea a URL publicada</a:t>
            </a:r>
            <a:endParaRPr lang="en-US" sz="2800" dirty="0"/>
          </a:p>
        </p:txBody>
      </p:sp>
      <p:sp>
        <p:nvSpPr>
          <p:cNvPr id="4" name="Text 2"/>
          <p:cNvSpPr/>
          <p:nvPr/>
        </p:nvSpPr>
        <p:spPr>
          <a:xfrm>
            <a:off x="1371600" y="1371600"/>
            <a:ext cx="9418320" cy="2926080"/>
          </a:xfrm>
          <a:prstGeom prst="rect">
            <a:avLst/>
          </a:prstGeom>
          <a:noFill/>
          <a:ln/>
        </p:spPr>
        <p:txBody>
          <a:bodyPr wrap="square" rtlCol="0" anchor="ctr"/>
          <a:lstStyle/>
          <a:p>
            <a:pPr algn="ctr" indent="0" marL="0">
              <a:buNone/>
            </a:pPr>
            <a:r>
              <a:rPr lang="en-US" sz="12000" b="1" dirty="0">
                <a:solidFill>
                  <a:srgbClr val="FF0000"/>
                </a:solidFill>
                <a:latin typeface="Arial Black" pitchFamily="34" charset="0"/>
                <a:ea typeface="Arial Black" pitchFamily="34" charset="-122"/>
                <a:cs typeface="Arial Black" pitchFamily="34" charset="-120"/>
              </a:rPr>
              <a:t>10</a:t>
            </a:r>
            <a:endParaRPr lang="en-US" sz="12000" dirty="0"/>
          </a:p>
        </p:txBody>
      </p:sp>
      <p:sp>
        <p:nvSpPr>
          <p:cNvPr id="5" name="Text 3"/>
          <p:cNvSpPr/>
          <p:nvPr/>
        </p:nvSpPr>
        <p:spPr>
          <a:xfrm>
            <a:off x="1371600" y="4206240"/>
            <a:ext cx="9418320" cy="731520"/>
          </a:xfrm>
          <a:prstGeom prst="rect">
            <a:avLst/>
          </a:prstGeom>
          <a:noFill/>
          <a:ln/>
        </p:spPr>
        <p:txBody>
          <a:bodyPr wrap="square" rtlCol="0" anchor="ctr"/>
          <a:lstStyle/>
          <a:p>
            <a:pPr algn="ctr" indent="0" marL="0">
              <a:buNone/>
            </a:pPr>
            <a:r>
              <a:rPr lang="en-US" sz="2800" b="1" dirty="0">
                <a:solidFill>
                  <a:srgbClr val="FF6B00"/>
                </a:solidFill>
                <a:latin typeface="Arial Black" pitchFamily="34" charset="0"/>
                <a:ea typeface="Arial Black" pitchFamily="34" charset="-122"/>
                <a:cs typeface="Arial Black" pitchFamily="34" charset="-120"/>
              </a:rPr>
              <a:t>minutos de la idea a la URL funcionando</a:t>
            </a:r>
            <a:endParaRPr lang="en-US" sz="2800" dirty="0"/>
          </a:p>
        </p:txBody>
      </p:sp>
      <p:sp>
        <p:nvSpPr>
          <p:cNvPr id="6" name="Shape 4"/>
          <p:cNvSpPr/>
          <p:nvPr/>
        </p:nvSpPr>
        <p:spPr>
          <a:xfrm>
            <a:off x="1828800" y="5074920"/>
            <a:ext cx="8503920" cy="1280160"/>
          </a:xfrm>
          <a:prstGeom prst="rect">
            <a:avLst/>
          </a:prstGeom>
          <a:solidFill>
            <a:srgbClr val="EEFF89"/>
          </a:solidFill>
          <a:ln/>
        </p:spPr>
      </p:sp>
      <p:sp>
        <p:nvSpPr>
          <p:cNvPr id="7" name="Text 5"/>
          <p:cNvSpPr/>
          <p:nvPr/>
        </p:nvSpPr>
        <p:spPr>
          <a:xfrm>
            <a:off x="2011680" y="5166360"/>
            <a:ext cx="8138160" cy="1097280"/>
          </a:xfrm>
          <a:prstGeom prst="rect">
            <a:avLst/>
          </a:prstGeom>
          <a:noFill/>
          <a:ln/>
        </p:spPr>
        <p:txBody>
          <a:bodyPr wrap="square" rtlCol="0" anchor="ctr"/>
          <a:lstStyle/>
          <a:p>
            <a:pPr algn="ctr" indent="0" marL="0">
              <a:buNone/>
            </a:pPr>
            <a:r>
              <a:rPr lang="en-US" sz="1600" dirty="0">
                <a:solidFill>
                  <a:srgbClr val="000000"/>
                </a:solidFill>
                <a:latin typeface="Calibri" pitchFamily="34" charset="0"/>
                <a:ea typeface="Calibri" pitchFamily="34" charset="-122"/>
                <a:cs typeface="Calibri" pitchFamily="34" charset="-120"/>
              </a:rPr>
              <a:t>Brief: 5 min · Generación Claude Code: 3 min · Deploy Vercel: 2 min</a:t>
            </a:r>
            <a:endParaRPr lang="en-US" sz="1600" dirty="0"/>
          </a:p>
          <a:p>
            <a:pPr algn="ctr" indent="0" marL="0">
              <a:buNone/>
            </a:pPr>
            <a:r>
              <a:rPr lang="en-US" sz="1600" dirty="0">
                <a:solidFill>
                  <a:srgbClr val="000000"/>
                </a:solidFill>
                <a:latin typeface="Calibri" pitchFamily="34" charset="0"/>
                <a:ea typeface="Calibri" pitchFamily="34" charset="-122"/>
                <a:cs typeface="Calibri" pitchFamily="34" charset="-120"/>
              </a:rPr>
              <a:t>Los otros 10 minutos de la clase son para hacerlo en vivo juntos.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Text 1"/>
          <p:cNvSpPr/>
          <p:nvPr/>
        </p:nvSpPr>
        <p:spPr>
          <a:xfrm>
            <a:off x="365760" y="457200"/>
            <a:ext cx="1828800" cy="1828800"/>
          </a:xfrm>
          <a:prstGeom prst="rect">
            <a:avLst/>
          </a:prstGeom>
          <a:noFill/>
          <a:ln/>
        </p:spPr>
        <p:txBody>
          <a:bodyPr wrap="square" rtlCol="0" anchor="ctr"/>
          <a:lstStyle/>
          <a:p>
            <a:pPr indent="0" marL="0">
              <a:buNone/>
            </a:pPr>
            <a:r>
              <a:rPr lang="en-US" sz="10000" b="1" dirty="0">
                <a:solidFill>
                  <a:srgbClr val="FF0000"/>
                </a:solidFill>
                <a:latin typeface="Georgia" pitchFamily="34" charset="0"/>
                <a:ea typeface="Georgia" pitchFamily="34" charset="-122"/>
                <a:cs typeface="Georgia" pitchFamily="34" charset="-120"/>
              </a:rPr>
              <a:t>“</a:t>
            </a:r>
            <a:endParaRPr lang="en-US" sz="10000" dirty="0"/>
          </a:p>
        </p:txBody>
      </p:sp>
      <p:sp>
        <p:nvSpPr>
          <p:cNvPr id="4" name="Text 2"/>
          <p:cNvSpPr/>
          <p:nvPr/>
        </p:nvSpPr>
        <p:spPr>
          <a:xfrm>
            <a:off x="1097280" y="1371600"/>
            <a:ext cx="10515600" cy="3200400"/>
          </a:xfrm>
          <a:prstGeom prst="rect">
            <a:avLst/>
          </a:prstGeom>
          <a:noFill/>
          <a:ln/>
        </p:spPr>
        <p:txBody>
          <a:bodyPr wrap="square" rtlCol="0" anchor="ctr"/>
          <a:lstStyle/>
          <a:p>
            <a:pPr algn="l" indent="0" marL="0">
              <a:buNone/>
            </a:pPr>
            <a:r>
              <a:rPr lang="en-US" sz="2800" b="1" dirty="0">
                <a:solidFill>
                  <a:srgbClr val="FFFFFF"/>
                </a:solidFill>
                <a:latin typeface="Arial Black" pitchFamily="34" charset="0"/>
                <a:ea typeface="Arial Black" pitchFamily="34" charset="-122"/>
                <a:cs typeface="Arial Black" pitchFamily="34" charset="-120"/>
              </a:rPr>
              <a:t>Sin tickets en Jira. Sin reuniones de estimación. Sin esperar al dev.</a:t>
            </a:r>
            <a:endParaRPr lang="en-US" sz="2800" dirty="0"/>
          </a:p>
        </p:txBody>
      </p:sp>
      <p:sp>
        <p:nvSpPr>
          <p:cNvPr id="5" name="Shape 3"/>
          <p:cNvSpPr/>
          <p:nvPr/>
        </p:nvSpPr>
        <p:spPr>
          <a:xfrm>
            <a:off x="1097280" y="4846320"/>
            <a:ext cx="5486400" cy="73152"/>
          </a:xfrm>
          <a:prstGeom prst="rect">
            <a:avLst/>
          </a:prstGeom>
          <a:solidFill>
            <a:srgbClr val="FF6B00"/>
          </a:solidFill>
          <a:ln/>
        </p:spPr>
      </p:sp>
      <p:sp>
        <p:nvSpPr>
          <p:cNvPr id="6" name="Text 4"/>
          <p:cNvSpPr/>
          <p:nvPr/>
        </p:nvSpPr>
        <p:spPr>
          <a:xfrm>
            <a:off x="1097280" y="5029200"/>
            <a:ext cx="10058400" cy="457200"/>
          </a:xfrm>
          <a:prstGeom prst="rect">
            <a:avLst/>
          </a:prstGeom>
          <a:noFill/>
          <a:ln/>
        </p:spPr>
        <p:txBody>
          <a:bodyPr wrap="square" rtlCol="0" anchor="ctr"/>
          <a:lstStyle/>
          <a:p>
            <a:pPr indent="0" marL="0">
              <a:buNone/>
            </a:pPr>
            <a:r>
              <a:rPr lang="en-US" sz="1600" i="1" dirty="0">
                <a:solidFill>
                  <a:srgbClr val="EEFF89"/>
                </a:solidFill>
                <a:latin typeface="Calibri" pitchFamily="34" charset="0"/>
                <a:ea typeface="Calibri" pitchFamily="34" charset="-122"/>
                <a:cs typeface="Calibri" pitchFamily="34" charset="-120"/>
              </a:rPr>
              <a:t>Chief of Growth — después de publicar su primera landing en Vercel</a:t>
            </a:r>
            <a:endParaRPr lang="en-US" sz="1600" dirty="0"/>
          </a:p>
        </p:txBody>
      </p:sp>
      <p:sp>
        <p:nvSpPr>
          <p:cNvPr id="7" name="Text 5"/>
          <p:cNvSpPr/>
          <p:nvPr/>
        </p:nvSpPr>
        <p:spPr>
          <a:xfrm>
            <a:off x="365760" y="6126480"/>
            <a:ext cx="11430000" cy="457200"/>
          </a:xfrm>
          <a:prstGeom prst="rect">
            <a:avLst/>
          </a:prstGeom>
          <a:noFill/>
          <a:ln/>
        </p:spPr>
        <p:txBody>
          <a:bodyPr wrap="square" rtlCol="0" anchor="ctr"/>
          <a:lstStyle/>
          <a:p>
            <a:pPr indent="0" marL="0">
              <a:buNone/>
            </a:pPr>
            <a:r>
              <a:rPr lang="en-US" sz="1300" b="1" dirty="0">
                <a:solidFill>
                  <a:srgbClr val="FF6B00"/>
                </a:solidFill>
                <a:latin typeface="Calibri" pitchFamily="34" charset="0"/>
                <a:ea typeface="Calibri" pitchFamily="34" charset="-122"/>
                <a:cs typeface="Calibri" pitchFamily="34" charset="-120"/>
              </a:rPr>
              <a:t>Por qué Vercel y no otra opción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365760" y="320040"/>
            <a:ext cx="2286000" cy="502920"/>
          </a:xfrm>
          <a:prstGeom prst="rect">
            <a:avLst/>
          </a:prstGeom>
          <a:solidFill>
            <a:srgbClr val="FF0000"/>
          </a:solidFill>
          <a:ln/>
        </p:spPr>
      </p:sp>
      <p:sp>
        <p:nvSpPr>
          <p:cNvPr id="4" name="Text 2"/>
          <p:cNvSpPr/>
          <p:nvPr/>
        </p:nvSpPr>
        <p:spPr>
          <a:xfrm>
            <a:off x="365760" y="320040"/>
            <a:ext cx="2286000" cy="502920"/>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 EN VIVO</a:t>
            </a:r>
            <a:endParaRPr lang="en-US" sz="1400" dirty="0"/>
          </a:p>
        </p:txBody>
      </p:sp>
      <p:sp>
        <p:nvSpPr>
          <p:cNvPr id="5" name="Text 3"/>
          <p:cNvSpPr/>
          <p:nvPr/>
        </p:nvSpPr>
        <p:spPr>
          <a:xfrm>
            <a:off x="365760" y="960120"/>
            <a:ext cx="11430000" cy="1280160"/>
          </a:xfrm>
          <a:prstGeom prst="rect">
            <a:avLst/>
          </a:prstGeom>
          <a:noFill/>
          <a:ln/>
        </p:spPr>
        <p:txBody>
          <a:bodyPr wrap="square" rtlCol="0" anchor="ctr"/>
          <a:lstStyle/>
          <a:p>
            <a:pPr algn="l" indent="0" marL="0">
              <a:buNone/>
            </a:pPr>
            <a:r>
              <a:rPr lang="en-US" sz="3600" b="1" dirty="0">
                <a:solidFill>
                  <a:srgbClr val="FFFFFF"/>
                </a:solidFill>
                <a:latin typeface="Arial Black" pitchFamily="34" charset="0"/>
                <a:ea typeface="Arial Black" pitchFamily="34" charset="-122"/>
                <a:cs typeface="Arial Black" pitchFamily="34" charset="-120"/>
              </a:rPr>
              <a:t>Demo en vivo: de brief a URL en 20 minutos</a:t>
            </a:r>
            <a:endParaRPr lang="en-US" sz="3600" dirty="0"/>
          </a:p>
        </p:txBody>
      </p:sp>
      <p:sp>
        <p:nvSpPr>
          <p:cNvPr id="6" name="Text 4"/>
          <p:cNvSpPr/>
          <p:nvPr/>
        </p:nvSpPr>
        <p:spPr>
          <a:xfrm>
            <a:off x="365760" y="2377440"/>
            <a:ext cx="11430000" cy="594360"/>
          </a:xfrm>
          <a:prstGeom prst="rect">
            <a:avLst/>
          </a:prstGeom>
          <a:noFill/>
          <a:ln/>
        </p:spPr>
        <p:txBody>
          <a:bodyPr wrap="square" rtlCol="0" anchor="ctr"/>
          <a:lstStyle/>
          <a:p>
            <a:pPr indent="0" marL="0">
              <a:buNone/>
            </a:pPr>
            <a:r>
              <a:rPr lang="en-US" sz="1600" i="1" dirty="0">
                <a:solidFill>
                  <a:srgbClr val="EEFF89"/>
                </a:solidFill>
                <a:latin typeface="Calibri" pitchFamily="34" charset="0"/>
                <a:ea typeface="Calibri" pitchFamily="34" charset="-122"/>
                <a:cs typeface="Calibri" pitchFamily="34" charset="-120"/>
              </a:rPr>
              <a:t>Producto de ejemplo → brief completo → Claude Code genera el HTML → Vercel publica la URL</a:t>
            </a:r>
            <a:endParaRPr lang="en-US" sz="1600" dirty="0"/>
          </a:p>
        </p:txBody>
      </p:sp>
      <p:sp>
        <p:nvSpPr>
          <p:cNvPr id="7" name="Shape 5"/>
          <p:cNvSpPr/>
          <p:nvPr/>
        </p:nvSpPr>
        <p:spPr>
          <a:xfrm>
            <a:off x="365760" y="3108960"/>
            <a:ext cx="11430000" cy="713232"/>
          </a:xfrm>
          <a:prstGeom prst="rect">
            <a:avLst/>
          </a:prstGeom>
          <a:solidFill>
            <a:srgbClr val="1A1A1A"/>
          </a:solidFill>
          <a:ln w="12700">
            <a:solidFill>
              <a:srgbClr val="FF6B00"/>
            </a:solidFill>
            <a:prstDash val="solid"/>
          </a:ln>
        </p:spPr>
      </p:sp>
      <p:sp>
        <p:nvSpPr>
          <p:cNvPr id="8" name="Shape 6"/>
          <p:cNvSpPr/>
          <p:nvPr/>
        </p:nvSpPr>
        <p:spPr>
          <a:xfrm>
            <a:off x="365760" y="3108960"/>
            <a:ext cx="594360" cy="713232"/>
          </a:xfrm>
          <a:prstGeom prst="rect">
            <a:avLst/>
          </a:prstGeom>
          <a:solidFill>
            <a:srgbClr val="FF6B00"/>
          </a:solidFill>
          <a:ln/>
        </p:spPr>
      </p:sp>
      <p:sp>
        <p:nvSpPr>
          <p:cNvPr id="9" name="Text 7"/>
          <p:cNvSpPr/>
          <p:nvPr/>
        </p:nvSpPr>
        <p:spPr>
          <a:xfrm>
            <a:off x="365760" y="3108960"/>
            <a:ext cx="594360" cy="71323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10" name="Text 8"/>
          <p:cNvSpPr/>
          <p:nvPr/>
        </p:nvSpPr>
        <p:spPr>
          <a:xfrm>
            <a:off x="1051560" y="3154680"/>
            <a:ext cx="10698480" cy="62179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Completar los 7 campos del brief con el producto de ejemplo</a:t>
            </a:r>
            <a:endParaRPr lang="en-US" sz="1400" dirty="0"/>
          </a:p>
        </p:txBody>
      </p:sp>
      <p:sp>
        <p:nvSpPr>
          <p:cNvPr id="11" name="Shape 9"/>
          <p:cNvSpPr/>
          <p:nvPr/>
        </p:nvSpPr>
        <p:spPr>
          <a:xfrm>
            <a:off x="365760" y="3913632"/>
            <a:ext cx="11430000" cy="713232"/>
          </a:xfrm>
          <a:prstGeom prst="rect">
            <a:avLst/>
          </a:prstGeom>
          <a:solidFill>
            <a:srgbClr val="222222"/>
          </a:solidFill>
          <a:ln w="12700">
            <a:solidFill>
              <a:srgbClr val="FF6B00"/>
            </a:solidFill>
            <a:prstDash val="solid"/>
          </a:ln>
        </p:spPr>
      </p:sp>
      <p:sp>
        <p:nvSpPr>
          <p:cNvPr id="12" name="Shape 10"/>
          <p:cNvSpPr/>
          <p:nvPr/>
        </p:nvSpPr>
        <p:spPr>
          <a:xfrm>
            <a:off x="365760" y="3913632"/>
            <a:ext cx="594360" cy="713232"/>
          </a:xfrm>
          <a:prstGeom prst="rect">
            <a:avLst/>
          </a:prstGeom>
          <a:solidFill>
            <a:srgbClr val="FF6B00"/>
          </a:solidFill>
          <a:ln/>
        </p:spPr>
      </p:sp>
      <p:sp>
        <p:nvSpPr>
          <p:cNvPr id="13" name="Text 11"/>
          <p:cNvSpPr/>
          <p:nvPr/>
        </p:nvSpPr>
        <p:spPr>
          <a:xfrm>
            <a:off x="365760" y="3913632"/>
            <a:ext cx="594360" cy="71323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4" name="Text 12"/>
          <p:cNvSpPr/>
          <p:nvPr/>
        </p:nvSpPr>
        <p:spPr>
          <a:xfrm>
            <a:off x="1051560" y="3959352"/>
            <a:ext cx="10698480" cy="62179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Pegar el prompt completo en Claude Code → esperar 2–4 minutos</a:t>
            </a:r>
            <a:endParaRPr lang="en-US" sz="1400" dirty="0"/>
          </a:p>
        </p:txBody>
      </p:sp>
      <p:sp>
        <p:nvSpPr>
          <p:cNvPr id="15" name="Shape 13"/>
          <p:cNvSpPr/>
          <p:nvPr/>
        </p:nvSpPr>
        <p:spPr>
          <a:xfrm>
            <a:off x="365760" y="4718304"/>
            <a:ext cx="11430000" cy="713232"/>
          </a:xfrm>
          <a:prstGeom prst="rect">
            <a:avLst/>
          </a:prstGeom>
          <a:solidFill>
            <a:srgbClr val="1A1A1A"/>
          </a:solidFill>
          <a:ln w="12700">
            <a:solidFill>
              <a:srgbClr val="FF6B00"/>
            </a:solidFill>
            <a:prstDash val="solid"/>
          </a:ln>
        </p:spPr>
      </p:sp>
      <p:sp>
        <p:nvSpPr>
          <p:cNvPr id="16" name="Shape 14"/>
          <p:cNvSpPr/>
          <p:nvPr/>
        </p:nvSpPr>
        <p:spPr>
          <a:xfrm>
            <a:off x="365760" y="4718304"/>
            <a:ext cx="594360" cy="713232"/>
          </a:xfrm>
          <a:prstGeom prst="rect">
            <a:avLst/>
          </a:prstGeom>
          <a:solidFill>
            <a:srgbClr val="FF6B00"/>
          </a:solidFill>
          <a:ln/>
        </p:spPr>
      </p:sp>
      <p:sp>
        <p:nvSpPr>
          <p:cNvPr id="17" name="Text 15"/>
          <p:cNvSpPr/>
          <p:nvPr/>
        </p:nvSpPr>
        <p:spPr>
          <a:xfrm>
            <a:off x="365760" y="4718304"/>
            <a:ext cx="594360" cy="71323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8" name="Text 16"/>
          <p:cNvSpPr/>
          <p:nvPr/>
        </p:nvSpPr>
        <p:spPr>
          <a:xfrm>
            <a:off x="1051560" y="4764024"/>
            <a:ext cx="10698480" cy="62179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Revisar la landing en el navegador → verificar H1, beneficios, CTA</a:t>
            </a:r>
            <a:endParaRPr lang="en-US" sz="1400" dirty="0"/>
          </a:p>
        </p:txBody>
      </p:sp>
      <p:sp>
        <p:nvSpPr>
          <p:cNvPr id="19" name="Shape 17"/>
          <p:cNvSpPr/>
          <p:nvPr/>
        </p:nvSpPr>
        <p:spPr>
          <a:xfrm>
            <a:off x="365760" y="5522976"/>
            <a:ext cx="11430000" cy="713232"/>
          </a:xfrm>
          <a:prstGeom prst="rect">
            <a:avLst/>
          </a:prstGeom>
          <a:solidFill>
            <a:srgbClr val="222222"/>
          </a:solidFill>
          <a:ln w="12700">
            <a:solidFill>
              <a:srgbClr val="FF6B00"/>
            </a:solidFill>
            <a:prstDash val="solid"/>
          </a:ln>
        </p:spPr>
      </p:sp>
      <p:sp>
        <p:nvSpPr>
          <p:cNvPr id="20" name="Shape 18"/>
          <p:cNvSpPr/>
          <p:nvPr/>
        </p:nvSpPr>
        <p:spPr>
          <a:xfrm>
            <a:off x="365760" y="5522976"/>
            <a:ext cx="594360" cy="713232"/>
          </a:xfrm>
          <a:prstGeom prst="rect">
            <a:avLst/>
          </a:prstGeom>
          <a:solidFill>
            <a:srgbClr val="FF6B00"/>
          </a:solidFill>
          <a:ln/>
        </p:spPr>
      </p:sp>
      <p:sp>
        <p:nvSpPr>
          <p:cNvPr id="21" name="Text 19"/>
          <p:cNvSpPr/>
          <p:nvPr/>
        </p:nvSpPr>
        <p:spPr>
          <a:xfrm>
            <a:off x="365760" y="5522976"/>
            <a:ext cx="594360" cy="71323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22" name="Text 20"/>
          <p:cNvSpPr/>
          <p:nvPr/>
        </p:nvSpPr>
        <p:spPr>
          <a:xfrm>
            <a:off x="1051560" y="5568696"/>
            <a:ext cx="10698480" cy="62179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Arrastrar la carpeta a Vercel → hacer clic en Deploy</a:t>
            </a:r>
            <a:endParaRPr lang="en-US" sz="1400" dirty="0"/>
          </a:p>
        </p:txBody>
      </p:sp>
      <p:sp>
        <p:nvSpPr>
          <p:cNvPr id="23" name="Shape 21"/>
          <p:cNvSpPr/>
          <p:nvPr/>
        </p:nvSpPr>
        <p:spPr>
          <a:xfrm>
            <a:off x="365760" y="6327648"/>
            <a:ext cx="11430000" cy="713232"/>
          </a:xfrm>
          <a:prstGeom prst="rect">
            <a:avLst/>
          </a:prstGeom>
          <a:solidFill>
            <a:srgbClr val="1A1A1A"/>
          </a:solidFill>
          <a:ln w="12700">
            <a:solidFill>
              <a:srgbClr val="FF6B00"/>
            </a:solidFill>
            <a:prstDash val="solid"/>
          </a:ln>
        </p:spPr>
      </p:sp>
      <p:sp>
        <p:nvSpPr>
          <p:cNvPr id="24" name="Shape 22"/>
          <p:cNvSpPr/>
          <p:nvPr/>
        </p:nvSpPr>
        <p:spPr>
          <a:xfrm>
            <a:off x="365760" y="6327648"/>
            <a:ext cx="594360" cy="713232"/>
          </a:xfrm>
          <a:prstGeom prst="rect">
            <a:avLst/>
          </a:prstGeom>
          <a:solidFill>
            <a:srgbClr val="FF6B00"/>
          </a:solidFill>
          <a:ln/>
        </p:spPr>
      </p:sp>
      <p:sp>
        <p:nvSpPr>
          <p:cNvPr id="25" name="Text 23"/>
          <p:cNvSpPr/>
          <p:nvPr/>
        </p:nvSpPr>
        <p:spPr>
          <a:xfrm>
            <a:off x="365760" y="6327648"/>
            <a:ext cx="594360" cy="71323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26" name="Text 24"/>
          <p:cNvSpPr/>
          <p:nvPr/>
        </p:nvSpPr>
        <p:spPr>
          <a:xfrm>
            <a:off x="1051560" y="6373368"/>
            <a:ext cx="10698480" cy="621792"/>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Compartir la URL en el chat del curso — la landing está viva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FF0000"/>
          </a:solidFill>
          <a:ln/>
        </p:spPr>
      </p:sp>
      <p:sp>
        <p:nvSpPr>
          <p:cNvPr id="3" name="Text 1"/>
          <p:cNvSpPr/>
          <p:nvPr/>
        </p:nvSpPr>
        <p:spPr>
          <a:xfrm>
            <a:off x="365760" y="109728"/>
            <a:ext cx="11430000" cy="786384"/>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Antes y después: cómo publicas un experimento</a:t>
            </a:r>
            <a:endParaRPr lang="en-US" sz="2800" dirty="0"/>
          </a:p>
        </p:txBody>
      </p:sp>
      <p:sp>
        <p:nvSpPr>
          <p:cNvPr id="4" name="Shape 2"/>
          <p:cNvSpPr/>
          <p:nvPr/>
        </p:nvSpPr>
        <p:spPr>
          <a:xfrm>
            <a:off x="274320" y="1143000"/>
            <a:ext cx="5486400" cy="594360"/>
          </a:xfrm>
          <a:prstGeom prst="rect">
            <a:avLst/>
          </a:prstGeom>
          <a:solidFill>
            <a:srgbClr val="555555"/>
          </a:solidFill>
          <a:ln/>
        </p:spPr>
      </p:sp>
      <p:sp>
        <p:nvSpPr>
          <p:cNvPr id="5" name="Text 3"/>
          <p:cNvSpPr/>
          <p:nvPr/>
        </p:nvSpPr>
        <p:spPr>
          <a:xfrm>
            <a:off x="411480" y="1188720"/>
            <a:ext cx="5212080" cy="50292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ANTES (sin Claude Code)</a:t>
            </a:r>
            <a:endParaRPr lang="en-US" sz="1800" dirty="0"/>
          </a:p>
        </p:txBody>
      </p:sp>
      <p:sp>
        <p:nvSpPr>
          <p:cNvPr id="6" name="Shape 4"/>
          <p:cNvSpPr/>
          <p:nvPr/>
        </p:nvSpPr>
        <p:spPr>
          <a:xfrm>
            <a:off x="274320" y="1737360"/>
            <a:ext cx="5486400" cy="4800600"/>
          </a:xfrm>
          <a:prstGeom prst="rect">
            <a:avLst/>
          </a:prstGeom>
          <a:solidFill>
            <a:srgbClr val="F0F0F0"/>
          </a:solidFill>
          <a:ln/>
        </p:spPr>
      </p:sp>
      <p:sp>
        <p:nvSpPr>
          <p:cNvPr id="7" name="Text 5"/>
          <p:cNvSpPr/>
          <p:nvPr/>
        </p:nvSpPr>
        <p:spPr>
          <a:xfrm>
            <a:off x="457200" y="1920240"/>
            <a:ext cx="5120640" cy="4389120"/>
          </a:xfrm>
          <a:prstGeom prst="rect">
            <a:avLst/>
          </a:prstGeom>
          <a:noFill/>
          <a:ln/>
        </p:spPr>
        <p:txBody>
          <a:bodyPr wrap="square" rtlCol="0" anchor="ctr"/>
          <a:lstStyle/>
          <a:p>
            <a:pPr>
              <a:spcAft>
                <a:spcPts val="1000"/>
              </a:spcAft>
            </a:pPr>
            <a:r>
              <a:rPr lang="en-US" sz="1400" dirty="0">
                <a:solidFill>
                  <a:srgbClr val="444444"/>
                </a:solidFill>
                <a:latin typeface="Calibri" pitchFamily="34" charset="0"/>
                <a:ea typeface="Calibri" pitchFamily="34" charset="-122"/>
                <a:cs typeface="Calibri" pitchFamily="34" charset="-120"/>
              </a:rPr>
              <a:t>Tienes la idea → abres Jira o el chat del dev</a:t>
            </a:r>
            <a:endParaRPr lang="en-US" sz="1400" dirty="0"/>
          </a:p>
          <a:p>
            <a:pPr>
              <a:spcAft>
                <a:spcPts val="1000"/>
              </a:spcAft>
            </a:pPr>
            <a:r>
              <a:rPr lang="en-US" sz="1400" dirty="0">
                <a:solidFill>
                  <a:srgbClr val="444444"/>
                </a:solidFill>
                <a:latin typeface="Calibri" pitchFamily="34" charset="0"/>
                <a:ea typeface="Calibri" pitchFamily="34" charset="-122"/>
                <a:cs typeface="Calibri" pitchFamily="34" charset="-120"/>
              </a:rPr>
              <a:t>Escribes el brief → esperas que el dev tenga slot</a:t>
            </a:r>
            <a:endParaRPr lang="en-US" sz="1400" dirty="0"/>
          </a:p>
          <a:p>
            <a:pPr>
              <a:spcAft>
                <a:spcPts val="1000"/>
              </a:spcAft>
            </a:pPr>
            <a:r>
              <a:rPr lang="en-US" sz="1400" dirty="0">
                <a:solidFill>
                  <a:srgbClr val="444444"/>
                </a:solidFill>
                <a:latin typeface="Calibri" pitchFamily="34" charset="0"/>
                <a:ea typeface="Calibri" pitchFamily="34" charset="-122"/>
                <a:cs typeface="Calibri" pitchFamily="34" charset="-120"/>
              </a:rPr>
              <a:t>Primera versión: 3–5 días hábiles</a:t>
            </a:r>
            <a:endParaRPr lang="en-US" sz="1400" dirty="0"/>
          </a:p>
          <a:p>
            <a:pPr>
              <a:spcAft>
                <a:spcPts val="1000"/>
              </a:spcAft>
            </a:pPr>
            <a:r>
              <a:rPr lang="en-US" sz="1400" dirty="0">
                <a:solidFill>
                  <a:srgbClr val="444444"/>
                </a:solidFill>
                <a:latin typeface="Calibri" pitchFamily="34" charset="0"/>
                <a:ea typeface="Calibri" pitchFamily="34" charset="-122"/>
                <a:cs typeface="Calibri" pitchFamily="34" charset="-120"/>
              </a:rPr>
              <a:t>Revisiones: 1–2 rondas más de espera</a:t>
            </a:r>
            <a:endParaRPr lang="en-US" sz="1400" dirty="0"/>
          </a:p>
          <a:p>
            <a:pPr>
              <a:spcAft>
                <a:spcPts val="1000"/>
              </a:spcAft>
            </a:pPr>
            <a:r>
              <a:rPr lang="en-US" sz="1400" dirty="0">
                <a:solidFill>
                  <a:srgbClr val="444444"/>
                </a:solidFill>
                <a:latin typeface="Calibri" pitchFamily="34" charset="0"/>
                <a:ea typeface="Calibri" pitchFamily="34" charset="-122"/>
                <a:cs typeface="Calibri" pitchFamily="34" charset="-120"/>
              </a:rPr>
              <a:t>Deploy: otro ticket, otro tiempo</a:t>
            </a:r>
            <a:endParaRPr lang="en-US" sz="1400" dirty="0"/>
          </a:p>
          <a:p>
            <a:pPr>
              <a:spcAft>
                <a:spcPts val="1000"/>
              </a:spcAft>
            </a:pPr>
            <a:r>
              <a:rPr lang="en-US" sz="1400" dirty="0">
                <a:solidFill>
                  <a:srgbClr val="444444"/>
                </a:solidFill>
                <a:latin typeface="Calibri" pitchFamily="34" charset="0"/>
                <a:ea typeface="Calibri" pitchFamily="34" charset="-122"/>
                <a:cs typeface="Calibri" pitchFamily="34" charset="-120"/>
              </a:rPr>
              <a:t>Total: 2–3 semanas para probar una hipótesis</a:t>
            </a:r>
            <a:endParaRPr lang="en-US" sz="1400" dirty="0"/>
          </a:p>
        </p:txBody>
      </p:sp>
      <p:sp>
        <p:nvSpPr>
          <p:cNvPr id="8" name="Shape 6"/>
          <p:cNvSpPr/>
          <p:nvPr/>
        </p:nvSpPr>
        <p:spPr>
          <a:xfrm>
            <a:off x="6400800" y="1143000"/>
            <a:ext cx="5486400" cy="594360"/>
          </a:xfrm>
          <a:prstGeom prst="rect">
            <a:avLst/>
          </a:prstGeom>
          <a:solidFill>
            <a:srgbClr val="FF6B00"/>
          </a:solidFill>
          <a:ln/>
        </p:spPr>
      </p:sp>
      <p:sp>
        <p:nvSpPr>
          <p:cNvPr id="9" name="Text 7"/>
          <p:cNvSpPr/>
          <p:nvPr/>
        </p:nvSpPr>
        <p:spPr>
          <a:xfrm>
            <a:off x="6537960" y="1188720"/>
            <a:ext cx="5212080" cy="50292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AHORA (con Claude Code + Vercel)</a:t>
            </a:r>
            <a:endParaRPr lang="en-US" sz="1800" dirty="0"/>
          </a:p>
        </p:txBody>
      </p:sp>
      <p:sp>
        <p:nvSpPr>
          <p:cNvPr id="10" name="Shape 8"/>
          <p:cNvSpPr/>
          <p:nvPr/>
        </p:nvSpPr>
        <p:spPr>
          <a:xfrm>
            <a:off x="6400800" y="1737360"/>
            <a:ext cx="5486400" cy="4800600"/>
          </a:xfrm>
          <a:prstGeom prst="rect">
            <a:avLst/>
          </a:prstGeom>
          <a:solidFill>
            <a:srgbClr val="FFFEF0"/>
          </a:solidFill>
          <a:ln w="25400">
            <a:solidFill>
              <a:srgbClr val="FF6B00"/>
            </a:solidFill>
            <a:prstDash val="solid"/>
          </a:ln>
        </p:spPr>
      </p:sp>
      <p:sp>
        <p:nvSpPr>
          <p:cNvPr id="11" name="Text 9"/>
          <p:cNvSpPr/>
          <p:nvPr/>
        </p:nvSpPr>
        <p:spPr>
          <a:xfrm>
            <a:off x="6583680" y="1920240"/>
            <a:ext cx="5120640" cy="4389120"/>
          </a:xfrm>
          <a:prstGeom prst="rect">
            <a:avLst/>
          </a:prstGeom>
          <a:noFill/>
          <a:ln/>
        </p:spPr>
        <p:txBody>
          <a:bodyPr wrap="square" rtlCol="0" anchor="ctr"/>
          <a:lstStyle/>
          <a:p>
            <a:pPr>
              <a:spcAft>
                <a:spcPts val="1000"/>
              </a:spcAft>
            </a:pPr>
            <a:r>
              <a:rPr lang="en-US" sz="1400" dirty="0">
                <a:solidFill>
                  <a:srgbClr val="000000"/>
                </a:solidFill>
                <a:latin typeface="Calibri" pitchFamily="34" charset="0"/>
                <a:ea typeface="Calibri" pitchFamily="34" charset="-122"/>
                <a:cs typeface="Calibri" pitchFamily="34" charset="-120"/>
              </a:rPr>
              <a:t>Tienes la idea → llenas el brief en 5 minutos</a:t>
            </a:r>
            <a:endParaRPr lang="en-US" sz="1400" dirty="0"/>
          </a:p>
          <a:p>
            <a:pPr>
              <a:spcAft>
                <a:spcPts val="1000"/>
              </a:spcAft>
            </a:pPr>
            <a:r>
              <a:rPr lang="en-US" sz="1400" dirty="0">
                <a:solidFill>
                  <a:srgbClr val="000000"/>
                </a:solidFill>
                <a:latin typeface="Calibri" pitchFamily="34" charset="0"/>
                <a:ea typeface="Calibri" pitchFamily="34" charset="-122"/>
                <a:cs typeface="Calibri" pitchFamily="34" charset="-120"/>
              </a:rPr>
              <a:t>Pegas el prompt en Claude Code → 3 minutos</a:t>
            </a:r>
            <a:endParaRPr lang="en-US" sz="1400" dirty="0"/>
          </a:p>
          <a:p>
            <a:pPr>
              <a:spcAft>
                <a:spcPts val="1000"/>
              </a:spcAft>
            </a:pPr>
            <a:r>
              <a:rPr lang="en-US" sz="1400" dirty="0">
                <a:solidFill>
                  <a:srgbClr val="000000"/>
                </a:solidFill>
                <a:latin typeface="Calibri" pitchFamily="34" charset="0"/>
                <a:ea typeface="Calibri" pitchFamily="34" charset="-122"/>
                <a:cs typeface="Calibri" pitchFamily="34" charset="-120"/>
              </a:rPr>
              <a:t>Revisas la landing en el navegador → ok</a:t>
            </a:r>
            <a:endParaRPr lang="en-US" sz="1400" dirty="0"/>
          </a:p>
          <a:p>
            <a:pPr>
              <a:spcAft>
                <a:spcPts val="1000"/>
              </a:spcAft>
            </a:pPr>
            <a:r>
              <a:rPr lang="en-US" sz="1400" dirty="0">
                <a:solidFill>
                  <a:srgbClr val="000000"/>
                </a:solidFill>
                <a:latin typeface="Calibri" pitchFamily="34" charset="0"/>
                <a:ea typeface="Calibri" pitchFamily="34" charset="-122"/>
                <a:cs typeface="Calibri" pitchFamily="34" charset="-120"/>
              </a:rPr>
              <a:t>Arrastras a Vercel → 60 segundos de deploy</a:t>
            </a:r>
            <a:endParaRPr lang="en-US" sz="1400" dirty="0"/>
          </a:p>
          <a:p>
            <a:pPr>
              <a:spcAft>
                <a:spcPts val="1000"/>
              </a:spcAft>
            </a:pPr>
            <a:r>
              <a:rPr lang="en-US" sz="1400" dirty="0">
                <a:solidFill>
                  <a:srgbClr val="000000"/>
                </a:solidFill>
                <a:latin typeface="Calibri" pitchFamily="34" charset="0"/>
                <a:ea typeface="Calibri" pitchFamily="34" charset="-122"/>
                <a:cs typeface="Calibri" pitchFamily="34" charset="-120"/>
              </a:rPr>
              <a:t>URL lista → mandas tráfico y mides</a:t>
            </a:r>
            <a:endParaRPr lang="en-US" sz="1400" dirty="0"/>
          </a:p>
          <a:p>
            <a:pPr>
              <a:spcAft>
                <a:spcPts val="1000"/>
              </a:spcAft>
            </a:pPr>
            <a:r>
              <a:rPr lang="en-US" sz="1400" dirty="0">
                <a:solidFill>
                  <a:srgbClr val="000000"/>
                </a:solidFill>
                <a:latin typeface="Calibri" pitchFamily="34" charset="0"/>
                <a:ea typeface="Calibri" pitchFamily="34" charset="-122"/>
                <a:cs typeface="Calibri" pitchFamily="34" charset="-120"/>
              </a:rPr>
              <a:t>Total: 10 minutos para probar la hipótesis</a:t>
            </a:r>
            <a:endParaRPr lang="en-US" sz="1400" dirty="0"/>
          </a:p>
        </p:txBody>
      </p:sp>
      <p:sp>
        <p:nvSpPr>
          <p:cNvPr id="12" name="Shape 10"/>
          <p:cNvSpPr/>
          <p:nvPr/>
        </p:nvSpPr>
        <p:spPr>
          <a:xfrm>
            <a:off x="5760720" y="3474720"/>
            <a:ext cx="640080" cy="0"/>
          </a:xfrm>
          <a:prstGeom prst="rect">
            <a:avLst/>
          </a:prstGeom>
          <a:solidFill>
            <a:srgbClr val="FF0000"/>
          </a:solidFill>
          <a:ln/>
        </p:spPr>
      </p:sp>
      <p:sp>
        <p:nvSpPr>
          <p:cNvPr id="13" name="Text 11"/>
          <p:cNvSpPr/>
          <p:nvPr/>
        </p:nvSpPr>
        <p:spPr>
          <a:xfrm>
            <a:off x="5623560" y="3108960"/>
            <a:ext cx="914400" cy="731520"/>
          </a:xfrm>
          <a:prstGeom prst="rect">
            <a:avLst/>
          </a:prstGeom>
          <a:noFill/>
          <a:ln/>
        </p:spPr>
        <p:txBody>
          <a:bodyPr wrap="square" rtlCol="0" anchor="ctr"/>
          <a:lstStyle/>
          <a:p>
            <a:pPr algn="ctr" indent="0" marL="0">
              <a:buNone/>
            </a:pPr>
            <a:r>
              <a:rPr lang="en-US" sz="3600" dirty="0">
                <a:solidFill>
                  <a:srgbClr val="FF0000"/>
                </a:solidFill>
                <a:latin typeface="Arial Black" pitchFamily="34" charset="0"/>
                <a:ea typeface="Arial Black" pitchFamily="34" charset="-122"/>
                <a:cs typeface="Arial Black" pitchFamily="34" charset="-120"/>
              </a:rPr>
              <a:t>→</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Text 1"/>
          <p:cNvSpPr/>
          <p:nvPr/>
        </p:nvSpPr>
        <p:spPr>
          <a:xfrm>
            <a:off x="548640" y="411480"/>
            <a:ext cx="4572000" cy="457200"/>
          </a:xfrm>
          <a:prstGeom prst="rect">
            <a:avLst/>
          </a:prstGeom>
          <a:noFill/>
          <a:ln/>
        </p:spPr>
        <p:txBody>
          <a:bodyPr wrap="square" rtlCol="0" anchor="ctr"/>
          <a:lstStyle/>
          <a:p>
            <a:pPr indent="0" marL="0">
              <a:buNone/>
            </a:pPr>
            <a:r>
              <a:rPr lang="en-US" sz="1400" b="1" dirty="0">
                <a:solidFill>
                  <a:srgbClr val="FF0000"/>
                </a:solidFill>
                <a:latin typeface="Arial Black" pitchFamily="34" charset="0"/>
                <a:ea typeface="Arial Black" pitchFamily="34" charset="-122"/>
                <a:cs typeface="Arial Black" pitchFamily="34" charset="-120"/>
              </a:rPr>
              <a:t>ENTREGABLE</a:t>
            </a:r>
            <a:endParaRPr lang="en-US" sz="1400" dirty="0"/>
          </a:p>
        </p:txBody>
      </p:sp>
      <p:sp>
        <p:nvSpPr>
          <p:cNvPr id="4" name="Text 2"/>
          <p:cNvSpPr/>
          <p:nvPr/>
        </p:nvSpPr>
        <p:spPr>
          <a:xfrm>
            <a:off x="548640" y="1005840"/>
            <a:ext cx="10972800" cy="1828800"/>
          </a:xfrm>
          <a:prstGeom prst="rect">
            <a:avLst/>
          </a:prstGeom>
          <a:noFill/>
          <a:ln/>
        </p:spPr>
        <p:txBody>
          <a:bodyPr wrap="square" rtlCol="0" anchor="ctr"/>
          <a:lstStyle/>
          <a:p>
            <a:pPr algn="l" indent="0" marL="0">
              <a:buNone/>
            </a:pPr>
            <a:r>
              <a:rPr lang="en-US" sz="3600" b="1" dirty="0">
                <a:solidFill>
                  <a:srgbClr val="FFFFFF"/>
                </a:solidFill>
                <a:latin typeface="Arial Black" pitchFamily="34" charset="0"/>
                <a:ea typeface="Arial Black" pitchFamily="34" charset="-122"/>
                <a:cs typeface="Arial Black" pitchFamily="34" charset="-120"/>
              </a:rPr>
              <a:t>Template de landing page</a:t>
            </a:r>
            <a:endParaRPr lang="en-US" sz="3600" dirty="0"/>
          </a:p>
          <a:p>
            <a:pPr algn="l" indent="0" marL="0">
              <a:buNone/>
            </a:pPr>
            <a:r>
              <a:rPr lang="en-US" sz="3600" b="1" dirty="0">
                <a:solidFill>
                  <a:srgbClr val="FFFFFF"/>
                </a:solidFill>
                <a:latin typeface="Arial Black" pitchFamily="34" charset="0"/>
                <a:ea typeface="Arial Black" pitchFamily="34" charset="-122"/>
                <a:cs typeface="Arial Black" pitchFamily="34" charset="-120"/>
              </a:rPr>
              <a:t>de experimento</a:t>
            </a:r>
            <a:endParaRPr lang="en-US" sz="3600" dirty="0"/>
          </a:p>
        </p:txBody>
      </p:sp>
      <p:sp>
        <p:nvSpPr>
          <p:cNvPr id="5" name="Shape 3"/>
          <p:cNvSpPr/>
          <p:nvPr/>
        </p:nvSpPr>
        <p:spPr>
          <a:xfrm>
            <a:off x="548640" y="3017520"/>
            <a:ext cx="11064240" cy="2286000"/>
          </a:xfrm>
          <a:prstGeom prst="rect">
            <a:avLst/>
          </a:prstGeom>
          <a:solidFill>
            <a:srgbClr val="EEFF89"/>
          </a:solidFill>
          <a:ln w="25400">
            <a:solidFill>
              <a:srgbClr val="FF6B00"/>
            </a:solidFill>
            <a:prstDash val="solid"/>
          </a:ln>
        </p:spPr>
      </p:sp>
      <p:sp>
        <p:nvSpPr>
          <p:cNvPr id="6" name="Text 4"/>
          <p:cNvSpPr/>
          <p:nvPr/>
        </p:nvSpPr>
        <p:spPr>
          <a:xfrm>
            <a:off x="777240" y="3154680"/>
            <a:ext cx="10698480" cy="2011680"/>
          </a:xfrm>
          <a:prstGeom prst="rect">
            <a:avLst/>
          </a:prstGeom>
          <a:noFill/>
          <a:ln/>
        </p:spPr>
        <p:txBody>
          <a:bodyPr wrap="square" rtlCol="0" anchor="ctr"/>
          <a:lstStyle/>
          <a:p>
            <a:pPr algn="l" indent="0" marL="0">
              <a:buNone/>
            </a:pPr>
            <a:r>
              <a:rPr lang="en-US" sz="1500" dirty="0">
                <a:solidFill>
                  <a:srgbClr val="000000"/>
                </a:solidFill>
                <a:latin typeface="Calibri" pitchFamily="34" charset="0"/>
                <a:ea typeface="Calibri" pitchFamily="34" charset="-122"/>
                <a:cs typeface="Calibri" pitchFamily="34" charset="-120"/>
              </a:rPr>
              <a:t>ENTREGABLE:</a:t>
            </a:r>
            <a:endParaRPr lang="en-US" sz="1500" dirty="0"/>
          </a:p>
          <a:p>
            <a:pPr algn="l" indent="0" marL="0">
              <a:buNone/>
            </a:pPr>
            <a:r>
              <a:rPr lang="en-US" sz="1500" dirty="0">
                <a:solidFill>
                  <a:srgbClr val="000000"/>
                </a:solidFill>
                <a:latin typeface="Calibri" pitchFamily="34" charset="0"/>
                <a:ea typeface="Calibri" pitchFamily="34" charset="-122"/>
                <a:cs typeface="Calibri" pitchFamily="34" charset="-120"/>
              </a:rPr>
              <a:t>✓ Plantilla de brief de 7 campos lista para llenar con tu producto</a:t>
            </a:r>
            <a:endParaRPr lang="en-US" sz="1500" dirty="0"/>
          </a:p>
          <a:p>
            <a:pPr algn="l" indent="0" marL="0">
              <a:buNone/>
            </a:pPr>
            <a:r>
              <a:rPr lang="en-US" sz="1500" dirty="0">
                <a:solidFill>
                  <a:srgbClr val="000000"/>
                </a:solidFill>
                <a:latin typeface="Calibri" pitchFamily="34" charset="0"/>
                <a:ea typeface="Calibri" pitchFamily="34" charset="-122"/>
                <a:cs typeface="Calibri" pitchFamily="34" charset="-120"/>
              </a:rPr>
              <a:t>✓ Prompt completo para pegar en Claude Code (genera la landing completa)</a:t>
            </a:r>
            <a:endParaRPr lang="en-US" sz="1500" dirty="0"/>
          </a:p>
          <a:p>
            <a:pPr algn="l" indent="0" marL="0">
              <a:buNone/>
            </a:pPr>
            <a:r>
              <a:rPr lang="en-US" sz="1500" dirty="0">
                <a:solidFill>
                  <a:srgbClr val="000000"/>
                </a:solidFill>
                <a:latin typeface="Calibri" pitchFamily="34" charset="0"/>
                <a:ea typeface="Calibri" pitchFamily="34" charset="-122"/>
                <a:cs typeface="Calibri" pitchFamily="34" charset="-120"/>
              </a:rPr>
              <a:t>✓ Lista de verificación antes de publicar (7 puntos)</a:t>
            </a:r>
            <a:endParaRPr lang="en-US" sz="1500" dirty="0"/>
          </a:p>
          <a:p>
            <a:pPr algn="l" indent="0" marL="0">
              <a:buNone/>
            </a:pPr>
            <a:r>
              <a:rPr lang="en-US" sz="1500" dirty="0">
                <a:solidFill>
                  <a:srgbClr val="000000"/>
                </a:solidFill>
                <a:latin typeface="Calibri" pitchFamily="34" charset="0"/>
                <a:ea typeface="Calibri" pitchFamily="34" charset="-122"/>
                <a:cs typeface="Calibri" pitchFamily="34" charset="-120"/>
              </a:rPr>
              <a:t>✓ Instrucciones de deploy en Vercel paso a paso</a:t>
            </a:r>
            <a:endParaRPr lang="en-US" sz="1500" dirty="0"/>
          </a:p>
          <a:p>
            <a:pPr algn="l" indent="0" marL="0">
              <a:buNone/>
            </a:pPr>
            <a:endParaRPr lang="en-US" sz="1500" dirty="0"/>
          </a:p>
          <a:p>
            <a:pPr algn="l" indent="0" marL="0">
              <a:buNone/>
            </a:pPr>
            <a:r>
              <a:rPr lang="en-US" sz="1500" dirty="0">
                <a:solidFill>
                  <a:srgbClr val="000000"/>
                </a:solidFill>
                <a:latin typeface="Calibri" pitchFamily="34" charset="0"/>
                <a:ea typeface="Calibri" pitchFamily="34" charset="-122"/>
                <a:cs typeface="Calibri" pitchFamily="34" charset="-120"/>
              </a:rPr>
              <a:t>TU TAREA: completa los 7 campos del brief, ejecuta el prompt en Claude Code y publica tu primera landing de experimento.</a:t>
            </a:r>
            <a:endParaRPr lang="en-US" sz="1500" dirty="0"/>
          </a:p>
        </p:txBody>
      </p:sp>
      <p:sp>
        <p:nvSpPr>
          <p:cNvPr id="7" name="Shape 5"/>
          <p:cNvSpPr/>
          <p:nvPr/>
        </p:nvSpPr>
        <p:spPr>
          <a:xfrm>
            <a:off x="0" y="6537960"/>
            <a:ext cx="12188952" cy="320040"/>
          </a:xfrm>
          <a:prstGeom prst="rect">
            <a:avLst/>
          </a:prstGeom>
          <a:solidFill>
            <a:srgbClr val="FF0000"/>
          </a:solidFill>
          <a:ln/>
        </p:spPr>
      </p:sp>
      <p:sp>
        <p:nvSpPr>
          <p:cNvPr id="8" name="Text 6"/>
          <p:cNvSpPr/>
          <p:nvPr/>
        </p:nvSpPr>
        <p:spPr>
          <a:xfrm>
            <a:off x="365760" y="6556248"/>
            <a:ext cx="10972800" cy="274320"/>
          </a:xfrm>
          <a:prstGeom prst="rect">
            <a:avLst/>
          </a:prstGeom>
          <a:noFill/>
          <a:ln/>
        </p:spPr>
        <p:txBody>
          <a:bodyPr wrap="square"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Clase 09: Automatiza tu Growth — reportes, alertas y trackers sin tocar código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2026-03-25T18:19:39Z</dcterms:created>
  <dcterms:modified xsi:type="dcterms:W3CDTF">2026-03-25T18:19:39Z</dcterms:modified>
</cp:coreProperties>
</file>