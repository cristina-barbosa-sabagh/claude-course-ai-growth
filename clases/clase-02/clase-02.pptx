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clase anterior viste que Claude puede producir outputs usables en minutos. Hoy vas a entender por qué a veces no lo hace — y cómo corregirlo en segundos.
La diferencia entre un output mediocre y un output que copias y pegas directo no está en Claude. Está en cómo le hablas.
Hay una estructura. Cinco elementos. Y cuando los dominas, el output de Claude cambia de categoría.
Catorce minutos.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entre un output mediocre y un output que copias y pegas directo no está en Claude. Está en cómo le hablas. Hay una estructura. Cinco elementos. Y cuando los dominas, el output de Claude cambia de categoría.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darte la estructura que uso para todo. No importa si es copy de campaña, análisis de métricas o emails de onboarding. La estructura es siempre la misma. Cinco elementos. Ninguno es opcional.
El ROL calibra el nivel de razonamiento. Un rol vago produce razonamiento vago.
El CONTEXTO le da la información que necesita para no inventar supuestos.
La TAREA debe ser una sola cosa, con un verbo de acción.
El FORMATO le ahorra adivinar tu preferencia — y te ahorra reformatear manualmente.
Las RESTRICCIONES son donde eliminas el relleno. Un prompt sin restricciones le da a Claude permiso para improvisar. Y cuando improvisa, improvisa safe — que es lo opuesto a útil para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darte la estructura que uso para todo. No importa si es copy de campaña, análisis de métricas o emails de onboarding. La estructura es siempre la misma.
Elemento 1 — ROL: Le dices a Claude quién es en este contexto. No "sé un experto en marketing". Eso es demasiado vago. Sino: "Actúa como un Growth Marketer con experiencia en SaaS B2B de ciclo de venta corto, especializado en optimización de conversión en landing pages." Un rol vago produce razonamiento vago.
Elemento 2 — CONTEXTO: Le das la información que necesita para no inventar supuestos. Tres datos mínimos para Growth: Qué hace tu producto y para quién; en qué etapa está el funnel del que hablas; qué ya sabes o ya has probado. Sin CONTEXTO, Claude rellena los huecos con supuestos genéricos.
Elemento 3 — TAREA: La instrucción específica de lo que quieres que haga. Aquí está el error más común que veo: pedir dos cosas en una tarea. La TAREA debe ser una sola cosa, formulada con un verbo de acción: genera, analiza, reescribe, compara, prioriza.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Elemento 4 — FORMATO: Le dices exactamente cómo quieres el output. ¿Bullet points o párrafos? ¿Cuántas opciones? ¿Máximo de palabras? ¿Tabla o lista numerada? ¿Con o sin explicaciones? El FORMATO le ahorra a Claude adivinar tu preferencia — y te ahorra a ti reformatear el output manualmente.
Elemento 5 — RESTRICCIONES: Le dices qué NO quieres. Esto es lo más subestimado de los cinco. Las RESTRICCIONES son donde eliminas el relleno: "Sin introducciones", "Sin explicar lo obvio", "Sin usar la palabra 'innovador'", "No me des teoría — solo ejemplos accionables". Un prompt sin RESTRICCIONES le da a Claude permiso para improvisar. Y cuando improvisa, improvisa safe — que es lo opuesto a útil para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visto estas sesiones con equipos de Growth de distintas industrias. Los errores son siempre los mismos cinco.
Error 1 — El prompt de una línea: "Dame ideas de copy para mi campaña de Meta." ¿Qué falta? El ROL, el CONTEXTO, el FORMATO y las RESTRICCIONES. Solo hay TAREA — y vaga. Si tu prompt tiene menos de 5 líneas, probablemente le falta alguno de los cinco elementos.
Error 2 — Confundir cantidad con calidad: "Dame 20 ideas de headlines." El problema no es pedir 20. Es que Claude va a darte las primeras 5 buenas y rellenar las otras 15 con variaciones cada vez más mediocres. Pide 3 o 5, con criterio diferenciador.
Error 3 — Aceptar el primer output sin iterar: El primer output de Claude es el punto de partida, no el destino. La corrección: siempre da una instrucción de refinamiento en la segunda ronda.
Error 4 — Cambiar de tema sin cambiar de conversación: El problema: Claude acumula contexto de conversación y a veces confunde los marcos. La corrección: conversaciones separadas para tareas distintas.
Error 5 — No decirle a Claude cuándo está equivocado: Claude puede estar equivocado. Y si no lo corriges, el error se propaga en 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lo vemos en vivo. Voy a tomar un prompt real que me ha llegado de Chiefs of Growth — tal como lo escribieron — y lo voy a transformar en un brief de elite. Después comparo los dos outputs lado a lado.
Noten la diferencia en el output. No es sutil. Es una categoría completamente diferente.
El primer output podría ser de cualquier empresa del planeta. El segundo podría ir directamente al equipo de diseño.
Esa diferencia se hizo en menos de dos minutos de trabajo extra. Eso es el ROI del brief perfecto.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es la Plantilla de Brief Universal para Growth. Cinco campos. Quince minutos para llenarla con tu primer caso de uso.
Cuando la uses, vas a notar algo: el tiempo que tardas en escribir el brief es menor que el tiempo que tardarías revisando un output mediocre.
El brief no es overhead. Es el atajo.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es la Plantilla de Brief Universal para Growth. Cinco campos. Quince minutos para llenarla con tu primer caso de uso.
Cuando la uses, vas a notar algo: el tiempo que tardas en escribir el brief es menor que el tiempo que tardarías revisando un output mediocre.
El brief no es overhead. Es el atajo.
Clase 3: cargamos todo el contexto de tu negocio en Claude de una vez. Desde ese momento, no vas a tener que poner el CONTEXTO en cada prompt porque Claude ya lo va a 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es la Plantilla de Brief Universal para Growth. Cinco campos. Quince minutos para llenarla con tu primer caso de uso.
Clase 3: cargamos todo el contexto de tu negocio en Claude de una vez. Desde ese momento, no vas a tener que poner el CONTEXTO en cada prompt porque Claude ya lo va a tener.
Nos vemos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640080" y="502920"/>
            <a:ext cx="10972800" cy="365760"/>
          </a:xfrm>
          <a:prstGeom prst="rect">
            <a:avLst/>
          </a:prstGeom>
          <a:noFill/>
          <a:ln/>
        </p:spPr>
        <p:txBody>
          <a:bodyPr wrap="square" rtlCol="0" anchor="ctr"/>
          <a:lstStyle/>
          <a:p>
            <a:pPr algn="l" indent="0" marL="0">
              <a:buNone/>
            </a:pPr>
            <a:r>
              <a:rPr lang="en-US" sz="1300" dirty="0">
                <a:solidFill>
                  <a:srgbClr val="FF6B00"/>
                </a:solidFill>
                <a:latin typeface="Calibri" pitchFamily="34" charset="0"/>
                <a:ea typeface="Calibri" pitchFamily="34" charset="-122"/>
                <a:cs typeface="Calibri" pitchFamily="34" charset="-120"/>
              </a:rPr>
              <a:t>MÓDULO 01 · CLASE 02</a:t>
            </a:r>
            <a:endParaRPr lang="en-US" sz="1300" dirty="0"/>
          </a:p>
        </p:txBody>
      </p:sp>
      <p:sp>
        <p:nvSpPr>
          <p:cNvPr id="4" name="Text 2"/>
          <p:cNvSpPr/>
          <p:nvPr/>
        </p:nvSpPr>
        <p:spPr>
          <a:xfrm>
            <a:off x="640080" y="1188720"/>
            <a:ext cx="10881360" cy="2560320"/>
          </a:xfrm>
          <a:prstGeom prst="rect">
            <a:avLst/>
          </a:prstGeom>
          <a:noFill/>
          <a:ln/>
        </p:spPr>
        <p:txBody>
          <a:bodyPr wrap="square" rtlCol="0" anchor="t"/>
          <a:lstStyle/>
          <a:p>
            <a:pPr algn="l" indent="0" marL="0">
              <a:buNone/>
            </a:pPr>
            <a:r>
              <a:rPr lang="en-US" sz="4400" b="1" dirty="0">
                <a:solidFill>
                  <a:srgbClr val="FF0000"/>
                </a:solidFill>
                <a:latin typeface="Arial Black" pitchFamily="34" charset="0"/>
                <a:ea typeface="Arial Black" pitchFamily="34" charset="-122"/>
                <a:cs typeface="Arial Black" pitchFamily="34" charset="-120"/>
              </a:rPr>
              <a:t>El brief perfecto:</a:t>
            </a:r>
            <a:endParaRPr lang="en-US" sz="4400" dirty="0"/>
          </a:p>
          <a:p>
            <a:pPr algn="l" indent="0" marL="0">
              <a:buNone/>
            </a:pPr>
            <a:r>
              <a:rPr lang="en-US" sz="4400" b="1" dirty="0">
                <a:solidFill>
                  <a:srgbClr val="FF0000"/>
                </a:solidFill>
                <a:latin typeface="Arial Black" pitchFamily="34" charset="0"/>
                <a:ea typeface="Arial Black" pitchFamily="34" charset="-122"/>
                <a:cs typeface="Arial Black" pitchFamily="34" charset="-120"/>
              </a:rPr>
              <a:t>cómo hablarle a Claude para obtener outputs de elite</a:t>
            </a:r>
            <a:endParaRPr lang="en-US" sz="4400" dirty="0"/>
          </a:p>
        </p:txBody>
      </p:sp>
      <p:sp>
        <p:nvSpPr>
          <p:cNvPr id="5" name="Text 3"/>
          <p:cNvSpPr/>
          <p:nvPr/>
        </p:nvSpPr>
        <p:spPr>
          <a:xfrm>
            <a:off x="640080" y="4023360"/>
            <a:ext cx="9144000" cy="1645920"/>
          </a:xfrm>
          <a:prstGeom prst="rect">
            <a:avLst/>
          </a:prstGeom>
          <a:noFill/>
          <a:ln/>
        </p:spPr>
        <p:txBody>
          <a:bodyPr wrap="square" rtlCol="0" anchor="ctr"/>
          <a:lstStyle/>
          <a:p>
            <a:pPr algn="l" indent="0" marL="0">
              <a:buNone/>
            </a:pPr>
            <a:r>
              <a:rPr lang="en-US" sz="1800" dirty="0">
                <a:solidFill>
                  <a:srgbClr val="FFFFFF"/>
                </a:solidFill>
                <a:latin typeface="Calibri" pitchFamily="34" charset="0"/>
                <a:ea typeface="Calibri" pitchFamily="34" charset="-122"/>
                <a:cs typeface="Calibri" pitchFamily="34" charset="-120"/>
              </a:rPr>
              <a:t>Instructor A · 14 minutos · La estructura que separa outputs mediocres de outputs de elite</a:t>
            </a:r>
            <a:endParaRPr lang="en-US" sz="1800" dirty="0"/>
          </a:p>
        </p:txBody>
      </p:sp>
      <p:sp>
        <p:nvSpPr>
          <p:cNvPr id="6" name="Shape 4"/>
          <p:cNvSpPr/>
          <p:nvPr/>
        </p:nvSpPr>
        <p:spPr>
          <a:xfrm>
            <a:off x="0" y="6675120"/>
            <a:ext cx="12188952" cy="182880"/>
          </a:xfrm>
          <a:prstGeom prst="rect">
            <a:avLst/>
          </a:prstGeom>
          <a:solidFill>
            <a:srgbClr val="FF6B0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0" cy="6858000"/>
          </a:xfrm>
          <a:prstGeom prst="rect">
            <a:avLst/>
          </a:prstGeom>
          <a:solidFill>
            <a:srgbClr val="FF0000"/>
          </a:solidFill>
          <a:ln/>
        </p:spPr>
      </p:sp>
      <p:sp>
        <p:nvSpPr>
          <p:cNvPr id="3" name="Text 1"/>
          <p:cNvSpPr/>
          <p:nvPr/>
        </p:nvSpPr>
        <p:spPr>
          <a:xfrm>
            <a:off x="914400" y="548640"/>
            <a:ext cx="10515600" cy="457200"/>
          </a:xfrm>
          <a:prstGeom prst="rect">
            <a:avLst/>
          </a:prstGeom>
          <a:noFill/>
          <a:ln/>
        </p:spPr>
        <p:txBody>
          <a:bodyPr wrap="square" rtlCol="0" anchor="ctr"/>
          <a:lstStyle/>
          <a:p>
            <a:pPr indent="0" marL="0">
              <a:buNone/>
            </a:pPr>
            <a:r>
              <a:rPr lang="en-US" sz="1400" b="1" dirty="0">
                <a:solidFill>
                  <a:srgbClr val="FF6B00"/>
                </a:solidFill>
                <a:latin typeface="Calibri" pitchFamily="34" charset="0"/>
                <a:ea typeface="Calibri" pitchFamily="34" charset="-122"/>
                <a:cs typeface="Calibri" pitchFamily="34" charset="-120"/>
              </a:rPr>
              <a:t>LA VERDAD QUE CAMBIA TODO</a:t>
            </a:r>
            <a:endParaRPr lang="en-US" sz="1400" dirty="0"/>
          </a:p>
        </p:txBody>
      </p:sp>
      <p:sp>
        <p:nvSpPr>
          <p:cNvPr id="4" name="Shape 2"/>
          <p:cNvSpPr/>
          <p:nvPr/>
        </p:nvSpPr>
        <p:spPr>
          <a:xfrm>
            <a:off x="914400" y="1188720"/>
            <a:ext cx="10241280" cy="3840480"/>
          </a:xfrm>
          <a:prstGeom prst="rect">
            <a:avLst/>
          </a:prstGeom>
          <a:solidFill>
            <a:srgbClr val="EEFF89"/>
          </a:solidFill>
          <a:ln w="25400">
            <a:solidFill>
              <a:srgbClr val="FF6B00"/>
            </a:solidFill>
            <a:prstDash val="solid"/>
          </a:ln>
        </p:spPr>
      </p:sp>
      <p:sp>
        <p:nvSpPr>
          <p:cNvPr id="5" name="Text 3"/>
          <p:cNvSpPr/>
          <p:nvPr/>
        </p:nvSpPr>
        <p:spPr>
          <a:xfrm>
            <a:off x="1280160" y="1371600"/>
            <a:ext cx="9509760" cy="3474720"/>
          </a:xfrm>
          <a:prstGeom prst="rect">
            <a:avLst/>
          </a:prstGeom>
          <a:noFill/>
          <a:ln/>
        </p:spPr>
        <p:txBody>
          <a:bodyPr wrap="square" rtlCol="0" anchor="ctr"/>
          <a:lstStyle/>
          <a:p>
            <a:pPr algn="l" indent="0" marL="0">
              <a:buNone/>
            </a:pPr>
            <a:r>
              <a:rPr lang="en-US" sz="2200" b="1" dirty="0">
                <a:solidFill>
                  <a:srgbClr val="000000"/>
                </a:solidFill>
                <a:latin typeface="Arial Black" pitchFamily="34" charset="0"/>
                <a:ea typeface="Arial Black" pitchFamily="34" charset="-122"/>
                <a:cs typeface="Arial Black" pitchFamily="34" charset="-120"/>
              </a:rPr>
              <a:t>"La diferencia entre un output mediocre y uno que copias y pegas directo no está en Claude. Está en cómo le hablas."</a:t>
            </a:r>
            <a:endParaRPr lang="en-US" sz="2200" dirty="0"/>
          </a:p>
        </p:txBody>
      </p:sp>
      <p:sp>
        <p:nvSpPr>
          <p:cNvPr id="6" name="Text 4"/>
          <p:cNvSpPr/>
          <p:nvPr/>
        </p:nvSpPr>
        <p:spPr>
          <a:xfrm>
            <a:off x="914400" y="5212080"/>
            <a:ext cx="10241280" cy="731520"/>
          </a:xfrm>
          <a:prstGeom prst="rect">
            <a:avLst/>
          </a:prstGeom>
          <a:noFill/>
          <a:ln/>
        </p:spPr>
        <p:txBody>
          <a:bodyPr wrap="square" rtlCol="0" anchor="ctr"/>
          <a:lstStyle/>
          <a:p>
            <a:pPr algn="r" indent="0" marL="0">
              <a:buNone/>
            </a:pPr>
            <a:r>
              <a:rPr lang="en-US" sz="1400" b="1" dirty="0">
                <a:solidFill>
                  <a:srgbClr val="FF0000"/>
                </a:solidFill>
                <a:latin typeface="Calibri" pitchFamily="34" charset="0"/>
                <a:ea typeface="Calibri" pitchFamily="34" charset="-122"/>
                <a:cs typeface="Calibri" pitchFamily="34" charset="-120"/>
              </a:rPr>
              <a:t>— Clase 02 · Módulo 01</a:t>
            </a:r>
            <a:endParaRPr lang="en-US" sz="1400" dirty="0"/>
          </a:p>
        </p:txBody>
      </p:sp>
      <p:sp>
        <p:nvSpPr>
          <p:cNvPr id="7" name="Shape 5"/>
          <p:cNvSpPr/>
          <p:nvPr/>
        </p:nvSpPr>
        <p:spPr>
          <a:xfrm>
            <a:off x="0" y="6629400"/>
            <a:ext cx="12188952" cy="228600"/>
          </a:xfrm>
          <a:prstGeom prst="rect">
            <a:avLst/>
          </a:prstGeom>
          <a:solidFill>
            <a:srgbClr val="FF6B0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FF0000"/>
          </a:solidFill>
          <a:ln/>
        </p:spPr>
      </p:sp>
      <p:sp>
        <p:nvSpPr>
          <p:cNvPr id="3" name="Text 1"/>
          <p:cNvSpPr/>
          <p:nvPr/>
        </p:nvSpPr>
        <p:spPr>
          <a:xfrm>
            <a:off x="365760" y="91440"/>
            <a:ext cx="11430000" cy="8686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La estructura del brief perfecto: 5 elementos, ninguno opcional</a:t>
            </a:r>
            <a:endParaRPr lang="en-US" sz="2800" dirty="0"/>
          </a:p>
        </p:txBody>
      </p:sp>
      <p:sp>
        <p:nvSpPr>
          <p:cNvPr id="4" name="Shape 2"/>
          <p:cNvSpPr/>
          <p:nvPr/>
        </p:nvSpPr>
        <p:spPr>
          <a:xfrm>
            <a:off x="0" y="1051560"/>
            <a:ext cx="164592" cy="5806440"/>
          </a:xfrm>
          <a:prstGeom prst="rect">
            <a:avLst/>
          </a:prstGeom>
          <a:solidFill>
            <a:srgbClr val="FF6B00"/>
          </a:solidFill>
          <a:ln/>
        </p:spPr>
      </p:sp>
      <p:sp>
        <p:nvSpPr>
          <p:cNvPr id="5" name="Text 3"/>
          <p:cNvSpPr/>
          <p:nvPr/>
        </p:nvSpPr>
        <p:spPr>
          <a:xfrm>
            <a:off x="457200" y="1188720"/>
            <a:ext cx="11430000" cy="5394960"/>
          </a:xfrm>
          <a:prstGeom prst="rect">
            <a:avLst/>
          </a:prstGeom>
          <a:noFill/>
          <a:ln/>
        </p:spPr>
        <p:txBody>
          <a:bodyPr wrap="square" rtlCol="0" anchor="t"/>
          <a:lstStyle/>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ROL</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Quién es Claude en este contexto — específico, no genérico. "Growth Marketer B2B SaaS con experiencia en ciclos de venta cortos" no "experto en marketing"</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CONTEXTO</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Qué hace tu producto, para quién, en qué etapa del funnel, qué ya probaste. Sin esto, Claude rellena con supuestos genéricos.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TAREA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Un verbo de acción + qué + en qué contexto. Una sola cosa. "Analiza y recomienda" son dos tareas — sepáralas.</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FORMATO</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Número de opciones, estructura de cada una, extensión, forma de presentación (tabla, lista, bullets). El formato no es cosmético — es funcional.</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RESTRICCIONES</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Lo que NO quieres. "Sin introducciones", "Sin explicar lo obvio", "No usar: innovador, disruptivo". Las restricciones eliminan el 80% del relleno.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ROL + CONTEXTO + TAREA: los tres fundamentos</a:t>
            </a:r>
            <a:endParaRPr lang="en-US" sz="2600" dirty="0"/>
          </a:p>
        </p:txBody>
      </p:sp>
      <p:sp>
        <p:nvSpPr>
          <p:cNvPr id="4" name="Shape 2"/>
          <p:cNvSpPr/>
          <p:nvPr/>
        </p:nvSpPr>
        <p:spPr>
          <a:xfrm>
            <a:off x="274320" y="1097280"/>
            <a:ext cx="3474720" cy="640080"/>
          </a:xfrm>
          <a:prstGeom prst="rect">
            <a:avLst/>
          </a:prstGeom>
          <a:solidFill>
            <a:srgbClr val="FF0000"/>
          </a:solidFill>
          <a:ln/>
        </p:spPr>
      </p:sp>
      <p:sp>
        <p:nvSpPr>
          <p:cNvPr id="5" name="Text 3"/>
          <p:cNvSpPr/>
          <p:nvPr/>
        </p:nvSpPr>
        <p:spPr>
          <a:xfrm>
            <a:off x="274320"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ROL</a:t>
            </a:r>
            <a:endParaRPr lang="en-US" sz="1400" dirty="0"/>
          </a:p>
        </p:txBody>
      </p:sp>
      <p:sp>
        <p:nvSpPr>
          <p:cNvPr id="6" name="Shape 4"/>
          <p:cNvSpPr/>
          <p:nvPr/>
        </p:nvSpPr>
        <p:spPr>
          <a:xfrm>
            <a:off x="274320" y="1737360"/>
            <a:ext cx="3474720" cy="4846320"/>
          </a:xfrm>
          <a:prstGeom prst="rect">
            <a:avLst/>
          </a:prstGeom>
          <a:solidFill>
            <a:srgbClr val="F7F7F7"/>
          </a:solidFill>
          <a:ln/>
        </p:spPr>
      </p:sp>
      <p:sp>
        <p:nvSpPr>
          <p:cNvPr id="7" name="Text 5"/>
          <p:cNvSpPr/>
          <p:nvPr/>
        </p:nvSpPr>
        <p:spPr>
          <a:xfrm>
            <a:off x="411480"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Calibra el nivel de razonamiento de Claude</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Específico = "Growth Marketer B2B SaaS, ciclos de venta &lt;30 días"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Vago = "experto en marketing"</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El ROL ajusta vocabulario, supuestos y nivel de profundidad</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Señal: si suena como un brief de reclutamiento, está bien</a:t>
            </a:r>
            <a:endParaRPr lang="en-US" sz="1300" dirty="0"/>
          </a:p>
        </p:txBody>
      </p:sp>
      <p:sp>
        <p:nvSpPr>
          <p:cNvPr id="8" name="Shape 6"/>
          <p:cNvSpPr/>
          <p:nvPr/>
        </p:nvSpPr>
        <p:spPr>
          <a:xfrm>
            <a:off x="4361688" y="1097280"/>
            <a:ext cx="3474720" cy="640080"/>
          </a:xfrm>
          <a:prstGeom prst="rect">
            <a:avLst/>
          </a:prstGeom>
          <a:solidFill>
            <a:srgbClr val="FF6B00"/>
          </a:solidFill>
          <a:ln/>
        </p:spPr>
      </p:sp>
      <p:sp>
        <p:nvSpPr>
          <p:cNvPr id="9" name="Text 7"/>
          <p:cNvSpPr/>
          <p:nvPr/>
        </p:nvSpPr>
        <p:spPr>
          <a:xfrm>
            <a:off x="4361688"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CONTEXTO</a:t>
            </a:r>
            <a:endParaRPr lang="en-US" sz="1400" dirty="0"/>
          </a:p>
        </p:txBody>
      </p:sp>
      <p:sp>
        <p:nvSpPr>
          <p:cNvPr id="10" name="Shape 8"/>
          <p:cNvSpPr/>
          <p:nvPr/>
        </p:nvSpPr>
        <p:spPr>
          <a:xfrm>
            <a:off x="4361688" y="1737360"/>
            <a:ext cx="3474720" cy="4846320"/>
          </a:xfrm>
          <a:prstGeom prst="rect">
            <a:avLst/>
          </a:prstGeom>
          <a:solidFill>
            <a:srgbClr val="F7F7F7"/>
          </a:solidFill>
          <a:ln/>
        </p:spPr>
      </p:sp>
      <p:sp>
        <p:nvSpPr>
          <p:cNvPr id="11" name="Text 9"/>
          <p:cNvSpPr/>
          <p:nvPr/>
        </p:nvSpPr>
        <p:spPr>
          <a:xfrm>
            <a:off x="4498848"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Producto + ICP + etapa del funnel + qué ya probaste</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Sin contexto, Claude usa promedios de internet</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Los promedios de internet son inútiles para Growth específico</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Regla: si un analista nuevo lo necesitaría para hacer bien la tarea, va aquí</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Señal: Claude no hace suposiciones sobre tu ICP en el output</a:t>
            </a:r>
            <a:endParaRPr lang="en-US" sz="1300" dirty="0"/>
          </a:p>
        </p:txBody>
      </p:sp>
      <p:sp>
        <p:nvSpPr>
          <p:cNvPr id="12" name="Shape 10"/>
          <p:cNvSpPr/>
          <p:nvPr/>
        </p:nvSpPr>
        <p:spPr>
          <a:xfrm>
            <a:off x="8439912" y="1097280"/>
            <a:ext cx="3474720" cy="640080"/>
          </a:xfrm>
          <a:prstGeom prst="rect">
            <a:avLst/>
          </a:prstGeom>
          <a:solidFill>
            <a:srgbClr val="555555"/>
          </a:solidFill>
          <a:ln/>
        </p:spPr>
      </p:sp>
      <p:sp>
        <p:nvSpPr>
          <p:cNvPr id="13" name="Text 11"/>
          <p:cNvSpPr/>
          <p:nvPr/>
        </p:nvSpPr>
        <p:spPr>
          <a:xfrm>
            <a:off x="8439912" y="1097280"/>
            <a:ext cx="3474720" cy="64008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TAREA</a:t>
            </a:r>
            <a:endParaRPr lang="en-US" sz="1400" dirty="0"/>
          </a:p>
        </p:txBody>
      </p:sp>
      <p:sp>
        <p:nvSpPr>
          <p:cNvPr id="14" name="Shape 12"/>
          <p:cNvSpPr/>
          <p:nvPr/>
        </p:nvSpPr>
        <p:spPr>
          <a:xfrm>
            <a:off x="8439912" y="1737360"/>
            <a:ext cx="3474720" cy="4846320"/>
          </a:xfrm>
          <a:prstGeom prst="rect">
            <a:avLst/>
          </a:prstGeom>
          <a:solidFill>
            <a:srgbClr val="F7F7F7"/>
          </a:solidFill>
          <a:ln/>
        </p:spPr>
      </p:sp>
      <p:sp>
        <p:nvSpPr>
          <p:cNvPr id="15" name="Text 13"/>
          <p:cNvSpPr/>
          <p:nvPr/>
        </p:nvSpPr>
        <p:spPr>
          <a:xfrm>
            <a:off x="8577072" y="1874520"/>
            <a:ext cx="3200400" cy="4480560"/>
          </a:xfrm>
          <a:prstGeom prst="rect">
            <a:avLst/>
          </a:prstGeom>
          <a:noFill/>
          <a:ln/>
        </p:spPr>
        <p:txBody>
          <a:bodyPr wrap="square" rtlCol="0" anchor="t"/>
          <a:lstStyle/>
          <a:p>
            <a:pPr>
              <a:spcBef>
                <a:spcPts val="600"/>
              </a:spcBef>
            </a:pPr>
            <a:r>
              <a:rPr lang="en-US" sz="1300" dirty="0">
                <a:solidFill>
                  <a:srgbClr val="000000"/>
                </a:solidFill>
                <a:latin typeface="Calibri" pitchFamily="34" charset="0"/>
                <a:ea typeface="Calibri" pitchFamily="34" charset="-122"/>
                <a:cs typeface="Calibri" pitchFamily="34" charset="-120"/>
              </a:rPr>
              <a:t>Un verbo de acción + qué + para quién</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Verbos: genera, analiza, reescribe, compara, prioriza, evalúa</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Error: pedir dos cosas en una tarea</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Separar = dos outputs más finos</a:t>
            </a:r>
            <a:endParaRPr lang="en-US" sz="1300" dirty="0"/>
          </a:p>
          <a:p>
            <a:pPr>
              <a:spcBef>
                <a:spcPts val="600"/>
              </a:spcBef>
            </a:pPr>
            <a:r>
              <a:rPr lang="en-US" sz="1300" dirty="0">
                <a:solidFill>
                  <a:srgbClr val="000000"/>
                </a:solidFill>
                <a:latin typeface="Calibri" pitchFamily="34" charset="0"/>
                <a:ea typeface="Calibri" pitchFamily="34" charset="-122"/>
                <a:cs typeface="Calibri" pitchFamily="34" charset="-120"/>
              </a:rPr>
              <a:t>Señal: puedes evaluar el output en menos de 60 segundos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0000"/>
                </a:solidFill>
                <a:latin typeface="Arial Black" pitchFamily="34" charset="0"/>
                <a:ea typeface="Arial Black" pitchFamily="34" charset="-122"/>
                <a:cs typeface="Arial Black" pitchFamily="34" charset="-120"/>
              </a:rPr>
              <a:t>FORMATO + RESTRICCIONES: donde se gana la batalla del output</a:t>
            </a:r>
            <a:endParaRPr lang="en-US" sz="2600" dirty="0"/>
          </a:p>
        </p:txBody>
      </p:sp>
      <p:sp>
        <p:nvSpPr>
          <p:cNvPr id="4" name="Shape 2"/>
          <p:cNvSpPr/>
          <p:nvPr/>
        </p:nvSpPr>
        <p:spPr>
          <a:xfrm>
            <a:off x="274320" y="1097280"/>
            <a:ext cx="5394960" cy="502920"/>
          </a:xfrm>
          <a:prstGeom prst="rect">
            <a:avLst/>
          </a:prstGeom>
          <a:solidFill>
            <a:srgbClr val="FF6B00"/>
          </a:solidFill>
          <a:ln/>
        </p:spPr>
      </p:sp>
      <p:sp>
        <p:nvSpPr>
          <p:cNvPr id="5" name="Text 3"/>
          <p:cNvSpPr/>
          <p:nvPr/>
        </p:nvSpPr>
        <p:spPr>
          <a:xfrm>
            <a:off x="27432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FORMATO — especifica todo</a:t>
            </a:r>
            <a:endParaRPr lang="en-US" sz="1600" dirty="0"/>
          </a:p>
        </p:txBody>
      </p:sp>
      <p:sp>
        <p:nvSpPr>
          <p:cNvPr id="6" name="Shape 4"/>
          <p:cNvSpPr/>
          <p:nvPr/>
        </p:nvSpPr>
        <p:spPr>
          <a:xfrm>
            <a:off x="274320" y="1600200"/>
            <a:ext cx="5394960" cy="4937760"/>
          </a:xfrm>
          <a:prstGeom prst="rect">
            <a:avLst/>
          </a:prstGeom>
          <a:solidFill>
            <a:srgbClr val="F5F5F5"/>
          </a:solidFill>
          <a:ln/>
        </p:spPr>
      </p:sp>
      <p:sp>
        <p:nvSpPr>
          <p:cNvPr id="7" name="Text 5"/>
          <p:cNvSpPr/>
          <p:nvPr/>
        </p:nvSpPr>
        <p:spPr>
          <a:xfrm>
            <a:off x="45720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¿Bullet points o párrafos?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¿Cuántas opciones? (3, no 20)</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¿Máximo de palabras por sección?</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¿Tabla o lista numerada?</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¿Con o sin explicaciones?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El FORMATO le ahorra a Claude adivinar tu preferencia</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Y te ahorra a ti reformatear el output manualmente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Regla: el output debe poder copiarse sin reformatear</a:t>
            </a:r>
            <a:endParaRPr lang="en-US" sz="1400" dirty="0"/>
          </a:p>
        </p:txBody>
      </p:sp>
      <p:sp>
        <p:nvSpPr>
          <p:cNvPr id="8" name="Shape 6"/>
          <p:cNvSpPr/>
          <p:nvPr/>
        </p:nvSpPr>
        <p:spPr>
          <a:xfrm>
            <a:off x="6492240" y="1097280"/>
            <a:ext cx="5394960" cy="502920"/>
          </a:xfrm>
          <a:prstGeom prst="rect">
            <a:avLst/>
          </a:prstGeom>
          <a:solidFill>
            <a:srgbClr val="FF0000"/>
          </a:solidFill>
          <a:ln/>
        </p:spPr>
      </p:sp>
      <p:sp>
        <p:nvSpPr>
          <p:cNvPr id="9" name="Text 7"/>
          <p:cNvSpPr/>
          <p:nvPr/>
        </p:nvSpPr>
        <p:spPr>
          <a:xfrm>
            <a:off x="649224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RESTRICCIONES — lo más subestimado</a:t>
            </a:r>
            <a:endParaRPr lang="en-US" sz="1600" dirty="0"/>
          </a:p>
        </p:txBody>
      </p:sp>
      <p:sp>
        <p:nvSpPr>
          <p:cNvPr id="10" name="Shape 8"/>
          <p:cNvSpPr/>
          <p:nvPr/>
        </p:nvSpPr>
        <p:spPr>
          <a:xfrm>
            <a:off x="6492240" y="1600200"/>
            <a:ext cx="5394960" cy="4937760"/>
          </a:xfrm>
          <a:prstGeom prst="rect">
            <a:avLst/>
          </a:prstGeom>
          <a:solidFill>
            <a:srgbClr val="F5F5F5"/>
          </a:solidFill>
          <a:ln/>
        </p:spPr>
      </p:sp>
      <p:sp>
        <p:nvSpPr>
          <p:cNvPr id="11" name="Text 9"/>
          <p:cNvSpPr/>
          <p:nvPr/>
        </p:nvSpPr>
        <p:spPr>
          <a:xfrm>
            <a:off x="667512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"Sin introducciones"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"Sin explicar lo obvio"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"No usar la palabra innovador"</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"Solo ejemplos accionables — no teoría"</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"Sin disclaimers"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Las restricciones eliminan el 80% del relleno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Sin restricciones, Claude improvisa safe</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Safe = genérico = inútil para Growth</a:t>
            </a:r>
            <a:endParaRPr lang="en-US" sz="1400" dirty="0"/>
          </a:p>
        </p:txBody>
      </p:sp>
      <p:sp>
        <p:nvSpPr>
          <p:cNvPr id="12" name="Shape 10"/>
          <p:cNvSpPr/>
          <p:nvPr/>
        </p:nvSpPr>
        <p:spPr>
          <a:xfrm>
            <a:off x="5989320" y="1051560"/>
            <a:ext cx="228600" cy="5577840"/>
          </a:xfrm>
          <a:prstGeom prst="rect">
            <a:avLst/>
          </a:prstGeom>
          <a:solidFill>
            <a:srgbClr val="EEFF8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EEFF89"/>
                </a:solidFill>
                <a:latin typeface="Arial Black" pitchFamily="34" charset="0"/>
                <a:ea typeface="Arial Black" pitchFamily="34" charset="-122"/>
                <a:cs typeface="Arial Black" pitchFamily="34" charset="-120"/>
              </a:rPr>
              <a:t>Los 5 errores que cometen Chiefs of Growth al usar Claude</a:t>
            </a:r>
            <a:endParaRPr lang="en-US" sz="2600" dirty="0"/>
          </a:p>
        </p:txBody>
      </p:sp>
      <p:sp>
        <p:nvSpPr>
          <p:cNvPr id="4" name="Shape 2"/>
          <p:cNvSpPr/>
          <p:nvPr/>
        </p:nvSpPr>
        <p:spPr>
          <a:xfrm>
            <a:off x="274320" y="1143000"/>
            <a:ext cx="685800" cy="685800"/>
          </a:xfrm>
          <a:prstGeom prst="ellipse">
            <a:avLst/>
          </a:prstGeom>
          <a:solidFill>
            <a:srgbClr val="FF0000"/>
          </a:solidFill>
          <a:ln/>
        </p:spPr>
      </p:sp>
      <p:sp>
        <p:nvSpPr>
          <p:cNvPr id="5" name="Text 3"/>
          <p:cNvSpPr/>
          <p:nvPr/>
        </p:nvSpPr>
        <p:spPr>
          <a:xfrm>
            <a:off x="274320" y="1143000"/>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p:nvPr/>
        </p:nvSpPr>
        <p:spPr>
          <a:xfrm>
            <a:off x="1188720" y="1115568"/>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El prompt de una línea</a:t>
            </a:r>
            <a:endParaRPr lang="en-US" sz="1500" dirty="0"/>
          </a:p>
        </p:txBody>
      </p:sp>
      <p:sp>
        <p:nvSpPr>
          <p:cNvPr id="7" name="Text 5"/>
          <p:cNvSpPr/>
          <p:nvPr/>
        </p:nvSpPr>
        <p:spPr>
          <a:xfrm>
            <a:off x="1188720" y="1517904"/>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"Dame ideas de copy para mi campaña de Meta." — Falta ROL, CONTEXTO, FORMATO y RESTRICCIONES. Solo hay TAREA vaga. Si tu prompt tiene menos de 5 líneas, probablemente le falta algo.</a:t>
            </a:r>
            <a:endParaRPr lang="en-US" sz="1300" dirty="0"/>
          </a:p>
        </p:txBody>
      </p:sp>
      <p:sp>
        <p:nvSpPr>
          <p:cNvPr id="8" name="Shape 6"/>
          <p:cNvSpPr/>
          <p:nvPr/>
        </p:nvSpPr>
        <p:spPr>
          <a:xfrm>
            <a:off x="274320" y="2221992"/>
            <a:ext cx="685800" cy="685800"/>
          </a:xfrm>
          <a:prstGeom prst="ellipse">
            <a:avLst/>
          </a:prstGeom>
          <a:solidFill>
            <a:srgbClr val="FF6B00"/>
          </a:solidFill>
          <a:ln/>
        </p:spPr>
      </p:sp>
      <p:sp>
        <p:nvSpPr>
          <p:cNvPr id="9" name="Text 7"/>
          <p:cNvSpPr/>
          <p:nvPr/>
        </p:nvSpPr>
        <p:spPr>
          <a:xfrm>
            <a:off x="274320" y="2221992"/>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p:nvPr/>
        </p:nvSpPr>
        <p:spPr>
          <a:xfrm>
            <a:off x="1188720" y="2194560"/>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Confundir cantidad con calidad</a:t>
            </a:r>
            <a:endParaRPr lang="en-US" sz="1500" dirty="0"/>
          </a:p>
        </p:txBody>
      </p:sp>
      <p:sp>
        <p:nvSpPr>
          <p:cNvPr id="11" name="Text 9"/>
          <p:cNvSpPr/>
          <p:nvPr/>
        </p:nvSpPr>
        <p:spPr>
          <a:xfrm>
            <a:off x="1188720" y="2596896"/>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"Dame 20 ideas de headlines." — Claude da 5 buenas y rellena 15 con variaciones mediocres. Pide 3 con un ángulo diferente cada una. Tres con criterio &gt; veinte sin criterio.</a:t>
            </a:r>
            <a:endParaRPr lang="en-US" sz="1300" dirty="0"/>
          </a:p>
        </p:txBody>
      </p:sp>
      <p:sp>
        <p:nvSpPr>
          <p:cNvPr id="12" name="Shape 10"/>
          <p:cNvSpPr/>
          <p:nvPr/>
        </p:nvSpPr>
        <p:spPr>
          <a:xfrm>
            <a:off x="274320" y="3300984"/>
            <a:ext cx="685800" cy="685800"/>
          </a:xfrm>
          <a:prstGeom prst="ellipse">
            <a:avLst/>
          </a:prstGeom>
          <a:solidFill>
            <a:srgbClr val="FF0000"/>
          </a:solidFill>
          <a:ln/>
        </p:spPr>
      </p:sp>
      <p:sp>
        <p:nvSpPr>
          <p:cNvPr id="13" name="Text 11"/>
          <p:cNvSpPr/>
          <p:nvPr/>
        </p:nvSpPr>
        <p:spPr>
          <a:xfrm>
            <a:off x="274320" y="3300984"/>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p:nvPr/>
        </p:nvSpPr>
        <p:spPr>
          <a:xfrm>
            <a:off x="1188720" y="3273552"/>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Aceptar el primer output sin iterar</a:t>
            </a:r>
            <a:endParaRPr lang="en-US" sz="1500" dirty="0"/>
          </a:p>
        </p:txBody>
      </p:sp>
      <p:sp>
        <p:nvSpPr>
          <p:cNvPr id="15" name="Text 13"/>
          <p:cNvSpPr/>
          <p:nvPr/>
        </p:nvSpPr>
        <p:spPr>
          <a:xfrm>
            <a:off x="1188720" y="3675888"/>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El primer output es el punto de partida, no el destino. Siempre da una instrucción de refinamiento en la segunda ronda. Dos rondas casi siempre producen un output listo.</a:t>
            </a:r>
            <a:endParaRPr lang="en-US" sz="1300" dirty="0"/>
          </a:p>
        </p:txBody>
      </p:sp>
      <p:sp>
        <p:nvSpPr>
          <p:cNvPr id="16" name="Shape 14"/>
          <p:cNvSpPr/>
          <p:nvPr/>
        </p:nvSpPr>
        <p:spPr>
          <a:xfrm>
            <a:off x="274320" y="4379976"/>
            <a:ext cx="685800" cy="685800"/>
          </a:xfrm>
          <a:prstGeom prst="ellipse">
            <a:avLst/>
          </a:prstGeom>
          <a:solidFill>
            <a:srgbClr val="FF6B00"/>
          </a:solidFill>
          <a:ln/>
        </p:spPr>
      </p:sp>
      <p:sp>
        <p:nvSpPr>
          <p:cNvPr id="17" name="Text 15"/>
          <p:cNvSpPr/>
          <p:nvPr/>
        </p:nvSpPr>
        <p:spPr>
          <a:xfrm>
            <a:off x="274320" y="4379976"/>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Text 16"/>
          <p:cNvSpPr/>
          <p:nvPr/>
        </p:nvSpPr>
        <p:spPr>
          <a:xfrm>
            <a:off x="1188720" y="4352544"/>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Cambiar de tema sin cambiar de conversación</a:t>
            </a:r>
            <a:endParaRPr lang="en-US" sz="1500" dirty="0"/>
          </a:p>
        </p:txBody>
      </p:sp>
      <p:sp>
        <p:nvSpPr>
          <p:cNvPr id="19" name="Text 17"/>
          <p:cNvSpPr/>
          <p:nvPr/>
        </p:nvSpPr>
        <p:spPr>
          <a:xfrm>
            <a:off x="1188720" y="4754880"/>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Análisis + copy + estrategia en el mismo chat: Claude mezcla los marcos. Solución: conversaciones separadas para tareas distintas dentro de tu Project.</a:t>
            </a:r>
            <a:endParaRPr lang="en-US" sz="1300" dirty="0"/>
          </a:p>
        </p:txBody>
      </p:sp>
      <p:sp>
        <p:nvSpPr>
          <p:cNvPr id="20" name="Shape 18"/>
          <p:cNvSpPr/>
          <p:nvPr/>
        </p:nvSpPr>
        <p:spPr>
          <a:xfrm>
            <a:off x="274320" y="5458968"/>
            <a:ext cx="685800" cy="685800"/>
          </a:xfrm>
          <a:prstGeom prst="ellipse">
            <a:avLst/>
          </a:prstGeom>
          <a:solidFill>
            <a:srgbClr val="FF0000"/>
          </a:solidFill>
          <a:ln/>
        </p:spPr>
      </p:sp>
      <p:sp>
        <p:nvSpPr>
          <p:cNvPr id="21" name="Text 19"/>
          <p:cNvSpPr/>
          <p:nvPr/>
        </p:nvSpPr>
        <p:spPr>
          <a:xfrm>
            <a:off x="274320" y="5458968"/>
            <a:ext cx="685800" cy="6858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22" name="Text 20"/>
          <p:cNvSpPr/>
          <p:nvPr/>
        </p:nvSpPr>
        <p:spPr>
          <a:xfrm>
            <a:off x="1188720" y="5431536"/>
            <a:ext cx="10515600" cy="384048"/>
          </a:xfrm>
          <a:prstGeom prst="rect">
            <a:avLst/>
          </a:prstGeom>
          <a:noFill/>
          <a:ln/>
        </p:spPr>
        <p:txBody>
          <a:bodyPr wrap="square" rtlCol="0" anchor="ctr"/>
          <a:lstStyle/>
          <a:p>
            <a:pPr indent="0" marL="0">
              <a:buNone/>
            </a:pPr>
            <a:r>
              <a:rPr lang="en-US" sz="1500" b="1" dirty="0">
                <a:solidFill>
                  <a:srgbClr val="000000"/>
                </a:solidFill>
                <a:latin typeface="Arial Black" pitchFamily="34" charset="0"/>
                <a:ea typeface="Arial Black" pitchFamily="34" charset="-122"/>
                <a:cs typeface="Arial Black" pitchFamily="34" charset="-120"/>
              </a:rPr>
              <a:t>No decirle a Claude cuándo está equivocado</a:t>
            </a:r>
            <a:endParaRPr lang="en-US" sz="1500" dirty="0"/>
          </a:p>
        </p:txBody>
      </p:sp>
      <p:sp>
        <p:nvSpPr>
          <p:cNvPr id="23" name="Text 21"/>
          <p:cNvSpPr/>
          <p:nvPr/>
        </p:nvSpPr>
        <p:spPr>
          <a:xfrm>
            <a:off x="1188720" y="5833872"/>
            <a:ext cx="10515600" cy="54864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Si dice algo incorrecto, corrígelo: "Eso no aplica a mi caso. En mi industria, el CAC es X." Claude no se ofende. Y el output siguiente será mucho más preciso.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00000"/>
          </a:solidFill>
          <a:ln/>
        </p:spPr>
      </p:sp>
      <p:sp>
        <p:nvSpPr>
          <p:cNvPr id="3" name="Text 1"/>
          <p:cNvSpPr/>
          <p:nvPr/>
        </p:nvSpPr>
        <p:spPr>
          <a:xfrm>
            <a:off x="365760" y="73152"/>
            <a:ext cx="11430000" cy="804672"/>
          </a:xfrm>
          <a:prstGeom prst="rect">
            <a:avLst/>
          </a:prstGeom>
          <a:noFill/>
          <a:ln/>
        </p:spPr>
        <p:txBody>
          <a:bodyPr wrap="square" rtlCol="0" anchor="ctr"/>
          <a:lstStyle/>
          <a:p>
            <a:pPr indent="0" marL="0">
              <a:buNone/>
            </a:pPr>
            <a:r>
              <a:rPr lang="en-US" sz="2600" b="1" dirty="0">
                <a:solidFill>
                  <a:srgbClr val="FF0000"/>
                </a:solidFill>
                <a:latin typeface="Arial Black" pitchFamily="34" charset="0"/>
                <a:ea typeface="Arial Black" pitchFamily="34" charset="-122"/>
                <a:cs typeface="Arial Black" pitchFamily="34" charset="-120"/>
              </a:rPr>
              <a:t>El ROI del brief perfecto: Prompt vago vs. Brief de elite</a:t>
            </a:r>
            <a:endParaRPr lang="en-US" sz="2600" dirty="0"/>
          </a:p>
        </p:txBody>
      </p:sp>
      <p:sp>
        <p:nvSpPr>
          <p:cNvPr id="4" name="Shape 2"/>
          <p:cNvSpPr/>
          <p:nvPr/>
        </p:nvSpPr>
        <p:spPr>
          <a:xfrm>
            <a:off x="274320" y="1097280"/>
            <a:ext cx="5394960" cy="502920"/>
          </a:xfrm>
          <a:prstGeom prst="rect">
            <a:avLst/>
          </a:prstGeom>
          <a:solidFill>
            <a:srgbClr val="FF6B00"/>
          </a:solidFill>
          <a:ln/>
        </p:spPr>
      </p:sp>
      <p:sp>
        <p:nvSpPr>
          <p:cNvPr id="5" name="Text 3"/>
          <p:cNvSpPr/>
          <p:nvPr/>
        </p:nvSpPr>
        <p:spPr>
          <a:xfrm>
            <a:off x="27432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PROMPT VAGO</a:t>
            </a:r>
            <a:endParaRPr lang="en-US" sz="1600" dirty="0"/>
          </a:p>
        </p:txBody>
      </p:sp>
      <p:sp>
        <p:nvSpPr>
          <p:cNvPr id="6" name="Shape 4"/>
          <p:cNvSpPr/>
          <p:nvPr/>
        </p:nvSpPr>
        <p:spPr>
          <a:xfrm>
            <a:off x="274320" y="1600200"/>
            <a:ext cx="5394960" cy="4937760"/>
          </a:xfrm>
          <a:prstGeom prst="rect">
            <a:avLst/>
          </a:prstGeom>
          <a:solidFill>
            <a:srgbClr val="F5F5F5"/>
          </a:solidFill>
          <a:ln/>
        </p:spPr>
      </p:sp>
      <p:sp>
        <p:nvSpPr>
          <p:cNvPr id="7" name="Text 5"/>
          <p:cNvSpPr/>
          <p:nvPr/>
        </p:nvSpPr>
        <p:spPr>
          <a:xfrm>
            <a:off x="45720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"Dame ideas de copy para mi campaña de Meta."</a:t>
            </a:r>
            <a:endParaRPr lang="en-US" sz="1400" dirty="0"/>
          </a:p>
          <a:p>
            <a:pPr>
              <a:spcBef>
                <a:spcPts val="500"/>
              </a:spcBef>
            </a:pP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Output: genérico, aplica a cualquier empresa del planeta</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Requiere edición significativa antes de usar</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Ciclos de revisión: 3–5</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Tiempo hasta output usable: 45–90 minutos</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El equipo de diseño no puede trabajar con esto sin más input</a:t>
            </a:r>
            <a:endParaRPr lang="en-US" sz="1400" dirty="0"/>
          </a:p>
        </p:txBody>
      </p:sp>
      <p:sp>
        <p:nvSpPr>
          <p:cNvPr id="8" name="Shape 6"/>
          <p:cNvSpPr/>
          <p:nvPr/>
        </p:nvSpPr>
        <p:spPr>
          <a:xfrm>
            <a:off x="6492240" y="1097280"/>
            <a:ext cx="5394960" cy="502920"/>
          </a:xfrm>
          <a:prstGeom prst="rect">
            <a:avLst/>
          </a:prstGeom>
          <a:solidFill>
            <a:srgbClr val="FF0000"/>
          </a:solidFill>
          <a:ln/>
        </p:spPr>
      </p:sp>
      <p:sp>
        <p:nvSpPr>
          <p:cNvPr id="9" name="Text 7"/>
          <p:cNvSpPr/>
          <p:nvPr/>
        </p:nvSpPr>
        <p:spPr>
          <a:xfrm>
            <a:off x="6492240" y="1097280"/>
            <a:ext cx="53949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BRIEF DE ELITE</a:t>
            </a:r>
            <a:endParaRPr lang="en-US" sz="1600" dirty="0"/>
          </a:p>
        </p:txBody>
      </p:sp>
      <p:sp>
        <p:nvSpPr>
          <p:cNvPr id="10" name="Shape 8"/>
          <p:cNvSpPr/>
          <p:nvPr/>
        </p:nvSpPr>
        <p:spPr>
          <a:xfrm>
            <a:off x="6492240" y="1600200"/>
            <a:ext cx="5394960" cy="4937760"/>
          </a:xfrm>
          <a:prstGeom prst="rect">
            <a:avLst/>
          </a:prstGeom>
          <a:solidFill>
            <a:srgbClr val="F5F5F5"/>
          </a:solidFill>
          <a:ln/>
        </p:spPr>
      </p:sp>
      <p:sp>
        <p:nvSpPr>
          <p:cNvPr id="11" name="Text 9"/>
          <p:cNvSpPr/>
          <p:nvPr/>
        </p:nvSpPr>
        <p:spPr>
          <a:xfrm>
            <a:off x="6675120" y="1737360"/>
            <a:ext cx="5029200" cy="4663440"/>
          </a:xfrm>
          <a:prstGeom prst="rect">
            <a:avLst/>
          </a:prstGeom>
          <a:noFill/>
          <a:ln/>
        </p:spPr>
        <p:txBody>
          <a:bodyPr wrap="square" rtlCol="0" anchor="t"/>
          <a:lstStyle/>
          <a:p>
            <a:pPr>
              <a:spcBef>
                <a:spcPts val="500"/>
              </a:spcBef>
            </a:pPr>
            <a:r>
              <a:rPr lang="en-US" sz="1400" dirty="0">
                <a:solidFill>
                  <a:srgbClr val="000000"/>
                </a:solidFill>
                <a:latin typeface="Calibri" pitchFamily="34" charset="0"/>
                <a:ea typeface="Calibri" pitchFamily="34" charset="-122"/>
                <a:cs typeface="Calibri" pitchFamily="34" charset="-120"/>
              </a:rPr>
              <a:t>ROL + CONTEXTO + TAREA + FORMATO + RESTRICCIONES</a:t>
            </a:r>
            <a:endParaRPr lang="en-US" sz="1400" dirty="0"/>
          </a:p>
          <a:p>
            <a:pPr>
              <a:spcBef>
                <a:spcPts val="500"/>
              </a:spcBef>
            </a:pP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Output: habla el idioma de tu ICP específico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Puede ir directamente al equipo de diseño</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Ciclos de revisión: 1–2</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Tiempo hasta output usable: 5–10 minutos + brief</a:t>
            </a:r>
            <a:endParaRPr lang="en-US" sz="1400" dirty="0"/>
          </a:p>
          <a:p>
            <a:pPr>
              <a:spcBef>
                <a:spcPts val="500"/>
              </a:spcBef>
            </a:pPr>
            <a:r>
              <a:rPr lang="en-US" sz="1400" dirty="0">
                <a:solidFill>
                  <a:srgbClr val="000000"/>
                </a:solidFill>
                <a:latin typeface="Calibri" pitchFamily="34" charset="0"/>
                <a:ea typeface="Calibri" pitchFamily="34" charset="-122"/>
                <a:cs typeface="Calibri" pitchFamily="34" charset="-120"/>
              </a:rPr>
              <a:t>La diferencia se hace en menos de 2 minutos de trabajo extra</a:t>
            </a:r>
            <a:endParaRPr lang="en-US" sz="1400" dirty="0"/>
          </a:p>
        </p:txBody>
      </p:sp>
      <p:sp>
        <p:nvSpPr>
          <p:cNvPr id="12" name="Shape 10"/>
          <p:cNvSpPr/>
          <p:nvPr/>
        </p:nvSpPr>
        <p:spPr>
          <a:xfrm>
            <a:off x="5989320" y="1051560"/>
            <a:ext cx="228600" cy="5577840"/>
          </a:xfrm>
          <a:prstGeom prst="rect">
            <a:avLst/>
          </a:prstGeom>
          <a:solidFill>
            <a:srgbClr val="EEFF89"/>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566160" y="640080"/>
            <a:ext cx="5029200" cy="5029200"/>
          </a:xfrm>
          <a:prstGeom prst="ellipse">
            <a:avLst/>
          </a:prstGeom>
          <a:solidFill>
            <a:srgbClr val="FF0000"/>
          </a:solidFill>
          <a:ln w="38100">
            <a:solidFill>
              <a:srgbClr val="FF6B00"/>
            </a:solidFill>
            <a:prstDash val="solid"/>
          </a:ln>
        </p:spPr>
      </p:sp>
      <p:sp>
        <p:nvSpPr>
          <p:cNvPr id="3" name="Text 1"/>
          <p:cNvSpPr/>
          <p:nvPr/>
        </p:nvSpPr>
        <p:spPr>
          <a:xfrm>
            <a:off x="1371600" y="1188720"/>
            <a:ext cx="9418320" cy="2926080"/>
          </a:xfrm>
          <a:prstGeom prst="rect">
            <a:avLst/>
          </a:prstGeom>
          <a:noFill/>
          <a:ln/>
        </p:spPr>
        <p:txBody>
          <a:bodyPr wrap="square" rtlCol="0" anchor="ctr"/>
          <a:lstStyle/>
          <a:p>
            <a:pPr algn="ctr" indent="0" marL="0">
              <a:buNone/>
            </a:pPr>
            <a:r>
              <a:rPr lang="en-US" sz="8800" b="1" dirty="0">
                <a:solidFill>
                  <a:srgbClr val="EEFF89"/>
                </a:solidFill>
                <a:latin typeface="Arial Black" pitchFamily="34" charset="0"/>
                <a:ea typeface="Arial Black" pitchFamily="34" charset="-122"/>
                <a:cs typeface="Arial Black" pitchFamily="34" charset="-120"/>
              </a:rPr>
              <a:t>2 min</a:t>
            </a:r>
            <a:endParaRPr lang="en-US" sz="8800" dirty="0"/>
          </a:p>
        </p:txBody>
      </p:sp>
      <p:sp>
        <p:nvSpPr>
          <p:cNvPr id="4" name="Text 2"/>
          <p:cNvSpPr/>
          <p:nvPr/>
        </p:nvSpPr>
        <p:spPr>
          <a:xfrm>
            <a:off x="1371600" y="3931920"/>
            <a:ext cx="9418320" cy="914400"/>
          </a:xfrm>
          <a:prstGeom prst="rect">
            <a:avLst/>
          </a:prstGeom>
          <a:noFill/>
          <a:ln/>
        </p:spPr>
        <p:txBody>
          <a:bodyPr wrap="square" rtlCol="0" anchor="ctr"/>
          <a:lstStyle/>
          <a:p>
            <a:pPr algn="ctr" indent="0" marL="0">
              <a:buNone/>
            </a:pPr>
            <a:r>
              <a:rPr lang="en-US" sz="2400" b="1" dirty="0">
                <a:solidFill>
                  <a:srgbClr val="FFFFFF"/>
                </a:solidFill>
                <a:latin typeface="Arial Black" pitchFamily="34" charset="0"/>
                <a:ea typeface="Arial Black" pitchFamily="34" charset="-122"/>
                <a:cs typeface="Arial Black" pitchFamily="34" charset="-120"/>
              </a:rPr>
              <a:t>El tiempo extra que cuesta escribir un brief de elite</a:t>
            </a:r>
            <a:endParaRPr lang="en-US" sz="2400" dirty="0"/>
          </a:p>
        </p:txBody>
      </p:sp>
      <p:sp>
        <p:nvSpPr>
          <p:cNvPr id="5" name="Text 3"/>
          <p:cNvSpPr/>
          <p:nvPr/>
        </p:nvSpPr>
        <p:spPr>
          <a:xfrm>
            <a:off x="1371600" y="5029200"/>
            <a:ext cx="9418320" cy="1097280"/>
          </a:xfrm>
          <a:prstGeom prst="rect">
            <a:avLst/>
          </a:prstGeom>
          <a:noFill/>
          <a:ln/>
        </p:spPr>
        <p:txBody>
          <a:bodyPr wrap="square" rtlCol="0" anchor="ctr"/>
          <a:lstStyle/>
          <a:p>
            <a:pPr algn="ctr" indent="0" marL="0">
              <a:buNone/>
            </a:pPr>
            <a:r>
              <a:rPr lang="en-US" sz="1500" dirty="0">
                <a:solidFill>
                  <a:srgbClr val="FF6B00"/>
                </a:solidFill>
                <a:latin typeface="Calibri" pitchFamily="34" charset="0"/>
                <a:ea typeface="Calibri" pitchFamily="34" charset="-122"/>
                <a:cs typeface="Calibri" pitchFamily="34" charset="-120"/>
              </a:rPr>
              <a:t>Menos tiempo que el que pierdes revisando un output mediocre. El brief no es overhead — es el atajo.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FF0000"/>
          </a:solidFill>
          <a:ln/>
        </p:spPr>
      </p:sp>
      <p:sp>
        <p:nvSpPr>
          <p:cNvPr id="3" name="Text 1"/>
          <p:cNvSpPr/>
          <p:nvPr/>
        </p:nvSpPr>
        <p:spPr>
          <a:xfrm>
            <a:off x="365760" y="91440"/>
            <a:ext cx="11430000" cy="8686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Entregable: Plantilla de Brief Universal para Growth</a:t>
            </a:r>
            <a:endParaRPr lang="en-US" sz="2800" dirty="0"/>
          </a:p>
        </p:txBody>
      </p:sp>
      <p:sp>
        <p:nvSpPr>
          <p:cNvPr id="4" name="Shape 2"/>
          <p:cNvSpPr/>
          <p:nvPr/>
        </p:nvSpPr>
        <p:spPr>
          <a:xfrm>
            <a:off x="0" y="1051560"/>
            <a:ext cx="164592" cy="5806440"/>
          </a:xfrm>
          <a:prstGeom prst="rect">
            <a:avLst/>
          </a:prstGeom>
          <a:solidFill>
            <a:srgbClr val="FF6B00"/>
          </a:solidFill>
          <a:ln/>
        </p:spPr>
      </p:sp>
      <p:sp>
        <p:nvSpPr>
          <p:cNvPr id="5" name="Text 3"/>
          <p:cNvSpPr/>
          <p:nvPr/>
        </p:nvSpPr>
        <p:spPr>
          <a:xfrm>
            <a:off x="457200" y="1188720"/>
            <a:ext cx="11430000" cy="5394960"/>
          </a:xfrm>
          <a:prstGeom prst="rect">
            <a:avLst/>
          </a:prstGeom>
          <a:noFill/>
          <a:ln/>
        </p:spPr>
        <p:txBody>
          <a:bodyPr wrap="square" rtlCol="0" anchor="t"/>
          <a:lstStyle/>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La estructura lista para copiar y llenar</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ROL: Actúa como [título del rol específico] con experiencia en [industria/contexto]. Especializado en [área específica].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CONTEXTO: Producto + ICP + Situación actual + Lo que ya probé</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TAREA: [Un verbo de acción] + [qué exactamente] + [para quién o en qué contexto]</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FORMATO: Número de opciones + estructura de cada opción + extensión + forma de presentación</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RESTRICCIONES: No [X] / No [tono] / Sin [elemento de relleno] / Solo [scope acotado]</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Protocolo de iteración (2 rondas)</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Ronda 1: brief completo. Evalúa el output.</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Ronda 2: instrucción específica — "mantén esto, reescribe esto con este criterio"</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Si en ronda 3 no funciona: el problema es el CONTEXTO — vuelve y enriquécelo</a:t>
            </a:r>
            <a:endParaRPr lang="en-US" sz="1700" dirty="0"/>
          </a:p>
          <a:p>
            <a:pPr indent="0" marL="0">
              <a:spcBef>
                <a:spcPts val="1000"/>
              </a:spcBef>
              <a:buNone/>
            </a:pPr>
            <a:r>
              <a:rPr lang="en-US" sz="1700" b="1" dirty="0">
                <a:solidFill>
                  <a:srgbClr val="FF0000"/>
                </a:solidFill>
                <a:latin typeface="Arial Black" pitchFamily="34" charset="0"/>
                <a:ea typeface="Arial Black" pitchFamily="34" charset="-122"/>
                <a:cs typeface="Arial Black" pitchFamily="34" charset="-120"/>
              </a:rPr>
              <a:t>Tabla de diagnóstico incluida</a:t>
            </a:r>
            <a:endParaRPr lang="en-US" sz="1700" dirty="0"/>
          </a:p>
          <a:p>
            <a:pPr>
              <a:spcBef>
                <a:spcPts val="400"/>
              </a:spcBef>
            </a:pPr>
            <a:r>
              <a:rPr lang="en-US" sz="1500" dirty="0">
                <a:solidFill>
                  <a:srgbClr val="000000"/>
                </a:solidFill>
                <a:latin typeface="Calibri" pitchFamily="34" charset="0"/>
                <a:ea typeface="Calibri" pitchFamily="34" charset="-122"/>
                <a:cs typeface="Calibri" pitchFamily="34" charset="-120"/>
              </a:rPr>
              <a:t>Síntoma en el output → Elemento faltante → Corrección en 10 segundos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640080" y="457200"/>
            <a:ext cx="10881360" cy="1280160"/>
          </a:xfrm>
          <a:prstGeom prst="rect">
            <a:avLst/>
          </a:prstGeom>
          <a:noFill/>
          <a:ln/>
        </p:spPr>
        <p:txBody>
          <a:bodyPr wrap="square" rtlCol="0" anchor="ctr"/>
          <a:lstStyle/>
          <a:p>
            <a:pPr indent="0" marL="0">
              <a:buNone/>
            </a:pPr>
            <a:r>
              <a:rPr lang="en-US" sz="3600" b="1" dirty="0">
                <a:solidFill>
                  <a:srgbClr val="FF0000"/>
                </a:solidFill>
                <a:latin typeface="Arial Black" pitchFamily="34" charset="0"/>
                <a:ea typeface="Arial Black" pitchFamily="34" charset="-122"/>
                <a:cs typeface="Arial Black" pitchFamily="34" charset="-120"/>
              </a:rPr>
              <a:t>El brief perfecto:</a:t>
            </a:r>
            <a:endParaRPr lang="en-US" sz="3600" dirty="0"/>
          </a:p>
          <a:p>
            <a:pPr indent="0" marL="0">
              <a:buNone/>
            </a:pPr>
            <a:r>
              <a:rPr lang="en-US" sz="3600" b="1" dirty="0">
                <a:solidFill>
                  <a:srgbClr val="FF0000"/>
                </a:solidFill>
                <a:latin typeface="Arial Black" pitchFamily="34" charset="0"/>
                <a:ea typeface="Arial Black" pitchFamily="34" charset="-122"/>
                <a:cs typeface="Arial Black" pitchFamily="34" charset="-120"/>
              </a:rPr>
              <a:t>tu ventaja de producción</a:t>
            </a:r>
            <a:endParaRPr lang="en-US" sz="3600" dirty="0"/>
          </a:p>
        </p:txBody>
      </p:sp>
      <p:sp>
        <p:nvSpPr>
          <p:cNvPr id="4" name="Text 2"/>
          <p:cNvSpPr/>
          <p:nvPr/>
        </p:nvSpPr>
        <p:spPr>
          <a:xfrm>
            <a:off x="640080" y="1828800"/>
            <a:ext cx="10881360" cy="548640"/>
          </a:xfrm>
          <a:prstGeom prst="rect">
            <a:avLst/>
          </a:prstGeom>
          <a:noFill/>
          <a:ln/>
        </p:spPr>
        <p:txBody>
          <a:bodyPr wrap="square" rtlCol="0" anchor="ctr"/>
          <a:lstStyle/>
          <a:p>
            <a:pPr indent="0" marL="0">
              <a:buNone/>
            </a:pPr>
            <a:r>
              <a:rPr lang="en-US" sz="1700" b="1" dirty="0">
                <a:solidFill>
                  <a:srgbClr val="FF6B00"/>
                </a:solidFill>
                <a:latin typeface="Calibri" pitchFamily="34" charset="0"/>
                <a:ea typeface="Calibri" pitchFamily="34" charset="-122"/>
                <a:cs typeface="Calibri" pitchFamily="34" charset="-120"/>
              </a:rPr>
              <a:t>Entregable — Plantilla de Brief Universal lista para copiar</a:t>
            </a:r>
            <a:endParaRPr lang="en-US" sz="1700" dirty="0"/>
          </a:p>
        </p:txBody>
      </p:sp>
      <p:sp>
        <p:nvSpPr>
          <p:cNvPr id="5" name="Text 3"/>
          <p:cNvSpPr/>
          <p:nvPr/>
        </p:nvSpPr>
        <p:spPr>
          <a:xfrm>
            <a:off x="640080" y="2468880"/>
            <a:ext cx="10515600" cy="3749040"/>
          </a:xfrm>
          <a:prstGeom prst="rect">
            <a:avLst/>
          </a:prstGeom>
          <a:noFill/>
          <a:ln/>
        </p:spPr>
        <p:txBody>
          <a:bodyPr wrap="square" rtlCol="0" anchor="t"/>
          <a:lstStyle/>
          <a:p>
            <a:pPr>
              <a:spcBef>
                <a:spcPts val="500"/>
              </a:spcBef>
            </a:pPr>
            <a:r>
              <a:rPr lang="en-US" sz="1400" dirty="0">
                <a:solidFill>
                  <a:srgbClr val="FFFFFF"/>
                </a:solidFill>
                <a:latin typeface="Calibri" pitchFamily="34" charset="0"/>
                <a:ea typeface="Calibri" pitchFamily="34" charset="-122"/>
                <a:cs typeface="Calibri" pitchFamily="34" charset="-120"/>
              </a:rPr>
              <a:t>Descarga la Plantilla de Brief Universal (entregable de esta clase)</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Úsala con el caso de uso que identificaste en la Clase 1</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Usa el protocolo de 2 rondas de iteración</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Si el output no sirve en ronda 3: revisa el CONTEXTO</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Usa la Tabla de diagnóstico si el output tiene síntomas conocidos</a:t>
            </a:r>
            <a:endParaRPr lang="en-US" sz="1400" dirty="0"/>
          </a:p>
          <a:p>
            <a:pPr>
              <a:spcBef>
                <a:spcPts val="500"/>
              </a:spcBef>
            </a:pPr>
            <a:r>
              <a:rPr lang="en-US" sz="1400" dirty="0">
                <a:solidFill>
                  <a:srgbClr val="FFFFFF"/>
                </a:solidFill>
                <a:latin typeface="Calibri" pitchFamily="34" charset="0"/>
                <a:ea typeface="Calibri" pitchFamily="34" charset="-122"/>
                <a:cs typeface="Calibri" pitchFamily="34" charset="-120"/>
              </a:rPr>
              <a:t>Clase 3: cargamos todo el contexto de tu negocio en Claude de una sola vez</a:t>
            </a:r>
            <a:endParaRPr lang="en-US" sz="1400" dirty="0"/>
          </a:p>
        </p:txBody>
      </p:sp>
      <p:sp>
        <p:nvSpPr>
          <p:cNvPr id="6" name="Shape 4"/>
          <p:cNvSpPr/>
          <p:nvPr/>
        </p:nvSpPr>
        <p:spPr>
          <a:xfrm>
            <a:off x="640080" y="6035040"/>
            <a:ext cx="3657600" cy="502920"/>
          </a:xfrm>
          <a:prstGeom prst="rect">
            <a:avLst/>
          </a:prstGeom>
          <a:solidFill>
            <a:srgbClr val="FF6B00"/>
          </a:solidFill>
          <a:ln/>
        </p:spPr>
      </p:sp>
      <p:sp>
        <p:nvSpPr>
          <p:cNvPr id="7" name="Text 5"/>
          <p:cNvSpPr/>
          <p:nvPr/>
        </p:nvSpPr>
        <p:spPr>
          <a:xfrm>
            <a:off x="640080" y="6035040"/>
            <a:ext cx="36576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PRÓXIMA CLASE →</a:t>
            </a:r>
            <a:endParaRPr lang="en-US" sz="1300" dirty="0"/>
          </a:p>
        </p:txBody>
      </p:sp>
      <p:sp>
        <p:nvSpPr>
          <p:cNvPr id="8" name="Shape 6"/>
          <p:cNvSpPr/>
          <p:nvPr/>
        </p:nvSpPr>
        <p:spPr>
          <a:xfrm>
            <a:off x="0" y="6675120"/>
            <a:ext cx="12188952" cy="182880"/>
          </a:xfrm>
          <a:prstGeom prst="rect">
            <a:avLst/>
          </a:prstGeom>
          <a:solidFill>
            <a:srgbClr val="FF6B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2026-03-25T18:19:46Z</dcterms:created>
  <dcterms:modified xsi:type="dcterms:W3CDTF">2026-03-25T18:19:46Z</dcterms:modified>
</cp:coreProperties>
</file>