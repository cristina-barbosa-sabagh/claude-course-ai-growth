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 [0:00–1:00]
Pregunta directa: ¿cuántas veces por semana revisas tus métricas de Meta, Google y email en tres pestañas distintas, calculas a mano dónde está cayendo el funnel y terminas tomando la misma decisión de siempre porque no tienes tiempo para analizar todo a la vez?
La respuesta honesta para la mayoría de equipos es: todos los días.
Hoy eso se termina.
En los próximos 16 minutos construyes tu War Room de Growth: una sola pantalla en Google Sheets donde pegas tus métricas cada mañana, Claude las lee, detecta dónde se está rompiendo el funnel y te da UNA recomendación clara.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War Room tiene una lógica muy específica. No es un reporte. No es un dashboard de vanity metrics. Es una pantalla de decisión.
Remarcar con pausa: "una recomendación, no cinco". El objetivo es que en 30 segundos puedas decidir y ejecutar.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DESARROLLO 1 [1:00–6:00]
Zona 1: Aquí pegas cada mañana los números de ayer. ¿Por qué solo ayer? Porque la decisión que tomas hoy es sobre lo que pasó ayer.
Zona 2: Esta es la zona que la mayoría ignora y donde vive el verdadero problema. Debes ver las dos zonas juntas porque el problema rara vez es donde parece estar.
Zona 3: Lo que haces — seleccionas todo el rango de métricas, lo copias, abres Claude con tu prompt de sistema ya cargado, pegas los datos y envías. Treinta segundos.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flujo completo:
Abres el Sheet. Pegas las métricas de ayer. Copias todo. Abres Claude. Pegas. Recibes una recomendación. La ejecutas o la delegas.
Tiempo total: menos de diez minutos. Todos los días.
Si tu CAC subió esta semana, el reflejo es ajustar las pujas en Meta. Pero si tu activación cayó al mismo tiempo, el problema es que estás trayendo a las personas equivocadas — y subir o bajar pujas no lo resuelve. Claude necesita ver los dos bloques juntos.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DESARROLLO 2 [6:00–11:00]
El prompt de sistema es lo que convierte a Claude de chatbot genérico a estratega de tu War Room.
Nota el campo "métrica norte" — es el más importante. Si tu métrica norte es activación al día 1, Claude va a priorizar las señales de activación sobre las de adquisición aunque el CPM esté subiendo.
Define tu métrica norte antes de cargar el 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Fíjate en la estructura. Cuatro campos. Todos de una o dos líneas.
La restricción más importante: Claude no alucina cuando le das un marco de salida claro. Si falta un dato, te pregunta. Eso es mejor que una recomendación basada en suposiciones.
Este prompt, cargado en tu Project de Claude, convierte los primeros diez minutos de tu día en la decisión más importante de la jornada.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EN VIVO [11:00–15:00]
Lo que ven es el War Room con métricas de una campaña real — los números están ligeramente modificados.
CTR de Meta: 2.1%, dentro de rango. CPC subió 18%. Eso normalmente dispara el reflejo de ajustar pujas.
Pero miren la Zona 2: la activación cayó de 34% a 19% en tres días.
Eso no es un problema de Meta. Es un problema de lo que pasa después del clic.
Remarcar con pausa: "el problema rara vez está donde parece".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datos sin interpretación son ruido. Claude convierte datos en decisiones.
Hay cuatro tipos de análisis que Claude hace mejor — y todos están diseñados para tener un output accionable, no teórico.
El War Room no va a reemplazar tu juicio. Va a asegurarse de que tu juicio tenga todos los datos del funnel antes de decidir.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prompt no es una guía. Es el sistema operativo de tu morning review.
El War Room no es solo un dashboard. Es un ritual de decisión.
Nota técnica importante: NO intentar conectar Google Sheets con Claude via API. El flujo es copy-paste. El copy-paste funciona hoy. La integración técnica viene después.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[15:00–16:00]
Tu entregable de esta clase tiene dos cosas: la plantilla del War Room lista para duplicar en Google Sheets y el prompt de sistema completo para cargar en tu Project de Claude.
Tiempo para configurarlo: veinte minutos.
A partir de mañana, los primeros diez minutos de tu día tienen un output claro: una decisión, soportada por datos, lista para ejecutar.
El War Room no va a reemplazar tu juicio. Va a asegurarse de que tu juicio tenga todos los datos del funnel antes de decidir.
Clase 7: Claude Code. Construimos tu primera herramienta de Growth sin escribir una línea de código.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FF0000"/>
          </a:solidFill>
          <a:ln/>
        </p:spPr>
      </p:sp>
      <p:sp>
        <p:nvSpPr>
          <p:cNvPr id="3" name="Shape 1"/>
          <p:cNvSpPr/>
          <p:nvPr/>
        </p:nvSpPr>
        <p:spPr>
          <a:xfrm>
            <a:off x="548640" y="502920"/>
            <a:ext cx="2560320" cy="384048"/>
          </a:xfrm>
          <a:prstGeom prst="rect">
            <a:avLst/>
          </a:prstGeom>
          <a:solidFill>
            <a:srgbClr val="FF0000"/>
          </a:solidFill>
          <a:ln w="12700">
            <a:solidFill>
              <a:srgbClr val="FF0000"/>
            </a:solidFill>
            <a:prstDash val="solid"/>
          </a:ln>
        </p:spPr>
      </p:sp>
      <p:sp>
        <p:nvSpPr>
          <p:cNvPr id="4" name="Text 2"/>
          <p:cNvSpPr/>
          <p:nvPr/>
        </p:nvSpPr>
        <p:spPr>
          <a:xfrm>
            <a:off x="548640" y="502920"/>
            <a:ext cx="2560320" cy="38404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MÓDULO 02</a:t>
            </a:r>
            <a:endParaRPr lang="en-US" sz="1300" dirty="0"/>
          </a:p>
        </p:txBody>
      </p:sp>
      <p:sp>
        <p:nvSpPr>
          <p:cNvPr id="5" name="Text 3"/>
          <p:cNvSpPr/>
          <p:nvPr/>
        </p:nvSpPr>
        <p:spPr>
          <a:xfrm>
            <a:off x="548640" y="1188720"/>
            <a:ext cx="11064240" cy="3108960"/>
          </a:xfrm>
          <a:prstGeom prst="rect">
            <a:avLst/>
          </a:prstGeom>
          <a:noFill/>
          <a:ln/>
        </p:spPr>
        <p:txBody>
          <a:bodyPr wrap="square" rtlCol="0" anchor="t"/>
          <a:lstStyle/>
          <a:p>
            <a:pPr algn="l" indent="0" marL="0">
              <a:buNone/>
            </a:pPr>
            <a:r>
              <a:rPr lang="en-US" sz="4200" b="1" dirty="0">
                <a:solidFill>
                  <a:srgbClr val="FFFFFF"/>
                </a:solidFill>
                <a:latin typeface="Arial Black" pitchFamily="34" charset="0"/>
                <a:ea typeface="Arial Black" pitchFamily="34" charset="-122"/>
                <a:cs typeface="Arial Black" pitchFamily="34" charset="-120"/>
              </a:rPr>
              <a:t>War Room de Growth:</a:t>
            </a:r>
            <a:endParaRPr lang="en-US" sz="4200" dirty="0"/>
          </a:p>
          <a:p>
            <a:pPr algn="l" indent="0" marL="0">
              <a:buNone/>
            </a:pPr>
            <a:r>
              <a:rPr lang="en-US" sz="4200" b="1" dirty="0">
                <a:solidFill>
                  <a:srgbClr val="FFFFFF"/>
                </a:solidFill>
                <a:latin typeface="Arial Black" pitchFamily="34" charset="0"/>
                <a:ea typeface="Arial Black" pitchFamily="34" charset="-122"/>
                <a:cs typeface="Arial Black" pitchFamily="34" charset="-120"/>
              </a:rPr>
              <a:t>un dashboard en vivo donde</a:t>
            </a:r>
            <a:endParaRPr lang="en-US" sz="4200" dirty="0"/>
          </a:p>
          <a:p>
            <a:pPr algn="l" indent="0" marL="0">
              <a:buNone/>
            </a:pPr>
            <a:r>
              <a:rPr lang="en-US" sz="4200" b="1" dirty="0">
                <a:solidFill>
                  <a:srgbClr val="FFFFFF"/>
                </a:solidFill>
                <a:latin typeface="Arial Black" pitchFamily="34" charset="0"/>
                <a:ea typeface="Arial Black" pitchFamily="34" charset="-122"/>
                <a:cs typeface="Arial Black" pitchFamily="34" charset="-120"/>
              </a:rPr>
              <a:t>Claude es tu estratega</a:t>
            </a:r>
            <a:endParaRPr lang="en-US" sz="4200" dirty="0"/>
          </a:p>
        </p:txBody>
      </p:sp>
      <p:sp>
        <p:nvSpPr>
          <p:cNvPr id="6" name="Shape 4"/>
          <p:cNvSpPr/>
          <p:nvPr/>
        </p:nvSpPr>
        <p:spPr>
          <a:xfrm>
            <a:off x="548640" y="4434840"/>
            <a:ext cx="3200400" cy="73152"/>
          </a:xfrm>
          <a:prstGeom prst="rect">
            <a:avLst/>
          </a:prstGeom>
          <a:solidFill>
            <a:srgbClr val="FF6B00"/>
          </a:solidFill>
          <a:ln/>
        </p:spPr>
      </p:sp>
      <p:sp>
        <p:nvSpPr>
          <p:cNvPr id="7" name="Text 5"/>
          <p:cNvSpPr/>
          <p:nvPr/>
        </p:nvSpPr>
        <p:spPr>
          <a:xfrm>
            <a:off x="548640" y="4617720"/>
            <a:ext cx="10058400" cy="1097280"/>
          </a:xfrm>
          <a:prstGeom prst="rect">
            <a:avLst/>
          </a:prstGeom>
          <a:noFill/>
          <a:ln/>
        </p:spPr>
        <p:txBody>
          <a:bodyPr wrap="square" rtlCol="0" anchor="t"/>
          <a:lstStyle/>
          <a:p>
            <a:pPr algn="l" indent="0" marL="0">
              <a:buNone/>
            </a:pPr>
            <a:r>
              <a:rPr lang="en-US" sz="1800" dirty="0">
                <a:solidFill>
                  <a:srgbClr val="EEFF89"/>
                </a:solidFill>
                <a:latin typeface="Calibri" pitchFamily="34" charset="0"/>
                <a:ea typeface="Calibri" pitchFamily="34" charset="-122"/>
                <a:cs typeface="Calibri" pitchFamily="34" charset="-120"/>
              </a:rPr>
              <a:t>Módulo 02 · Clase 06 · Instructor A</a:t>
            </a:r>
            <a:endParaRPr lang="en-US" sz="1800" dirty="0"/>
          </a:p>
        </p:txBody>
      </p:sp>
      <p:sp>
        <p:nvSpPr>
          <p:cNvPr id="8" name="Shape 6"/>
          <p:cNvSpPr/>
          <p:nvPr/>
        </p:nvSpPr>
        <p:spPr>
          <a:xfrm>
            <a:off x="9601200" y="6126480"/>
            <a:ext cx="2011680" cy="457200"/>
          </a:xfrm>
          <a:prstGeom prst="rect">
            <a:avLst/>
          </a:prstGeom>
          <a:solidFill>
            <a:srgbClr val="FF6B00"/>
          </a:solidFill>
          <a:ln/>
        </p:spPr>
      </p:sp>
      <p:sp>
        <p:nvSpPr>
          <p:cNvPr id="9" name="Text 7"/>
          <p:cNvSpPr/>
          <p:nvPr/>
        </p:nvSpPr>
        <p:spPr>
          <a:xfrm>
            <a:off x="9601200" y="6126480"/>
            <a:ext cx="2011680" cy="4572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16 minutos</a:t>
            </a:r>
            <a:endParaRPr lang="en-US" sz="1400" dirty="0"/>
          </a:p>
        </p:txBody>
      </p:sp>
      <p:sp>
        <p:nvSpPr>
          <p:cNvPr id="10" name="Shape 8"/>
          <p:cNvSpPr/>
          <p:nvPr/>
        </p:nvSpPr>
        <p:spPr>
          <a:xfrm>
            <a:off x="0" y="6748272"/>
            <a:ext cx="12188952" cy="109728"/>
          </a:xfrm>
          <a:prstGeom prst="rect">
            <a:avLst/>
          </a:prstGeom>
          <a:solidFill>
            <a:srgbClr val="FF0000"/>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FF0000"/>
          </a:solidFill>
          <a:ln/>
        </p:spPr>
      </p:sp>
      <p:sp>
        <p:nvSpPr>
          <p:cNvPr id="3" name="Text 1"/>
          <p:cNvSpPr/>
          <p:nvPr/>
        </p:nvSpPr>
        <p:spPr>
          <a:xfrm>
            <a:off x="457200" y="457200"/>
            <a:ext cx="1828800" cy="1828800"/>
          </a:xfrm>
          <a:prstGeom prst="rect">
            <a:avLst/>
          </a:prstGeom>
          <a:noFill/>
          <a:ln/>
        </p:spPr>
        <p:txBody>
          <a:bodyPr wrap="square" rtlCol="0" anchor="t"/>
          <a:lstStyle/>
          <a:p>
            <a:pPr algn="l" indent="0" marL="0">
              <a:buNone/>
            </a:pPr>
            <a:r>
              <a:rPr lang="en-US" sz="9600" dirty="0">
                <a:solidFill>
                  <a:srgbClr val="FF0000"/>
                </a:solidFill>
                <a:latin typeface="Arial Black" pitchFamily="34" charset="0"/>
                <a:ea typeface="Arial Black" pitchFamily="34" charset="-122"/>
                <a:cs typeface="Arial Black" pitchFamily="34" charset="-120"/>
              </a:rPr>
              <a:t>“</a:t>
            </a:r>
            <a:endParaRPr lang="en-US" sz="9600" dirty="0"/>
          </a:p>
        </p:txBody>
      </p:sp>
      <p:sp>
        <p:nvSpPr>
          <p:cNvPr id="4" name="Text 2"/>
          <p:cNvSpPr/>
          <p:nvPr/>
        </p:nvSpPr>
        <p:spPr>
          <a:xfrm>
            <a:off x="1371600" y="1097280"/>
            <a:ext cx="9418320" cy="4114800"/>
          </a:xfrm>
          <a:prstGeom prst="rect">
            <a:avLst/>
          </a:prstGeom>
          <a:noFill/>
          <a:ln/>
        </p:spPr>
        <p:txBody>
          <a:bodyPr wrap="square" rtlCol="0" anchor="ctr"/>
          <a:lstStyle/>
          <a:p>
            <a:pPr algn="ctr" indent="0" marL="0">
              <a:buNone/>
            </a:pPr>
            <a:r>
              <a:rPr lang="en-US" sz="2200" i="1" dirty="0">
                <a:solidFill>
                  <a:srgbClr val="FFFFFF"/>
                </a:solidFill>
                <a:latin typeface="Calibri" pitchFamily="34" charset="0"/>
                <a:ea typeface="Calibri" pitchFamily="34" charset="-122"/>
                <a:cs typeface="Calibri" pitchFamily="34" charset="-120"/>
              </a:rPr>
              <a:t>El problema no es que falten datos.</a:t>
            </a:r>
            <a:endParaRPr lang="en-US" sz="2200" dirty="0"/>
          </a:p>
          <a:p>
            <a:pPr algn="ctr" indent="0" marL="0">
              <a:buNone/>
            </a:pPr>
            <a:r>
              <a:rPr lang="en-US" sz="2200" i="1" dirty="0">
                <a:solidFill>
                  <a:srgbClr val="FFFFFF"/>
                </a:solidFill>
                <a:latin typeface="Calibri" pitchFamily="34" charset="0"/>
                <a:ea typeface="Calibri" pitchFamily="34" charset="-122"/>
                <a:cs typeface="Calibri" pitchFamily="34" charset="-120"/>
              </a:rPr>
              <a:t>Es que sobran y nadie decide.</a:t>
            </a:r>
            <a:endParaRPr lang="en-US" sz="2200" dirty="0"/>
          </a:p>
          <a:p>
            <a:pPr algn="ctr" indent="0" marL="0">
              <a:buNone/>
            </a:pPr>
            <a:r>
              <a:rPr lang="en-US" sz="2200" i="1" dirty="0">
                <a:solidFill>
                  <a:srgbClr val="FFFFFF"/>
                </a:solidFill>
                <a:latin typeface="Calibri" pitchFamily="34" charset="0"/>
                <a:ea typeface="Calibri" pitchFamily="34" charset="-122"/>
                <a:cs typeface="Calibri" pitchFamily="34" charset="-120"/>
              </a:rPr>
              <a:t>Una recomendación. No cinco. Una.</a:t>
            </a:r>
            <a:endParaRPr lang="en-US" sz="2200" dirty="0"/>
          </a:p>
        </p:txBody>
      </p:sp>
      <p:sp>
        <p:nvSpPr>
          <p:cNvPr id="5" name="Shape 3"/>
          <p:cNvSpPr/>
          <p:nvPr/>
        </p:nvSpPr>
        <p:spPr>
          <a:xfrm>
            <a:off x="3657600" y="5394960"/>
            <a:ext cx="4873752" cy="73152"/>
          </a:xfrm>
          <a:prstGeom prst="rect">
            <a:avLst/>
          </a:prstGeom>
          <a:solidFill>
            <a:srgbClr val="FF0000"/>
          </a:solidFill>
          <a:ln/>
        </p:spPr>
      </p:sp>
      <p:sp>
        <p:nvSpPr>
          <p:cNvPr id="6" name="Text 4"/>
          <p:cNvSpPr/>
          <p:nvPr/>
        </p:nvSpPr>
        <p:spPr>
          <a:xfrm>
            <a:off x="1371600" y="5577840"/>
            <a:ext cx="9418320" cy="640080"/>
          </a:xfrm>
          <a:prstGeom prst="rect">
            <a:avLst/>
          </a:prstGeom>
          <a:noFill/>
          <a:ln/>
        </p:spPr>
        <p:txBody>
          <a:bodyPr wrap="square" rtlCol="0" anchor="ctr"/>
          <a:lstStyle/>
          <a:p>
            <a:pPr algn="ctr" indent="0" marL="0">
              <a:buNone/>
            </a:pPr>
            <a:r>
              <a:rPr lang="en-US" sz="1500" b="1" dirty="0">
                <a:solidFill>
                  <a:srgbClr val="EEFF89"/>
                </a:solidFill>
                <a:latin typeface="Calibri" pitchFamily="34" charset="0"/>
                <a:ea typeface="Calibri" pitchFamily="34" charset="-122"/>
                <a:cs typeface="Calibri" pitchFamily="34" charset="-120"/>
              </a:rPr>
              <a:t>War Room de Growth — el sistema de decisión diaria</a:t>
            </a:r>
            <a:endParaRPr lang="en-US" sz="1500" dirty="0"/>
          </a:p>
        </p:txBody>
      </p:sp>
      <p:sp>
        <p:nvSpPr>
          <p:cNvPr id="7" name="Shape 5"/>
          <p:cNvSpPr/>
          <p:nvPr/>
        </p:nvSpPr>
        <p:spPr>
          <a:xfrm>
            <a:off x="0" y="6748272"/>
            <a:ext cx="12188952" cy="109728"/>
          </a:xfrm>
          <a:prstGeom prst="rect">
            <a:avLst/>
          </a:prstGeom>
          <a:solidFill>
            <a:srgbClr val="FF0000"/>
          </a:solidFill>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FF0000"/>
          </a:solidFill>
          <a:ln/>
        </p:spPr>
      </p:sp>
      <p:sp>
        <p:nvSpPr>
          <p:cNvPr id="3" name="Text 1"/>
          <p:cNvSpPr/>
          <p:nvPr/>
        </p:nvSpPr>
        <p:spPr>
          <a:xfrm>
            <a:off x="365760" y="0"/>
            <a:ext cx="11430000" cy="1005840"/>
          </a:xfrm>
          <a:prstGeom prst="rect">
            <a:avLst/>
          </a:prstGeom>
          <a:noFill/>
          <a:ln/>
        </p:spPr>
        <p:txBody>
          <a:bodyPr wrap="square" rtlCol="0" anchor="ctr"/>
          <a:lstStyle/>
          <a:p>
            <a:pPr indent="0" marL="0">
              <a:buNone/>
            </a:pPr>
            <a:r>
              <a:rPr lang="en-US" sz="2600" b="1" dirty="0">
                <a:solidFill>
                  <a:srgbClr val="FFFFFF"/>
                </a:solidFill>
                <a:latin typeface="Arial Black" pitchFamily="34" charset="0"/>
                <a:ea typeface="Arial Black" pitchFamily="34" charset="-122"/>
                <a:cs typeface="Arial Black" pitchFamily="34" charset="-120"/>
              </a:rPr>
              <a:t>La estructura del War Room: 3 zonas, una pantalla</a:t>
            </a:r>
            <a:endParaRPr lang="en-US" sz="2600" dirty="0"/>
          </a:p>
        </p:txBody>
      </p:sp>
      <p:sp>
        <p:nvSpPr>
          <p:cNvPr id="4" name="Shape 2"/>
          <p:cNvSpPr/>
          <p:nvPr/>
        </p:nvSpPr>
        <p:spPr>
          <a:xfrm>
            <a:off x="320040" y="1188720"/>
            <a:ext cx="3657600" cy="548640"/>
          </a:xfrm>
          <a:prstGeom prst="rect">
            <a:avLst/>
          </a:prstGeom>
          <a:solidFill>
            <a:srgbClr val="FF0000"/>
          </a:solidFill>
          <a:ln/>
        </p:spPr>
      </p:sp>
      <p:sp>
        <p:nvSpPr>
          <p:cNvPr id="5" name="Text 3"/>
          <p:cNvSpPr/>
          <p:nvPr/>
        </p:nvSpPr>
        <p:spPr>
          <a:xfrm>
            <a:off x="320040" y="1188720"/>
            <a:ext cx="3657600" cy="54864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ZONA 1 — ADQUISICIÓN</a:t>
            </a:r>
            <a:endParaRPr lang="en-US" sz="1500" dirty="0"/>
          </a:p>
        </p:txBody>
      </p:sp>
      <p:sp>
        <p:nvSpPr>
          <p:cNvPr id="6" name="Shape 4"/>
          <p:cNvSpPr/>
          <p:nvPr/>
        </p:nvSpPr>
        <p:spPr>
          <a:xfrm>
            <a:off x="320040" y="1737360"/>
            <a:ext cx="3657600" cy="4846320"/>
          </a:xfrm>
          <a:prstGeom prst="rect">
            <a:avLst/>
          </a:prstGeom>
          <a:solidFill>
            <a:srgbClr val="FAFAFA"/>
          </a:solidFill>
          <a:ln w="12700">
            <a:solidFill>
              <a:srgbClr val="DDDDDD"/>
            </a:solidFill>
            <a:prstDash val="solid"/>
          </a:ln>
        </p:spPr>
      </p:sp>
      <p:sp>
        <p:nvSpPr>
          <p:cNvPr id="7" name="Shape 5"/>
          <p:cNvSpPr/>
          <p:nvPr/>
        </p:nvSpPr>
        <p:spPr>
          <a:xfrm>
            <a:off x="429768" y="1920240"/>
            <a:ext cx="54864" cy="475488"/>
          </a:xfrm>
          <a:prstGeom prst="rect">
            <a:avLst/>
          </a:prstGeom>
          <a:solidFill>
            <a:srgbClr val="FF0000"/>
          </a:solidFill>
          <a:ln/>
        </p:spPr>
      </p:sp>
      <p:sp>
        <p:nvSpPr>
          <p:cNvPr id="8" name="Text 6"/>
          <p:cNvSpPr/>
          <p:nvPr/>
        </p:nvSpPr>
        <p:spPr>
          <a:xfrm>
            <a:off x="594360" y="1901952"/>
            <a:ext cx="3291840" cy="658368"/>
          </a:xfrm>
          <a:prstGeom prst="rect">
            <a:avLst/>
          </a:prstGeom>
          <a:noFill/>
          <a:ln/>
        </p:spPr>
        <p:txBody>
          <a:bodyPr wrap="square" rtlCol="0" anchor="ctr"/>
          <a:lstStyle/>
          <a:p>
            <a:pPr indent="0" marL="0">
              <a:buNone/>
            </a:pPr>
            <a:r>
              <a:rPr lang="en-US" sz="1300" dirty="0">
                <a:solidFill>
                  <a:srgbClr val="000000"/>
                </a:solidFill>
                <a:latin typeface="Calibri" pitchFamily="34" charset="0"/>
                <a:ea typeface="Calibri" pitchFamily="34" charset="-122"/>
                <a:cs typeface="Calibri" pitchFamily="34" charset="-120"/>
              </a:rPr>
              <a:t>Métricas de ayer de Meta, Google y email</a:t>
            </a:r>
            <a:endParaRPr lang="en-US" sz="1300" dirty="0"/>
          </a:p>
        </p:txBody>
      </p:sp>
      <p:sp>
        <p:nvSpPr>
          <p:cNvPr id="9" name="Shape 7"/>
          <p:cNvSpPr/>
          <p:nvPr/>
        </p:nvSpPr>
        <p:spPr>
          <a:xfrm>
            <a:off x="429768" y="2724912"/>
            <a:ext cx="54864" cy="475488"/>
          </a:xfrm>
          <a:prstGeom prst="rect">
            <a:avLst/>
          </a:prstGeom>
          <a:solidFill>
            <a:srgbClr val="FF0000"/>
          </a:solidFill>
          <a:ln/>
        </p:spPr>
      </p:sp>
      <p:sp>
        <p:nvSpPr>
          <p:cNvPr id="10" name="Text 8"/>
          <p:cNvSpPr/>
          <p:nvPr/>
        </p:nvSpPr>
        <p:spPr>
          <a:xfrm>
            <a:off x="594360" y="2706624"/>
            <a:ext cx="3291840" cy="658368"/>
          </a:xfrm>
          <a:prstGeom prst="rect">
            <a:avLst/>
          </a:prstGeom>
          <a:noFill/>
          <a:ln/>
        </p:spPr>
        <p:txBody>
          <a:bodyPr wrap="square" rtlCol="0" anchor="ctr"/>
          <a:lstStyle/>
          <a:p>
            <a:pPr indent="0" marL="0">
              <a:buNone/>
            </a:pPr>
            <a:r>
              <a:rPr lang="en-US" sz="1300" dirty="0">
                <a:solidFill>
                  <a:srgbClr val="000000"/>
                </a:solidFill>
                <a:latin typeface="Calibri" pitchFamily="34" charset="0"/>
                <a:ea typeface="Calibri" pitchFamily="34" charset="-122"/>
                <a:cs typeface="Calibri" pitchFamily="34" charset="-120"/>
              </a:rPr>
              <a:t>Fecha, canal, impresiones, clics, CTR</a:t>
            </a:r>
            <a:endParaRPr lang="en-US" sz="1300" dirty="0"/>
          </a:p>
        </p:txBody>
      </p:sp>
      <p:sp>
        <p:nvSpPr>
          <p:cNvPr id="11" name="Shape 9"/>
          <p:cNvSpPr/>
          <p:nvPr/>
        </p:nvSpPr>
        <p:spPr>
          <a:xfrm>
            <a:off x="429768" y="3529584"/>
            <a:ext cx="54864" cy="475488"/>
          </a:xfrm>
          <a:prstGeom prst="rect">
            <a:avLst/>
          </a:prstGeom>
          <a:solidFill>
            <a:srgbClr val="FF0000"/>
          </a:solidFill>
          <a:ln/>
        </p:spPr>
      </p:sp>
      <p:sp>
        <p:nvSpPr>
          <p:cNvPr id="12" name="Text 10"/>
          <p:cNvSpPr/>
          <p:nvPr/>
        </p:nvSpPr>
        <p:spPr>
          <a:xfrm>
            <a:off x="594360" y="3511296"/>
            <a:ext cx="3291840" cy="658368"/>
          </a:xfrm>
          <a:prstGeom prst="rect">
            <a:avLst/>
          </a:prstGeom>
          <a:noFill/>
          <a:ln/>
        </p:spPr>
        <p:txBody>
          <a:bodyPr wrap="square" rtlCol="0" anchor="ctr"/>
          <a:lstStyle/>
          <a:p>
            <a:pPr indent="0" marL="0">
              <a:buNone/>
            </a:pPr>
            <a:r>
              <a:rPr lang="en-US" sz="1300" dirty="0">
                <a:solidFill>
                  <a:srgbClr val="000000"/>
                </a:solidFill>
                <a:latin typeface="Calibri" pitchFamily="34" charset="0"/>
                <a:ea typeface="Calibri" pitchFamily="34" charset="-122"/>
                <a:cs typeface="Calibri" pitchFamily="34" charset="-120"/>
              </a:rPr>
              <a:t>CPM, CPC, gasto total, conversiones</a:t>
            </a:r>
            <a:endParaRPr lang="en-US" sz="1300" dirty="0"/>
          </a:p>
        </p:txBody>
      </p:sp>
      <p:sp>
        <p:nvSpPr>
          <p:cNvPr id="13" name="Shape 11"/>
          <p:cNvSpPr/>
          <p:nvPr/>
        </p:nvSpPr>
        <p:spPr>
          <a:xfrm>
            <a:off x="429768" y="4334256"/>
            <a:ext cx="54864" cy="475488"/>
          </a:xfrm>
          <a:prstGeom prst="rect">
            <a:avLst/>
          </a:prstGeom>
          <a:solidFill>
            <a:srgbClr val="FF0000"/>
          </a:solidFill>
          <a:ln/>
        </p:spPr>
      </p:sp>
      <p:sp>
        <p:nvSpPr>
          <p:cNvPr id="14" name="Text 12"/>
          <p:cNvSpPr/>
          <p:nvPr/>
        </p:nvSpPr>
        <p:spPr>
          <a:xfrm>
            <a:off x="594360" y="4315968"/>
            <a:ext cx="3291840" cy="658368"/>
          </a:xfrm>
          <a:prstGeom prst="rect">
            <a:avLst/>
          </a:prstGeom>
          <a:noFill/>
          <a:ln/>
        </p:spPr>
        <p:txBody>
          <a:bodyPr wrap="square" rtlCol="0" anchor="ctr"/>
          <a:lstStyle/>
          <a:p>
            <a:pPr indent="0" marL="0">
              <a:buNone/>
            </a:pPr>
            <a:r>
              <a:rPr lang="en-US" sz="1300" dirty="0">
                <a:solidFill>
                  <a:srgbClr val="000000"/>
                </a:solidFill>
                <a:latin typeface="Calibri" pitchFamily="34" charset="0"/>
                <a:ea typeface="Calibri" pitchFamily="34" charset="-122"/>
                <a:cs typeface="Calibri" pitchFamily="34" charset="-120"/>
              </a:rPr>
              <a:t>Costo por conversión, variación vs. lunes</a:t>
            </a:r>
            <a:endParaRPr lang="en-US" sz="1300" dirty="0"/>
          </a:p>
        </p:txBody>
      </p:sp>
      <p:sp>
        <p:nvSpPr>
          <p:cNvPr id="15" name="Shape 13"/>
          <p:cNvSpPr/>
          <p:nvPr/>
        </p:nvSpPr>
        <p:spPr>
          <a:xfrm>
            <a:off x="429768" y="5138928"/>
            <a:ext cx="54864" cy="475488"/>
          </a:xfrm>
          <a:prstGeom prst="rect">
            <a:avLst/>
          </a:prstGeom>
          <a:solidFill>
            <a:srgbClr val="FF0000"/>
          </a:solidFill>
          <a:ln/>
        </p:spPr>
      </p:sp>
      <p:sp>
        <p:nvSpPr>
          <p:cNvPr id="16" name="Text 14"/>
          <p:cNvSpPr/>
          <p:nvPr/>
        </p:nvSpPr>
        <p:spPr>
          <a:xfrm>
            <a:off x="594360" y="5120640"/>
            <a:ext cx="3291840" cy="658368"/>
          </a:xfrm>
          <a:prstGeom prst="rect">
            <a:avLst/>
          </a:prstGeom>
          <a:noFill/>
          <a:ln/>
        </p:spPr>
        <p:txBody>
          <a:bodyPr wrap="square" rtlCol="0" anchor="ctr"/>
          <a:lstStyle/>
          <a:p>
            <a:pPr indent="0" marL="0">
              <a:buNone/>
            </a:pPr>
            <a:r>
              <a:rPr lang="en-US" sz="1300" dirty="0">
                <a:solidFill>
                  <a:srgbClr val="000000"/>
                </a:solidFill>
                <a:latin typeface="Calibri" pitchFamily="34" charset="0"/>
                <a:ea typeface="Calibri" pitchFamily="34" charset="-122"/>
                <a:cs typeface="Calibri" pitchFamily="34" charset="-120"/>
              </a:rPr>
              <a:t>Fuente: plataformas. Tiempo: 3–4 min.</a:t>
            </a:r>
            <a:endParaRPr lang="en-US" sz="1300" dirty="0"/>
          </a:p>
        </p:txBody>
      </p:sp>
      <p:sp>
        <p:nvSpPr>
          <p:cNvPr id="17" name="Shape 15"/>
          <p:cNvSpPr/>
          <p:nvPr/>
        </p:nvSpPr>
        <p:spPr>
          <a:xfrm>
            <a:off x="4343400" y="1188720"/>
            <a:ext cx="3657600" cy="548640"/>
          </a:xfrm>
          <a:prstGeom prst="rect">
            <a:avLst/>
          </a:prstGeom>
          <a:solidFill>
            <a:srgbClr val="FF6B00"/>
          </a:solidFill>
          <a:ln/>
        </p:spPr>
      </p:sp>
      <p:sp>
        <p:nvSpPr>
          <p:cNvPr id="18" name="Text 16"/>
          <p:cNvSpPr/>
          <p:nvPr/>
        </p:nvSpPr>
        <p:spPr>
          <a:xfrm>
            <a:off x="4343400" y="1188720"/>
            <a:ext cx="3657600" cy="54864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ZONA 2 — ACTIVACIÓN</a:t>
            </a:r>
            <a:endParaRPr lang="en-US" sz="1500" dirty="0"/>
          </a:p>
        </p:txBody>
      </p:sp>
      <p:sp>
        <p:nvSpPr>
          <p:cNvPr id="19" name="Shape 17"/>
          <p:cNvSpPr/>
          <p:nvPr/>
        </p:nvSpPr>
        <p:spPr>
          <a:xfrm>
            <a:off x="4343400" y="1737360"/>
            <a:ext cx="3657600" cy="4846320"/>
          </a:xfrm>
          <a:prstGeom prst="rect">
            <a:avLst/>
          </a:prstGeom>
          <a:solidFill>
            <a:srgbClr val="FAFAFA"/>
          </a:solidFill>
          <a:ln w="12700">
            <a:solidFill>
              <a:srgbClr val="DDDDDD"/>
            </a:solidFill>
            <a:prstDash val="solid"/>
          </a:ln>
        </p:spPr>
      </p:sp>
      <p:sp>
        <p:nvSpPr>
          <p:cNvPr id="20" name="Shape 18"/>
          <p:cNvSpPr/>
          <p:nvPr/>
        </p:nvSpPr>
        <p:spPr>
          <a:xfrm>
            <a:off x="4453128" y="1920240"/>
            <a:ext cx="54864" cy="475488"/>
          </a:xfrm>
          <a:prstGeom prst="rect">
            <a:avLst/>
          </a:prstGeom>
          <a:solidFill>
            <a:srgbClr val="FF6B00"/>
          </a:solidFill>
          <a:ln/>
        </p:spPr>
      </p:sp>
      <p:sp>
        <p:nvSpPr>
          <p:cNvPr id="21" name="Text 19"/>
          <p:cNvSpPr/>
          <p:nvPr/>
        </p:nvSpPr>
        <p:spPr>
          <a:xfrm>
            <a:off x="4617720" y="1901952"/>
            <a:ext cx="3291840" cy="658368"/>
          </a:xfrm>
          <a:prstGeom prst="rect">
            <a:avLst/>
          </a:prstGeom>
          <a:noFill/>
          <a:ln/>
        </p:spPr>
        <p:txBody>
          <a:bodyPr wrap="square" rtlCol="0" anchor="ctr"/>
          <a:lstStyle/>
          <a:p>
            <a:pPr indent="0" marL="0">
              <a:buNone/>
            </a:pPr>
            <a:r>
              <a:rPr lang="en-US" sz="1300" dirty="0">
                <a:solidFill>
                  <a:srgbClr val="000000"/>
                </a:solidFill>
                <a:latin typeface="Calibri" pitchFamily="34" charset="0"/>
                <a:ea typeface="Calibri" pitchFamily="34" charset="-122"/>
                <a:cs typeface="Calibri" pitchFamily="34" charset="-120"/>
              </a:rPr>
              <a:t>Lo que pasa DESPUÉS del clic</a:t>
            </a:r>
            <a:endParaRPr lang="en-US" sz="1300" dirty="0"/>
          </a:p>
        </p:txBody>
      </p:sp>
      <p:sp>
        <p:nvSpPr>
          <p:cNvPr id="22" name="Shape 20"/>
          <p:cNvSpPr/>
          <p:nvPr/>
        </p:nvSpPr>
        <p:spPr>
          <a:xfrm>
            <a:off x="4453128" y="2724912"/>
            <a:ext cx="54864" cy="475488"/>
          </a:xfrm>
          <a:prstGeom prst="rect">
            <a:avLst/>
          </a:prstGeom>
          <a:solidFill>
            <a:srgbClr val="FF6B00"/>
          </a:solidFill>
          <a:ln/>
        </p:spPr>
      </p:sp>
      <p:sp>
        <p:nvSpPr>
          <p:cNvPr id="23" name="Text 21"/>
          <p:cNvSpPr/>
          <p:nvPr/>
        </p:nvSpPr>
        <p:spPr>
          <a:xfrm>
            <a:off x="4617720" y="2706624"/>
            <a:ext cx="3291840" cy="658368"/>
          </a:xfrm>
          <a:prstGeom prst="rect">
            <a:avLst/>
          </a:prstGeom>
          <a:noFill/>
          <a:ln/>
        </p:spPr>
        <p:txBody>
          <a:bodyPr wrap="square" rtlCol="0" anchor="ctr"/>
          <a:lstStyle/>
          <a:p>
            <a:pPr indent="0" marL="0">
              <a:buNone/>
            </a:pPr>
            <a:r>
              <a:rPr lang="en-US" sz="1300" dirty="0">
                <a:solidFill>
                  <a:srgbClr val="000000"/>
                </a:solidFill>
                <a:latin typeface="Calibri" pitchFamily="34" charset="0"/>
                <a:ea typeface="Calibri" pitchFamily="34" charset="-122"/>
                <a:cs typeface="Calibri" pitchFamily="34" charset="-120"/>
              </a:rPr>
              <a:t>Nuevos registros, onboarding completado</a:t>
            </a:r>
            <a:endParaRPr lang="en-US" sz="1300" dirty="0"/>
          </a:p>
        </p:txBody>
      </p:sp>
      <p:sp>
        <p:nvSpPr>
          <p:cNvPr id="24" name="Shape 22"/>
          <p:cNvSpPr/>
          <p:nvPr/>
        </p:nvSpPr>
        <p:spPr>
          <a:xfrm>
            <a:off x="4453128" y="3529584"/>
            <a:ext cx="54864" cy="475488"/>
          </a:xfrm>
          <a:prstGeom prst="rect">
            <a:avLst/>
          </a:prstGeom>
          <a:solidFill>
            <a:srgbClr val="FF6B00"/>
          </a:solidFill>
          <a:ln/>
        </p:spPr>
      </p:sp>
      <p:sp>
        <p:nvSpPr>
          <p:cNvPr id="25" name="Text 23"/>
          <p:cNvSpPr/>
          <p:nvPr/>
        </p:nvSpPr>
        <p:spPr>
          <a:xfrm>
            <a:off x="4617720" y="3511296"/>
            <a:ext cx="3291840" cy="658368"/>
          </a:xfrm>
          <a:prstGeom prst="rect">
            <a:avLst/>
          </a:prstGeom>
          <a:noFill/>
          <a:ln/>
        </p:spPr>
        <p:txBody>
          <a:bodyPr wrap="square" rtlCol="0" anchor="ctr"/>
          <a:lstStyle/>
          <a:p>
            <a:pPr indent="0" marL="0">
              <a:buNone/>
            </a:pPr>
            <a:r>
              <a:rPr lang="en-US" sz="1300" dirty="0">
                <a:solidFill>
                  <a:srgbClr val="000000"/>
                </a:solidFill>
                <a:latin typeface="Calibri" pitchFamily="34" charset="0"/>
                <a:ea typeface="Calibri" pitchFamily="34" charset="-122"/>
                <a:cs typeface="Calibri" pitchFamily="34" charset="-120"/>
              </a:rPr>
              <a:t>% activación día 1, usuarios activos 7d</a:t>
            </a:r>
            <a:endParaRPr lang="en-US" sz="1300" dirty="0"/>
          </a:p>
        </p:txBody>
      </p:sp>
      <p:sp>
        <p:nvSpPr>
          <p:cNvPr id="26" name="Shape 24"/>
          <p:cNvSpPr/>
          <p:nvPr/>
        </p:nvSpPr>
        <p:spPr>
          <a:xfrm>
            <a:off x="4453128" y="4334256"/>
            <a:ext cx="54864" cy="475488"/>
          </a:xfrm>
          <a:prstGeom prst="rect">
            <a:avLst/>
          </a:prstGeom>
          <a:solidFill>
            <a:srgbClr val="FF6B00"/>
          </a:solidFill>
          <a:ln/>
        </p:spPr>
      </p:sp>
      <p:sp>
        <p:nvSpPr>
          <p:cNvPr id="27" name="Text 25"/>
          <p:cNvSpPr/>
          <p:nvPr/>
        </p:nvSpPr>
        <p:spPr>
          <a:xfrm>
            <a:off x="4617720" y="4315968"/>
            <a:ext cx="3291840" cy="658368"/>
          </a:xfrm>
          <a:prstGeom prst="rect">
            <a:avLst/>
          </a:prstGeom>
          <a:noFill/>
          <a:ln/>
        </p:spPr>
        <p:txBody>
          <a:bodyPr wrap="square" rtlCol="0" anchor="ctr"/>
          <a:lstStyle/>
          <a:p>
            <a:pPr indent="0" marL="0">
              <a:buNone/>
            </a:pPr>
            <a:r>
              <a:rPr lang="en-US" sz="1300" dirty="0">
                <a:solidFill>
                  <a:srgbClr val="000000"/>
                </a:solidFill>
                <a:latin typeface="Calibri" pitchFamily="34" charset="0"/>
                <a:ea typeface="Calibri" pitchFamily="34" charset="-122"/>
                <a:cs typeface="Calibri" pitchFamily="34" charset="-120"/>
              </a:rPr>
              <a:t>Churn de la semana, % retención 7d</a:t>
            </a:r>
            <a:endParaRPr lang="en-US" sz="1300" dirty="0"/>
          </a:p>
        </p:txBody>
      </p:sp>
      <p:sp>
        <p:nvSpPr>
          <p:cNvPr id="28" name="Shape 26"/>
          <p:cNvSpPr/>
          <p:nvPr/>
        </p:nvSpPr>
        <p:spPr>
          <a:xfrm>
            <a:off x="4453128" y="5138928"/>
            <a:ext cx="54864" cy="475488"/>
          </a:xfrm>
          <a:prstGeom prst="rect">
            <a:avLst/>
          </a:prstGeom>
          <a:solidFill>
            <a:srgbClr val="FF6B00"/>
          </a:solidFill>
          <a:ln/>
        </p:spPr>
      </p:sp>
      <p:sp>
        <p:nvSpPr>
          <p:cNvPr id="29" name="Text 27"/>
          <p:cNvSpPr/>
          <p:nvPr/>
        </p:nvSpPr>
        <p:spPr>
          <a:xfrm>
            <a:off x="4617720" y="5120640"/>
            <a:ext cx="3291840" cy="658368"/>
          </a:xfrm>
          <a:prstGeom prst="rect">
            <a:avLst/>
          </a:prstGeom>
          <a:noFill/>
          <a:ln/>
        </p:spPr>
        <p:txBody>
          <a:bodyPr wrap="square" rtlCol="0" anchor="ctr"/>
          <a:lstStyle/>
          <a:p>
            <a:pPr indent="0" marL="0">
              <a:buNone/>
            </a:pPr>
            <a:r>
              <a:rPr lang="en-US" sz="1300" dirty="0">
                <a:solidFill>
                  <a:srgbClr val="000000"/>
                </a:solidFill>
                <a:latin typeface="Calibri" pitchFamily="34" charset="0"/>
                <a:ea typeface="Calibri" pitchFamily="34" charset="-122"/>
                <a:cs typeface="Calibri" pitchFamily="34" charset="-120"/>
              </a:rPr>
              <a:t>Nota del día (contexto cualitativo)</a:t>
            </a:r>
            <a:endParaRPr lang="en-US" sz="1300" dirty="0"/>
          </a:p>
        </p:txBody>
      </p:sp>
      <p:sp>
        <p:nvSpPr>
          <p:cNvPr id="30" name="Shape 28"/>
          <p:cNvSpPr/>
          <p:nvPr/>
        </p:nvSpPr>
        <p:spPr>
          <a:xfrm>
            <a:off x="8366760" y="1188720"/>
            <a:ext cx="3657600" cy="548640"/>
          </a:xfrm>
          <a:prstGeom prst="rect">
            <a:avLst/>
          </a:prstGeom>
          <a:solidFill>
            <a:srgbClr val="000000"/>
          </a:solidFill>
          <a:ln/>
        </p:spPr>
      </p:sp>
      <p:sp>
        <p:nvSpPr>
          <p:cNvPr id="31" name="Text 29"/>
          <p:cNvSpPr/>
          <p:nvPr/>
        </p:nvSpPr>
        <p:spPr>
          <a:xfrm>
            <a:off x="8366760" y="1188720"/>
            <a:ext cx="3657600" cy="54864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ZONA 3 — COMANDO</a:t>
            </a:r>
            <a:endParaRPr lang="en-US" sz="1500" dirty="0"/>
          </a:p>
        </p:txBody>
      </p:sp>
      <p:sp>
        <p:nvSpPr>
          <p:cNvPr id="32" name="Shape 30"/>
          <p:cNvSpPr/>
          <p:nvPr/>
        </p:nvSpPr>
        <p:spPr>
          <a:xfrm>
            <a:off x="8366760" y="1737360"/>
            <a:ext cx="3657600" cy="4846320"/>
          </a:xfrm>
          <a:prstGeom prst="rect">
            <a:avLst/>
          </a:prstGeom>
          <a:solidFill>
            <a:srgbClr val="FAFAFA"/>
          </a:solidFill>
          <a:ln w="12700">
            <a:solidFill>
              <a:srgbClr val="DDDDDD"/>
            </a:solidFill>
            <a:prstDash val="solid"/>
          </a:ln>
        </p:spPr>
      </p:sp>
      <p:sp>
        <p:nvSpPr>
          <p:cNvPr id="33" name="Shape 31"/>
          <p:cNvSpPr/>
          <p:nvPr/>
        </p:nvSpPr>
        <p:spPr>
          <a:xfrm>
            <a:off x="8476488" y="1920240"/>
            <a:ext cx="54864" cy="475488"/>
          </a:xfrm>
          <a:prstGeom prst="rect">
            <a:avLst/>
          </a:prstGeom>
          <a:solidFill>
            <a:srgbClr val="000000"/>
          </a:solidFill>
          <a:ln/>
        </p:spPr>
      </p:sp>
      <p:sp>
        <p:nvSpPr>
          <p:cNvPr id="34" name="Text 32"/>
          <p:cNvSpPr/>
          <p:nvPr/>
        </p:nvSpPr>
        <p:spPr>
          <a:xfrm>
            <a:off x="8641080" y="1901952"/>
            <a:ext cx="3291840" cy="658368"/>
          </a:xfrm>
          <a:prstGeom prst="rect">
            <a:avLst/>
          </a:prstGeom>
          <a:noFill/>
          <a:ln/>
        </p:spPr>
        <p:txBody>
          <a:bodyPr wrap="square" rtlCol="0" anchor="ctr"/>
          <a:lstStyle/>
          <a:p>
            <a:pPr indent="0" marL="0">
              <a:buNone/>
            </a:pPr>
            <a:r>
              <a:rPr lang="en-US" sz="1300" dirty="0">
                <a:solidFill>
                  <a:srgbClr val="000000"/>
                </a:solidFill>
                <a:latin typeface="Calibri" pitchFamily="34" charset="0"/>
                <a:ea typeface="Calibri" pitchFamily="34" charset="-122"/>
                <a:cs typeface="Calibri" pitchFamily="34" charset="-120"/>
              </a:rPr>
              <a:t>Celda debajo de las dos zonas</a:t>
            </a:r>
            <a:endParaRPr lang="en-US" sz="1300" dirty="0"/>
          </a:p>
        </p:txBody>
      </p:sp>
      <p:sp>
        <p:nvSpPr>
          <p:cNvPr id="35" name="Shape 33"/>
          <p:cNvSpPr/>
          <p:nvPr/>
        </p:nvSpPr>
        <p:spPr>
          <a:xfrm>
            <a:off x="8476488" y="2724912"/>
            <a:ext cx="54864" cy="475488"/>
          </a:xfrm>
          <a:prstGeom prst="rect">
            <a:avLst/>
          </a:prstGeom>
          <a:solidFill>
            <a:srgbClr val="000000"/>
          </a:solidFill>
          <a:ln/>
        </p:spPr>
      </p:sp>
      <p:sp>
        <p:nvSpPr>
          <p:cNvPr id="36" name="Text 34"/>
          <p:cNvSpPr/>
          <p:nvPr/>
        </p:nvSpPr>
        <p:spPr>
          <a:xfrm>
            <a:off x="8641080" y="2706624"/>
            <a:ext cx="3291840" cy="658368"/>
          </a:xfrm>
          <a:prstGeom prst="rect">
            <a:avLst/>
          </a:prstGeom>
          <a:noFill/>
          <a:ln/>
        </p:spPr>
        <p:txBody>
          <a:bodyPr wrap="square" rtlCol="0" anchor="ctr"/>
          <a:lstStyle/>
          <a:p>
            <a:pPr indent="0" marL="0">
              <a:buNone/>
            </a:pPr>
            <a:r>
              <a:rPr lang="en-US" sz="1300" dirty="0">
                <a:solidFill>
                  <a:srgbClr val="000000"/>
                </a:solidFill>
                <a:latin typeface="Calibri" pitchFamily="34" charset="0"/>
                <a:ea typeface="Calibri" pitchFamily="34" charset="-122"/>
                <a:cs typeface="Calibri" pitchFamily="34" charset="-120"/>
              </a:rPr>
              <a:t>Texto: "ANÁLISIS DE HOY — PEGAR AQUÍ"</a:t>
            </a:r>
            <a:endParaRPr lang="en-US" sz="1300" dirty="0"/>
          </a:p>
        </p:txBody>
      </p:sp>
      <p:sp>
        <p:nvSpPr>
          <p:cNvPr id="37" name="Shape 35"/>
          <p:cNvSpPr/>
          <p:nvPr/>
        </p:nvSpPr>
        <p:spPr>
          <a:xfrm>
            <a:off x="8476488" y="3529584"/>
            <a:ext cx="54864" cy="475488"/>
          </a:xfrm>
          <a:prstGeom prst="rect">
            <a:avLst/>
          </a:prstGeom>
          <a:solidFill>
            <a:srgbClr val="000000"/>
          </a:solidFill>
          <a:ln/>
        </p:spPr>
      </p:sp>
      <p:sp>
        <p:nvSpPr>
          <p:cNvPr id="38" name="Text 36"/>
          <p:cNvSpPr/>
          <p:nvPr/>
        </p:nvSpPr>
        <p:spPr>
          <a:xfrm>
            <a:off x="8641080" y="3511296"/>
            <a:ext cx="3291840" cy="658368"/>
          </a:xfrm>
          <a:prstGeom prst="rect">
            <a:avLst/>
          </a:prstGeom>
          <a:noFill/>
          <a:ln/>
        </p:spPr>
        <p:txBody>
          <a:bodyPr wrap="square" rtlCol="0" anchor="ctr"/>
          <a:lstStyle/>
          <a:p>
            <a:pPr indent="0" marL="0">
              <a:buNone/>
            </a:pPr>
            <a:r>
              <a:rPr lang="en-US" sz="1300" dirty="0">
                <a:solidFill>
                  <a:srgbClr val="000000"/>
                </a:solidFill>
                <a:latin typeface="Calibri" pitchFamily="34" charset="0"/>
                <a:ea typeface="Calibri" pitchFamily="34" charset="-122"/>
                <a:cs typeface="Calibri" pitchFamily="34" charset="-120"/>
              </a:rPr>
              <a:t>Seleccionar Zona 1 + Zona 2 → copiar</a:t>
            </a:r>
            <a:endParaRPr lang="en-US" sz="1300" dirty="0"/>
          </a:p>
        </p:txBody>
      </p:sp>
      <p:sp>
        <p:nvSpPr>
          <p:cNvPr id="39" name="Shape 37"/>
          <p:cNvSpPr/>
          <p:nvPr/>
        </p:nvSpPr>
        <p:spPr>
          <a:xfrm>
            <a:off x="8476488" y="4334256"/>
            <a:ext cx="54864" cy="475488"/>
          </a:xfrm>
          <a:prstGeom prst="rect">
            <a:avLst/>
          </a:prstGeom>
          <a:solidFill>
            <a:srgbClr val="000000"/>
          </a:solidFill>
          <a:ln/>
        </p:spPr>
      </p:sp>
      <p:sp>
        <p:nvSpPr>
          <p:cNvPr id="40" name="Text 38"/>
          <p:cNvSpPr/>
          <p:nvPr/>
        </p:nvSpPr>
        <p:spPr>
          <a:xfrm>
            <a:off x="8641080" y="4315968"/>
            <a:ext cx="3291840" cy="658368"/>
          </a:xfrm>
          <a:prstGeom prst="rect">
            <a:avLst/>
          </a:prstGeom>
          <a:noFill/>
          <a:ln/>
        </p:spPr>
        <p:txBody>
          <a:bodyPr wrap="square" rtlCol="0" anchor="ctr"/>
          <a:lstStyle/>
          <a:p>
            <a:pPr indent="0" marL="0">
              <a:buNone/>
            </a:pPr>
            <a:r>
              <a:rPr lang="en-US" sz="1300" dirty="0">
                <a:solidFill>
                  <a:srgbClr val="000000"/>
                </a:solidFill>
                <a:latin typeface="Calibri" pitchFamily="34" charset="0"/>
                <a:ea typeface="Calibri" pitchFamily="34" charset="-122"/>
                <a:cs typeface="Calibri" pitchFamily="34" charset="-120"/>
              </a:rPr>
              <a:t>Pegar en Claude → enviar</a:t>
            </a:r>
            <a:endParaRPr lang="en-US" sz="1300" dirty="0"/>
          </a:p>
        </p:txBody>
      </p:sp>
      <p:sp>
        <p:nvSpPr>
          <p:cNvPr id="41" name="Shape 39"/>
          <p:cNvSpPr/>
          <p:nvPr/>
        </p:nvSpPr>
        <p:spPr>
          <a:xfrm>
            <a:off x="8476488" y="5138928"/>
            <a:ext cx="54864" cy="475488"/>
          </a:xfrm>
          <a:prstGeom prst="rect">
            <a:avLst/>
          </a:prstGeom>
          <a:solidFill>
            <a:srgbClr val="000000"/>
          </a:solidFill>
          <a:ln/>
        </p:spPr>
      </p:sp>
      <p:sp>
        <p:nvSpPr>
          <p:cNvPr id="42" name="Text 40"/>
          <p:cNvSpPr/>
          <p:nvPr/>
        </p:nvSpPr>
        <p:spPr>
          <a:xfrm>
            <a:off x="8641080" y="5120640"/>
            <a:ext cx="3291840" cy="658368"/>
          </a:xfrm>
          <a:prstGeom prst="rect">
            <a:avLst/>
          </a:prstGeom>
          <a:noFill/>
          <a:ln/>
        </p:spPr>
        <p:txBody>
          <a:bodyPr wrap="square" rtlCol="0" anchor="ctr"/>
          <a:lstStyle/>
          <a:p>
            <a:pPr indent="0" marL="0">
              <a:buNone/>
            </a:pPr>
            <a:r>
              <a:rPr lang="en-US" sz="1300" dirty="0">
                <a:solidFill>
                  <a:srgbClr val="000000"/>
                </a:solidFill>
                <a:latin typeface="Calibri" pitchFamily="34" charset="0"/>
                <a:ea typeface="Calibri" pitchFamily="34" charset="-122"/>
                <a:cs typeface="Calibri" pitchFamily="34" charset="-120"/>
              </a:rPr>
              <a:t>Diagnóstico en menos de 40 segundos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2188952" cy="91440"/>
          </a:xfrm>
          <a:prstGeom prst="rect">
            <a:avLst/>
          </a:prstGeom>
          <a:solidFill>
            <a:srgbClr val="FF0000"/>
          </a:solidFill>
          <a:ln/>
        </p:spPr>
      </p:sp>
      <p:sp>
        <p:nvSpPr>
          <p:cNvPr id="3" name="Text 1"/>
          <p:cNvSpPr/>
          <p:nvPr/>
        </p:nvSpPr>
        <p:spPr>
          <a:xfrm>
            <a:off x="914400" y="365760"/>
            <a:ext cx="10360152" cy="457200"/>
          </a:xfrm>
          <a:prstGeom prst="rect">
            <a:avLst/>
          </a:prstGeom>
          <a:noFill/>
          <a:ln/>
        </p:spPr>
        <p:txBody>
          <a:bodyPr wrap="square" rtlCol="0" anchor="ctr"/>
          <a:lstStyle/>
          <a:p>
            <a:pPr algn="ctr" indent="0" marL="0">
              <a:buNone/>
            </a:pPr>
            <a:r>
              <a:rPr lang="en-US" sz="1600" b="1" dirty="0">
                <a:solidFill>
                  <a:srgbClr val="FF6B00"/>
                </a:solidFill>
                <a:latin typeface="Calibri" pitchFamily="34" charset="0"/>
                <a:ea typeface="Calibri" pitchFamily="34" charset="-122"/>
                <a:cs typeface="Calibri" pitchFamily="34" charset="-120"/>
              </a:rPr>
              <a:t>EL FLUJO COMPLETO DEL WAR ROOM</a:t>
            </a:r>
            <a:endParaRPr lang="en-US" sz="1600" dirty="0"/>
          </a:p>
        </p:txBody>
      </p:sp>
      <p:sp>
        <p:nvSpPr>
          <p:cNvPr id="4" name="Text 2"/>
          <p:cNvSpPr/>
          <p:nvPr/>
        </p:nvSpPr>
        <p:spPr>
          <a:xfrm>
            <a:off x="457200" y="1097280"/>
            <a:ext cx="11274552" cy="2560320"/>
          </a:xfrm>
          <a:prstGeom prst="rect">
            <a:avLst/>
          </a:prstGeom>
          <a:noFill/>
          <a:ln/>
        </p:spPr>
        <p:txBody>
          <a:bodyPr wrap="square" rtlCol="0" anchor="ctr"/>
          <a:lstStyle/>
          <a:p>
            <a:pPr algn="ctr" indent="0" marL="0">
              <a:buNone/>
            </a:pPr>
            <a:r>
              <a:rPr lang="en-US" sz="9600" b="1" dirty="0">
                <a:solidFill>
                  <a:srgbClr val="EEFF89"/>
                </a:solidFill>
                <a:latin typeface="Arial Black" pitchFamily="34" charset="0"/>
                <a:ea typeface="Arial Black" pitchFamily="34" charset="-122"/>
                <a:cs typeface="Arial Black" pitchFamily="34" charset="-120"/>
              </a:rPr>
              <a:t>&lt; 10 min</a:t>
            </a:r>
            <a:endParaRPr lang="en-US" sz="9600" dirty="0"/>
          </a:p>
        </p:txBody>
      </p:sp>
      <p:sp>
        <p:nvSpPr>
          <p:cNvPr id="5" name="Shape 3"/>
          <p:cNvSpPr/>
          <p:nvPr/>
        </p:nvSpPr>
        <p:spPr>
          <a:xfrm>
            <a:off x="2743200" y="3749040"/>
            <a:ext cx="6702552" cy="73152"/>
          </a:xfrm>
          <a:prstGeom prst="rect">
            <a:avLst/>
          </a:prstGeom>
          <a:solidFill>
            <a:srgbClr val="FF6B00"/>
          </a:solidFill>
          <a:ln/>
        </p:spPr>
      </p:sp>
      <p:sp>
        <p:nvSpPr>
          <p:cNvPr id="6" name="Text 4"/>
          <p:cNvSpPr/>
          <p:nvPr/>
        </p:nvSpPr>
        <p:spPr>
          <a:xfrm>
            <a:off x="914400" y="3886200"/>
            <a:ext cx="10360152" cy="640080"/>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todos los días para tener una decisión soportada por datos</a:t>
            </a:r>
            <a:endParaRPr lang="en-US" sz="2200" dirty="0"/>
          </a:p>
        </p:txBody>
      </p:sp>
      <p:sp>
        <p:nvSpPr>
          <p:cNvPr id="7" name="Text 5"/>
          <p:cNvSpPr/>
          <p:nvPr/>
        </p:nvSpPr>
        <p:spPr>
          <a:xfrm>
            <a:off x="1371600" y="4754880"/>
            <a:ext cx="9445752" cy="1645920"/>
          </a:xfrm>
          <a:prstGeom prst="rect">
            <a:avLst/>
          </a:prstGeom>
          <a:noFill/>
          <a:ln/>
        </p:spPr>
        <p:txBody>
          <a:bodyPr wrap="square" rtlCol="0" anchor="ctr"/>
          <a:lstStyle/>
          <a:p>
            <a:pPr algn="ctr" indent="0" marL="0">
              <a:buNone/>
            </a:pPr>
            <a:r>
              <a:rPr lang="en-US" sz="1600" dirty="0">
                <a:solidFill>
                  <a:srgbClr val="CCCCCC"/>
                </a:solidFill>
                <a:latin typeface="Calibri" pitchFamily="34" charset="0"/>
                <a:ea typeface="Calibri" pitchFamily="34" charset="-122"/>
                <a:cs typeface="Calibri" pitchFamily="34" charset="-120"/>
              </a:rPr>
              <a:t>Sheet → pega métricas → copia todo → Claude → recomendación → ejecutar o delegar. Eso es todo.</a:t>
            </a:r>
            <a:endParaRPr lang="en-US" sz="1600" dirty="0"/>
          </a:p>
        </p:txBody>
      </p:sp>
      <p:sp>
        <p:nvSpPr>
          <p:cNvPr id="8" name="Shape 6"/>
          <p:cNvSpPr/>
          <p:nvPr/>
        </p:nvSpPr>
        <p:spPr>
          <a:xfrm>
            <a:off x="0" y="6748272"/>
            <a:ext cx="12188952" cy="109728"/>
          </a:xfrm>
          <a:prstGeom prst="rect">
            <a:avLst/>
          </a:prstGeom>
          <a:solidFill>
            <a:srgbClr val="FF0000"/>
          </a:solidFill>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00000"/>
          </a:solidFill>
          <a:ln/>
        </p:spPr>
      </p:sp>
      <p:sp>
        <p:nvSpPr>
          <p:cNvPr id="3" name="Text 1"/>
          <p:cNvSpPr/>
          <p:nvPr/>
        </p:nvSpPr>
        <p:spPr>
          <a:xfrm>
            <a:off x="365760" y="0"/>
            <a:ext cx="11430000" cy="1005840"/>
          </a:xfrm>
          <a:prstGeom prst="rect">
            <a:avLst/>
          </a:prstGeom>
          <a:noFill/>
          <a:ln/>
        </p:spPr>
        <p:txBody>
          <a:bodyPr wrap="square" rtlCol="0" anchor="ctr"/>
          <a:lstStyle/>
          <a:p>
            <a:pPr indent="0" marL="0">
              <a:buNone/>
            </a:pPr>
            <a:r>
              <a:rPr lang="en-US" sz="2600" b="1" dirty="0">
                <a:solidFill>
                  <a:srgbClr val="FFFFFF"/>
                </a:solidFill>
                <a:latin typeface="Arial Black" pitchFamily="34" charset="0"/>
                <a:ea typeface="Arial Black" pitchFamily="34" charset="-122"/>
                <a:cs typeface="Arial Black" pitchFamily="34" charset="-120"/>
              </a:rPr>
              <a:t>El prompt de sistema: los 4 bloques que configuran a Claude como estratega</a:t>
            </a:r>
            <a:endParaRPr lang="en-US" sz="2600" dirty="0"/>
          </a:p>
        </p:txBody>
      </p:sp>
      <p:sp>
        <p:nvSpPr>
          <p:cNvPr id="4" name="Shape 2"/>
          <p:cNvSpPr/>
          <p:nvPr/>
        </p:nvSpPr>
        <p:spPr>
          <a:xfrm>
            <a:off x="0" y="987552"/>
            <a:ext cx="12188952" cy="64008"/>
          </a:xfrm>
          <a:prstGeom prst="rect">
            <a:avLst/>
          </a:prstGeom>
          <a:solidFill>
            <a:srgbClr val="EEFF89"/>
          </a:solidFill>
          <a:ln/>
        </p:spPr>
      </p:sp>
      <p:sp>
        <p:nvSpPr>
          <p:cNvPr id="5" name="Shape 3"/>
          <p:cNvSpPr/>
          <p:nvPr/>
        </p:nvSpPr>
        <p:spPr>
          <a:xfrm>
            <a:off x="320040" y="1325880"/>
            <a:ext cx="640080" cy="640080"/>
          </a:xfrm>
          <a:prstGeom prst="ellipse">
            <a:avLst/>
          </a:prstGeom>
          <a:solidFill>
            <a:srgbClr val="FF0000"/>
          </a:solidFill>
          <a:ln/>
        </p:spPr>
      </p:sp>
      <p:sp>
        <p:nvSpPr>
          <p:cNvPr id="6" name="Text 4"/>
          <p:cNvSpPr/>
          <p:nvPr/>
        </p:nvSpPr>
        <p:spPr>
          <a:xfrm>
            <a:off x="320040" y="1325880"/>
            <a:ext cx="640080" cy="640080"/>
          </a:xfrm>
          <a:prstGeom prst="rect">
            <a:avLst/>
          </a:prstGeom>
          <a:noFill/>
          <a:ln/>
        </p:spPr>
        <p:txBody>
          <a:bodyPr wrap="square" rtlCol="0" anchor="ctr"/>
          <a:lstStyle/>
          <a:p>
            <a:pPr algn="ctr" indent="0" marL="0">
              <a:buNone/>
            </a:pPr>
            <a:r>
              <a:rPr lang="en-US" sz="2000" b="1" dirty="0">
                <a:solidFill>
                  <a:srgbClr val="FFFFFF"/>
                </a:solidFill>
                <a:latin typeface="Arial Black" pitchFamily="34" charset="0"/>
                <a:ea typeface="Arial Black" pitchFamily="34" charset="-122"/>
                <a:cs typeface="Arial Black" pitchFamily="34" charset="-120"/>
              </a:rPr>
              <a:t>1</a:t>
            </a:r>
            <a:endParaRPr lang="en-US" sz="2000" dirty="0"/>
          </a:p>
        </p:txBody>
      </p:sp>
      <p:sp>
        <p:nvSpPr>
          <p:cNvPr id="7" name="Shape 5"/>
          <p:cNvSpPr/>
          <p:nvPr/>
        </p:nvSpPr>
        <p:spPr>
          <a:xfrm>
            <a:off x="621792" y="1965960"/>
            <a:ext cx="36576" cy="320040"/>
          </a:xfrm>
          <a:prstGeom prst="rect">
            <a:avLst/>
          </a:prstGeom>
          <a:solidFill>
            <a:srgbClr val="DDDDDD"/>
          </a:solidFill>
          <a:ln/>
        </p:spPr>
      </p:sp>
      <p:sp>
        <p:nvSpPr>
          <p:cNvPr id="8" name="Shape 6"/>
          <p:cNvSpPr/>
          <p:nvPr/>
        </p:nvSpPr>
        <p:spPr>
          <a:xfrm>
            <a:off x="1143000" y="1280160"/>
            <a:ext cx="10607040" cy="749808"/>
          </a:xfrm>
          <a:prstGeom prst="rect">
            <a:avLst/>
          </a:prstGeom>
          <a:solidFill>
            <a:srgbClr val="F5F5F5"/>
          </a:solidFill>
          <a:ln w="12700">
            <a:solidFill>
              <a:srgbClr val="FF0000"/>
            </a:solidFill>
            <a:prstDash val="solid"/>
          </a:ln>
        </p:spPr>
      </p:sp>
      <p:sp>
        <p:nvSpPr>
          <p:cNvPr id="9" name="Text 7"/>
          <p:cNvSpPr/>
          <p:nvPr/>
        </p:nvSpPr>
        <p:spPr>
          <a:xfrm>
            <a:off x="1325880" y="1280160"/>
            <a:ext cx="10241280" cy="749808"/>
          </a:xfrm>
          <a:prstGeom prst="rect">
            <a:avLst/>
          </a:prstGeom>
          <a:noFill/>
          <a:ln/>
        </p:spPr>
        <p:txBody>
          <a:bodyPr wrap="square" rtlCol="0" anchor="ctr"/>
          <a:lstStyle/>
          <a:p>
            <a:pPr indent="0" marL="0">
              <a:buNone/>
            </a:pPr>
            <a:r>
              <a:rPr lang="en-US" sz="1400" dirty="0">
                <a:solidFill>
                  <a:srgbClr val="000000"/>
                </a:solidFill>
                <a:latin typeface="Calibri" pitchFamily="34" charset="0"/>
                <a:ea typeface="Calibri" pitchFamily="34" charset="-122"/>
                <a:cs typeface="Calibri" pitchFamily="34" charset="-120"/>
              </a:rPr>
              <a:t>BLOQUE 1 — El rol: "Eres el estratega de Growth de [empresa]. Tu rol es analizar las métricas diarias y producir exactamente UNA recomendación accionable para hoy."</a:t>
            </a:r>
            <a:endParaRPr lang="en-US" sz="1400" dirty="0"/>
          </a:p>
        </p:txBody>
      </p:sp>
      <p:sp>
        <p:nvSpPr>
          <p:cNvPr id="10" name="Shape 8"/>
          <p:cNvSpPr/>
          <p:nvPr/>
        </p:nvSpPr>
        <p:spPr>
          <a:xfrm>
            <a:off x="320040" y="2258568"/>
            <a:ext cx="640080" cy="640080"/>
          </a:xfrm>
          <a:prstGeom prst="ellipse">
            <a:avLst/>
          </a:prstGeom>
          <a:solidFill>
            <a:srgbClr val="FF6B00"/>
          </a:solidFill>
          <a:ln/>
        </p:spPr>
      </p:sp>
      <p:sp>
        <p:nvSpPr>
          <p:cNvPr id="11" name="Text 9"/>
          <p:cNvSpPr/>
          <p:nvPr/>
        </p:nvSpPr>
        <p:spPr>
          <a:xfrm>
            <a:off x="320040" y="2258568"/>
            <a:ext cx="640080" cy="640080"/>
          </a:xfrm>
          <a:prstGeom prst="rect">
            <a:avLst/>
          </a:prstGeom>
          <a:noFill/>
          <a:ln/>
        </p:spPr>
        <p:txBody>
          <a:bodyPr wrap="square" rtlCol="0" anchor="ctr"/>
          <a:lstStyle/>
          <a:p>
            <a:pPr algn="ctr" indent="0" marL="0">
              <a:buNone/>
            </a:pPr>
            <a:r>
              <a:rPr lang="en-US" sz="2000" b="1" dirty="0">
                <a:solidFill>
                  <a:srgbClr val="FFFFFF"/>
                </a:solidFill>
                <a:latin typeface="Arial Black" pitchFamily="34" charset="0"/>
                <a:ea typeface="Arial Black" pitchFamily="34" charset="-122"/>
                <a:cs typeface="Arial Black" pitchFamily="34" charset="-120"/>
              </a:rPr>
              <a:t>2</a:t>
            </a:r>
            <a:endParaRPr lang="en-US" sz="2000" dirty="0"/>
          </a:p>
        </p:txBody>
      </p:sp>
      <p:sp>
        <p:nvSpPr>
          <p:cNvPr id="12" name="Shape 10"/>
          <p:cNvSpPr/>
          <p:nvPr/>
        </p:nvSpPr>
        <p:spPr>
          <a:xfrm>
            <a:off x="621792" y="2898648"/>
            <a:ext cx="36576" cy="320040"/>
          </a:xfrm>
          <a:prstGeom prst="rect">
            <a:avLst/>
          </a:prstGeom>
          <a:solidFill>
            <a:srgbClr val="DDDDDD"/>
          </a:solidFill>
          <a:ln/>
        </p:spPr>
      </p:sp>
      <p:sp>
        <p:nvSpPr>
          <p:cNvPr id="13" name="Shape 11"/>
          <p:cNvSpPr/>
          <p:nvPr/>
        </p:nvSpPr>
        <p:spPr>
          <a:xfrm>
            <a:off x="1143000" y="2212848"/>
            <a:ext cx="10607040" cy="749808"/>
          </a:xfrm>
          <a:prstGeom prst="rect">
            <a:avLst/>
          </a:prstGeom>
          <a:solidFill>
            <a:srgbClr val="F5F5F5"/>
          </a:solidFill>
          <a:ln w="12700">
            <a:solidFill>
              <a:srgbClr val="FF6B00"/>
            </a:solidFill>
            <a:prstDash val="solid"/>
          </a:ln>
        </p:spPr>
      </p:sp>
      <p:sp>
        <p:nvSpPr>
          <p:cNvPr id="14" name="Text 12"/>
          <p:cNvSpPr/>
          <p:nvPr/>
        </p:nvSpPr>
        <p:spPr>
          <a:xfrm>
            <a:off x="1325880" y="2212848"/>
            <a:ext cx="10241280" cy="749808"/>
          </a:xfrm>
          <a:prstGeom prst="rect">
            <a:avLst/>
          </a:prstGeom>
          <a:noFill/>
          <a:ln/>
        </p:spPr>
        <p:txBody>
          <a:bodyPr wrap="square" rtlCol="0" anchor="ctr"/>
          <a:lstStyle/>
          <a:p>
            <a:pPr indent="0" marL="0">
              <a:buNone/>
            </a:pPr>
            <a:r>
              <a:rPr lang="en-US" sz="1400" dirty="0">
                <a:solidFill>
                  <a:srgbClr val="000000"/>
                </a:solidFill>
                <a:latin typeface="Calibri" pitchFamily="34" charset="0"/>
                <a:ea typeface="Calibri" pitchFamily="34" charset="-122"/>
                <a:cs typeface="Calibri" pitchFamily="34" charset="-120"/>
              </a:rPr>
              <a:t>BLOQUE 2 — El contexto: Producto, modelo de negocio, etapa, canales activos, MÉTRICA NORTE (el campo más importante), presupuesto semanal.</a:t>
            </a:r>
            <a:endParaRPr lang="en-US" sz="1400" dirty="0"/>
          </a:p>
        </p:txBody>
      </p:sp>
      <p:sp>
        <p:nvSpPr>
          <p:cNvPr id="15" name="Shape 13"/>
          <p:cNvSpPr/>
          <p:nvPr/>
        </p:nvSpPr>
        <p:spPr>
          <a:xfrm>
            <a:off x="320040" y="3191256"/>
            <a:ext cx="640080" cy="640080"/>
          </a:xfrm>
          <a:prstGeom prst="ellipse">
            <a:avLst/>
          </a:prstGeom>
          <a:solidFill>
            <a:srgbClr val="000000"/>
          </a:solidFill>
          <a:ln/>
        </p:spPr>
      </p:sp>
      <p:sp>
        <p:nvSpPr>
          <p:cNvPr id="16" name="Text 14"/>
          <p:cNvSpPr/>
          <p:nvPr/>
        </p:nvSpPr>
        <p:spPr>
          <a:xfrm>
            <a:off x="320040" y="3191256"/>
            <a:ext cx="640080" cy="640080"/>
          </a:xfrm>
          <a:prstGeom prst="rect">
            <a:avLst/>
          </a:prstGeom>
          <a:noFill/>
          <a:ln/>
        </p:spPr>
        <p:txBody>
          <a:bodyPr wrap="square" rtlCol="0" anchor="ctr"/>
          <a:lstStyle/>
          <a:p>
            <a:pPr algn="ctr" indent="0" marL="0">
              <a:buNone/>
            </a:pPr>
            <a:r>
              <a:rPr lang="en-US" sz="2000" b="1" dirty="0">
                <a:solidFill>
                  <a:srgbClr val="FFFFFF"/>
                </a:solidFill>
                <a:latin typeface="Arial Black" pitchFamily="34" charset="0"/>
                <a:ea typeface="Arial Black" pitchFamily="34" charset="-122"/>
                <a:cs typeface="Arial Black" pitchFamily="34" charset="-120"/>
              </a:rPr>
              <a:t>3</a:t>
            </a:r>
            <a:endParaRPr lang="en-US" sz="2000" dirty="0"/>
          </a:p>
        </p:txBody>
      </p:sp>
      <p:sp>
        <p:nvSpPr>
          <p:cNvPr id="17" name="Shape 15"/>
          <p:cNvSpPr/>
          <p:nvPr/>
        </p:nvSpPr>
        <p:spPr>
          <a:xfrm>
            <a:off x="621792" y="3831336"/>
            <a:ext cx="36576" cy="320040"/>
          </a:xfrm>
          <a:prstGeom prst="rect">
            <a:avLst/>
          </a:prstGeom>
          <a:solidFill>
            <a:srgbClr val="DDDDDD"/>
          </a:solidFill>
          <a:ln/>
        </p:spPr>
      </p:sp>
      <p:sp>
        <p:nvSpPr>
          <p:cNvPr id="18" name="Shape 16"/>
          <p:cNvSpPr/>
          <p:nvPr/>
        </p:nvSpPr>
        <p:spPr>
          <a:xfrm>
            <a:off x="1143000" y="3145536"/>
            <a:ext cx="10607040" cy="749808"/>
          </a:xfrm>
          <a:prstGeom prst="rect">
            <a:avLst/>
          </a:prstGeom>
          <a:solidFill>
            <a:srgbClr val="F5F5F5"/>
          </a:solidFill>
          <a:ln w="12700">
            <a:solidFill>
              <a:srgbClr val="000000"/>
            </a:solidFill>
            <a:prstDash val="solid"/>
          </a:ln>
        </p:spPr>
      </p:sp>
      <p:sp>
        <p:nvSpPr>
          <p:cNvPr id="19" name="Text 17"/>
          <p:cNvSpPr/>
          <p:nvPr/>
        </p:nvSpPr>
        <p:spPr>
          <a:xfrm>
            <a:off x="1325880" y="3145536"/>
            <a:ext cx="10241280" cy="749808"/>
          </a:xfrm>
          <a:prstGeom prst="rect">
            <a:avLst/>
          </a:prstGeom>
          <a:noFill/>
          <a:ln/>
        </p:spPr>
        <p:txBody>
          <a:bodyPr wrap="square" rtlCol="0" anchor="ctr"/>
          <a:lstStyle/>
          <a:p>
            <a:pPr indent="0" marL="0">
              <a:buNone/>
            </a:pPr>
            <a:r>
              <a:rPr lang="en-US" sz="1400" dirty="0">
                <a:solidFill>
                  <a:srgbClr val="000000"/>
                </a:solidFill>
                <a:latin typeface="Calibri" pitchFamily="34" charset="0"/>
                <a:ea typeface="Calibri" pitchFamily="34" charset="-122"/>
                <a:cs typeface="Calibri" pitchFamily="34" charset="-120"/>
              </a:rPr>
              <a:t>BLOQUE 3 — Instrucciones de análisis: Leer Zona 1 + Zona 2 juntas → identificar ruptura mayor → diagnóstico de causa → UNA recomendación → pedir dato si falta.</a:t>
            </a:r>
            <a:endParaRPr lang="en-US" sz="1400" dirty="0"/>
          </a:p>
        </p:txBody>
      </p:sp>
      <p:sp>
        <p:nvSpPr>
          <p:cNvPr id="20" name="Shape 18"/>
          <p:cNvSpPr/>
          <p:nvPr/>
        </p:nvSpPr>
        <p:spPr>
          <a:xfrm>
            <a:off x="320040" y="4123944"/>
            <a:ext cx="640080" cy="640080"/>
          </a:xfrm>
          <a:prstGeom prst="ellipse">
            <a:avLst/>
          </a:prstGeom>
          <a:solidFill>
            <a:srgbClr val="FF0000"/>
          </a:solidFill>
          <a:ln/>
        </p:spPr>
      </p:sp>
      <p:sp>
        <p:nvSpPr>
          <p:cNvPr id="21" name="Text 19"/>
          <p:cNvSpPr/>
          <p:nvPr/>
        </p:nvSpPr>
        <p:spPr>
          <a:xfrm>
            <a:off x="320040" y="4123944"/>
            <a:ext cx="640080" cy="640080"/>
          </a:xfrm>
          <a:prstGeom prst="rect">
            <a:avLst/>
          </a:prstGeom>
          <a:noFill/>
          <a:ln/>
        </p:spPr>
        <p:txBody>
          <a:bodyPr wrap="square" rtlCol="0" anchor="ctr"/>
          <a:lstStyle/>
          <a:p>
            <a:pPr algn="ctr" indent="0" marL="0">
              <a:buNone/>
            </a:pPr>
            <a:r>
              <a:rPr lang="en-US" sz="2000" b="1" dirty="0">
                <a:solidFill>
                  <a:srgbClr val="FFFFFF"/>
                </a:solidFill>
                <a:latin typeface="Arial Black" pitchFamily="34" charset="0"/>
                <a:ea typeface="Arial Black" pitchFamily="34" charset="-122"/>
                <a:cs typeface="Arial Black" pitchFamily="34" charset="-120"/>
              </a:rPr>
              <a:t>4</a:t>
            </a:r>
            <a:endParaRPr lang="en-US" sz="2000" dirty="0"/>
          </a:p>
        </p:txBody>
      </p:sp>
      <p:sp>
        <p:nvSpPr>
          <p:cNvPr id="22" name="Shape 20"/>
          <p:cNvSpPr/>
          <p:nvPr/>
        </p:nvSpPr>
        <p:spPr>
          <a:xfrm>
            <a:off x="1143000" y="4078224"/>
            <a:ext cx="10607040" cy="749808"/>
          </a:xfrm>
          <a:prstGeom prst="rect">
            <a:avLst/>
          </a:prstGeom>
          <a:solidFill>
            <a:srgbClr val="F5F5F5"/>
          </a:solidFill>
          <a:ln w="12700">
            <a:solidFill>
              <a:srgbClr val="FF0000"/>
            </a:solidFill>
            <a:prstDash val="solid"/>
          </a:ln>
        </p:spPr>
      </p:sp>
      <p:sp>
        <p:nvSpPr>
          <p:cNvPr id="23" name="Text 21"/>
          <p:cNvSpPr/>
          <p:nvPr/>
        </p:nvSpPr>
        <p:spPr>
          <a:xfrm>
            <a:off x="1325880" y="4078224"/>
            <a:ext cx="10241280" cy="749808"/>
          </a:xfrm>
          <a:prstGeom prst="rect">
            <a:avLst/>
          </a:prstGeom>
          <a:noFill/>
          <a:ln/>
        </p:spPr>
        <p:txBody>
          <a:bodyPr wrap="square" rtlCol="0" anchor="ctr"/>
          <a:lstStyle/>
          <a:p>
            <a:pPr indent="0" marL="0">
              <a:buNone/>
            </a:pPr>
            <a:r>
              <a:rPr lang="en-US" sz="1400" dirty="0">
                <a:solidFill>
                  <a:srgbClr val="000000"/>
                </a:solidFill>
                <a:latin typeface="Calibri" pitchFamily="34" charset="0"/>
                <a:ea typeface="Calibri" pitchFamily="34" charset="-122"/>
                <a:cs typeface="Calibri" pitchFamily="34" charset="-120"/>
              </a:rPr>
              <a:t>BLOQUE 4 — Restricciones: Sin recomendaciones sin datos que las soporten. Si no puede diagnosticar, dice qué dato necesita. Sin repetir la misma recomendación dos días seguidos sin justificación.</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000000"/>
          </a:solidFill>
          <a:ln/>
        </p:spPr>
      </p:sp>
      <p:sp>
        <p:nvSpPr>
          <p:cNvPr id="3" name="Text 1"/>
          <p:cNvSpPr/>
          <p:nvPr/>
        </p:nvSpPr>
        <p:spPr>
          <a:xfrm>
            <a:off x="365760" y="0"/>
            <a:ext cx="11430000" cy="960120"/>
          </a:xfrm>
          <a:prstGeom prst="rect">
            <a:avLst/>
          </a:prstGeom>
          <a:noFill/>
          <a:ln/>
        </p:spPr>
        <p:txBody>
          <a:bodyPr wrap="square" rtlCol="0" anchor="ctr"/>
          <a:lstStyle/>
          <a:p>
            <a:pPr indent="0" marL="0">
              <a:buNone/>
            </a:pPr>
            <a:r>
              <a:rPr lang="en-US" sz="2400" b="1" dirty="0">
                <a:solidFill>
                  <a:srgbClr val="FFFFFF"/>
                </a:solidFill>
                <a:latin typeface="Arial Black" pitchFamily="34" charset="0"/>
                <a:ea typeface="Arial Black" pitchFamily="34" charset="-122"/>
                <a:cs typeface="Arial Black" pitchFamily="34" charset="-120"/>
              </a:rPr>
              <a:t>El formato de output — siempre el mismo, sin excepciones</a:t>
            </a:r>
            <a:endParaRPr lang="en-US" sz="2400" dirty="0"/>
          </a:p>
        </p:txBody>
      </p:sp>
      <p:sp>
        <p:nvSpPr>
          <p:cNvPr id="4" name="Shape 2"/>
          <p:cNvSpPr/>
          <p:nvPr/>
        </p:nvSpPr>
        <p:spPr>
          <a:xfrm>
            <a:off x="0" y="941832"/>
            <a:ext cx="12188952" cy="54864"/>
          </a:xfrm>
          <a:prstGeom prst="rect">
            <a:avLst/>
          </a:prstGeom>
          <a:solidFill>
            <a:srgbClr val="FF6B00"/>
          </a:solidFill>
          <a:ln/>
        </p:spPr>
      </p:sp>
      <p:sp>
        <p:nvSpPr>
          <p:cNvPr id="5" name="Shape 3"/>
          <p:cNvSpPr/>
          <p:nvPr/>
        </p:nvSpPr>
        <p:spPr>
          <a:xfrm>
            <a:off x="365760" y="1170432"/>
            <a:ext cx="11430000" cy="4389120"/>
          </a:xfrm>
          <a:prstGeom prst="rect">
            <a:avLst/>
          </a:prstGeom>
          <a:solidFill>
            <a:srgbClr val="1E1E1E"/>
          </a:solidFill>
          <a:ln/>
        </p:spPr>
      </p:sp>
      <p:sp>
        <p:nvSpPr>
          <p:cNvPr id="6" name="Shape 4"/>
          <p:cNvSpPr/>
          <p:nvPr/>
        </p:nvSpPr>
        <p:spPr>
          <a:xfrm>
            <a:off x="365760" y="1170432"/>
            <a:ext cx="1828800" cy="347472"/>
          </a:xfrm>
          <a:prstGeom prst="rect">
            <a:avLst/>
          </a:prstGeom>
          <a:solidFill>
            <a:srgbClr val="FF6B00"/>
          </a:solidFill>
          <a:ln/>
        </p:spPr>
      </p:sp>
      <p:sp>
        <p:nvSpPr>
          <p:cNvPr id="7" name="Text 5"/>
          <p:cNvSpPr/>
          <p:nvPr/>
        </p:nvSpPr>
        <p:spPr>
          <a:xfrm>
            <a:off x="365760" y="1170432"/>
            <a:ext cx="1828800" cy="347472"/>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PROMPT</a:t>
            </a:r>
            <a:endParaRPr lang="en-US" sz="1100" dirty="0"/>
          </a:p>
        </p:txBody>
      </p:sp>
      <p:sp>
        <p:nvSpPr>
          <p:cNvPr id="8" name="Text 6"/>
          <p:cNvSpPr/>
          <p:nvPr/>
        </p:nvSpPr>
        <p:spPr>
          <a:xfrm>
            <a:off x="548640" y="1600200"/>
            <a:ext cx="11064240" cy="3749040"/>
          </a:xfrm>
          <a:prstGeom prst="rect">
            <a:avLst/>
          </a:prstGeom>
          <a:noFill/>
          <a:ln/>
        </p:spPr>
        <p:txBody>
          <a:bodyPr wrap="square" rtlCol="0" anchor="t"/>
          <a:lstStyle/>
          <a:p>
            <a:pPr indent="0" marL="0">
              <a:buNone/>
            </a:pPr>
            <a:r>
              <a:rPr lang="en-US" sz="1300" dirty="0">
                <a:solidFill>
                  <a:srgbClr val="EEFF89"/>
                </a:solidFill>
                <a:latin typeface="Courier New" pitchFamily="34" charset="0"/>
                <a:ea typeface="Courier New" pitchFamily="34" charset="-122"/>
                <a:cs typeface="Courier New" pitchFamily="34" charset="-120"/>
              </a:rPr>
              <a:t>DIAGNÓSTICO: [1-2 líneas: qué está cayendo y dónde en el funnel]</a:t>
            </a:r>
            <a:endParaRPr lang="en-US" sz="1300" dirty="0"/>
          </a:p>
          <a:p>
            <a:pPr indent="0" marL="0">
              <a:buNone/>
            </a:pPr>
            <a:endParaRPr lang="en-US" sz="1300" dirty="0"/>
          </a:p>
          <a:p>
            <a:pPr indent="0" marL="0">
              <a:buNone/>
            </a:pPr>
            <a:r>
              <a:rPr lang="en-US" sz="1300" dirty="0">
                <a:solidFill>
                  <a:srgbClr val="EEFF89"/>
                </a:solidFill>
                <a:latin typeface="Courier New" pitchFamily="34" charset="0"/>
                <a:ea typeface="Courier New" pitchFamily="34" charset="-122"/>
                <a:cs typeface="Courier New" pitchFamily="34" charset="-120"/>
              </a:rPr>
              <a:t>CAUSA PROBABLE: [1 línea: por qué está pasando, basado en datos]</a:t>
            </a:r>
            <a:endParaRPr lang="en-US" sz="1300" dirty="0"/>
          </a:p>
          <a:p>
            <a:pPr indent="0" marL="0">
              <a:buNone/>
            </a:pPr>
            <a:endParaRPr lang="en-US" sz="1300" dirty="0"/>
          </a:p>
          <a:p>
            <a:pPr indent="0" marL="0">
              <a:buNone/>
            </a:pPr>
            <a:r>
              <a:rPr lang="en-US" sz="1300" dirty="0">
                <a:solidFill>
                  <a:srgbClr val="EEFF89"/>
                </a:solidFill>
                <a:latin typeface="Courier New" pitchFamily="34" charset="0"/>
                <a:ea typeface="Courier New" pitchFamily="34" charset="-122"/>
                <a:cs typeface="Courier New" pitchFamily="34" charset="-120"/>
              </a:rPr>
              <a:t>RECOMENDACIÓN: [1 línea de acción concreta — canal, ajuste y magnitud]</a:t>
            </a:r>
            <a:endParaRPr lang="en-US" sz="1300" dirty="0"/>
          </a:p>
          <a:p>
            <a:pPr indent="0" marL="0">
              <a:buNone/>
            </a:pPr>
            <a:r>
              <a:rPr lang="en-US" sz="1300" dirty="0">
                <a:solidFill>
                  <a:srgbClr val="EEFF89"/>
                </a:solidFill>
                <a:latin typeface="Courier New" pitchFamily="34" charset="0"/>
                <a:ea typeface="Courier New" pitchFamily="34" charset="-122"/>
                <a:cs typeface="Courier New" pitchFamily="34" charset="-120"/>
              </a:rPr>
              <a:t>Ejemplo: "Pausar Ad Set 3 en Meta y mover $X al Ad Set 1</a:t>
            </a:r>
            <a:endParaRPr lang="en-US" sz="1300" dirty="0"/>
          </a:p>
          <a:p>
            <a:pPr indent="0" marL="0">
              <a:buNone/>
            </a:pPr>
            <a:r>
              <a:rPr lang="en-US" sz="1300" dirty="0">
                <a:solidFill>
                  <a:srgbClr val="EEFF89"/>
                </a:solidFill>
                <a:latin typeface="Courier New" pitchFamily="34" charset="0"/>
                <a:ea typeface="Courier New" pitchFamily="34" charset="-122"/>
                <a:cs typeface="Courier New" pitchFamily="34" charset="-120"/>
              </a:rPr>
              <a:t>— mayor activación en últimas 72h"</a:t>
            </a:r>
            <a:endParaRPr lang="en-US" sz="1300" dirty="0"/>
          </a:p>
          <a:p>
            <a:pPr indent="0" marL="0">
              <a:buNone/>
            </a:pPr>
            <a:endParaRPr lang="en-US" sz="1300" dirty="0"/>
          </a:p>
          <a:p>
            <a:pPr indent="0" marL="0">
              <a:buNone/>
            </a:pPr>
            <a:r>
              <a:rPr lang="en-US" sz="1300" dirty="0">
                <a:solidFill>
                  <a:srgbClr val="EEFF89"/>
                </a:solidFill>
                <a:latin typeface="Courier New" pitchFamily="34" charset="0"/>
                <a:ea typeface="Courier New" pitchFamily="34" charset="-122"/>
                <a:cs typeface="Courier New" pitchFamily="34" charset="-120"/>
              </a:rPr>
              <a:t>EXPERIMENTO OPCIONAL: [1 línea: qué testear esta semana]</a:t>
            </a:r>
            <a:endParaRPr lang="en-US" sz="1300" dirty="0"/>
          </a:p>
        </p:txBody>
      </p:sp>
      <p:sp>
        <p:nvSpPr>
          <p:cNvPr id="9" name="Text 7"/>
          <p:cNvSpPr/>
          <p:nvPr/>
        </p:nvSpPr>
        <p:spPr>
          <a:xfrm>
            <a:off x="365760" y="5669280"/>
            <a:ext cx="11430000" cy="914400"/>
          </a:xfrm>
          <a:prstGeom prst="rect">
            <a:avLst/>
          </a:prstGeom>
          <a:noFill/>
          <a:ln/>
        </p:spPr>
        <p:txBody>
          <a:bodyPr wrap="square" rtlCol="0" anchor="ctr"/>
          <a:lstStyle/>
          <a:p>
            <a:pPr indent="0" marL="0">
              <a:buNone/>
            </a:pPr>
            <a:r>
              <a:rPr lang="en-US" sz="1300" i="1" dirty="0">
                <a:solidFill>
                  <a:srgbClr val="000000"/>
                </a:solidFill>
                <a:latin typeface="Calibri" pitchFamily="34" charset="0"/>
                <a:ea typeface="Calibri" pitchFamily="34" charset="-122"/>
                <a:cs typeface="Calibri" pitchFamily="34" charset="-120"/>
              </a:rPr>
              <a:t>Cuatro campos. Todos de 1–2 líneas. El objetivo: que en 30 segundos puedas decidir y ejecutar. No que Claude te impresione con su análisis.</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00000"/>
          </a:solidFill>
          <a:ln/>
        </p:spPr>
      </p:sp>
      <p:sp>
        <p:nvSpPr>
          <p:cNvPr id="3" name="Text 1"/>
          <p:cNvSpPr/>
          <p:nvPr/>
        </p:nvSpPr>
        <p:spPr>
          <a:xfrm>
            <a:off x="365760" y="0"/>
            <a:ext cx="11430000" cy="1005840"/>
          </a:xfrm>
          <a:prstGeom prst="rect">
            <a:avLst/>
          </a:prstGeom>
          <a:noFill/>
          <a:ln/>
        </p:spPr>
        <p:txBody>
          <a:bodyPr wrap="square" rtlCol="0" anchor="ctr"/>
          <a:lstStyle/>
          <a:p>
            <a:pPr indent="0" marL="0">
              <a:buNone/>
            </a:pPr>
            <a:r>
              <a:rPr lang="en-US" sz="2600" b="1" dirty="0">
                <a:solidFill>
                  <a:srgbClr val="FFFFFF"/>
                </a:solidFill>
                <a:latin typeface="Arial Black" pitchFamily="34" charset="0"/>
                <a:ea typeface="Arial Black" pitchFamily="34" charset="-122"/>
                <a:cs typeface="Arial Black" pitchFamily="34" charset="-120"/>
              </a:rPr>
              <a:t>Por qué necesitas las dos zonas juntas: el diagnóstico que salva presupuesto</a:t>
            </a:r>
            <a:endParaRPr lang="en-US" sz="2600" dirty="0"/>
          </a:p>
        </p:txBody>
      </p:sp>
      <p:sp>
        <p:nvSpPr>
          <p:cNvPr id="4" name="Shape 2"/>
          <p:cNvSpPr/>
          <p:nvPr/>
        </p:nvSpPr>
        <p:spPr>
          <a:xfrm>
            <a:off x="0" y="987552"/>
            <a:ext cx="12188952" cy="54864"/>
          </a:xfrm>
          <a:prstGeom prst="rect">
            <a:avLst/>
          </a:prstGeom>
          <a:solidFill>
            <a:srgbClr val="FF0000"/>
          </a:solidFill>
          <a:ln/>
        </p:spPr>
      </p:sp>
      <p:sp>
        <p:nvSpPr>
          <p:cNvPr id="5" name="Shape 3"/>
          <p:cNvSpPr/>
          <p:nvPr/>
        </p:nvSpPr>
        <p:spPr>
          <a:xfrm>
            <a:off x="365760" y="1234440"/>
            <a:ext cx="5303520" cy="502920"/>
          </a:xfrm>
          <a:prstGeom prst="rect">
            <a:avLst/>
          </a:prstGeom>
          <a:solidFill>
            <a:srgbClr val="FF0000"/>
          </a:solidFill>
          <a:ln/>
        </p:spPr>
      </p:sp>
      <p:sp>
        <p:nvSpPr>
          <p:cNvPr id="6" name="Text 4"/>
          <p:cNvSpPr/>
          <p:nvPr/>
        </p:nvSpPr>
        <p:spPr>
          <a:xfrm>
            <a:off x="365760" y="1234440"/>
            <a:ext cx="5303520" cy="50292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LO QUE VES SI MIRAS SOLO ZONA 1</a:t>
            </a:r>
            <a:endParaRPr lang="en-US" sz="1600" dirty="0"/>
          </a:p>
        </p:txBody>
      </p:sp>
      <p:sp>
        <p:nvSpPr>
          <p:cNvPr id="7" name="Shape 5"/>
          <p:cNvSpPr/>
          <p:nvPr/>
        </p:nvSpPr>
        <p:spPr>
          <a:xfrm>
            <a:off x="365760" y="1737360"/>
            <a:ext cx="5303520" cy="4754880"/>
          </a:xfrm>
          <a:prstGeom prst="rect">
            <a:avLst/>
          </a:prstGeom>
          <a:solidFill>
            <a:srgbClr val="F9F9F9"/>
          </a:solidFill>
          <a:ln w="12700">
            <a:solidFill>
              <a:srgbClr val="E0E0E0"/>
            </a:solidFill>
            <a:prstDash val="solid"/>
          </a:ln>
        </p:spPr>
      </p:sp>
      <p:sp>
        <p:nvSpPr>
          <p:cNvPr id="8" name="Shape 6"/>
          <p:cNvSpPr/>
          <p:nvPr/>
        </p:nvSpPr>
        <p:spPr>
          <a:xfrm>
            <a:off x="594360" y="1965960"/>
            <a:ext cx="164592" cy="164592"/>
          </a:xfrm>
          <a:prstGeom prst="ellipse">
            <a:avLst/>
          </a:prstGeom>
          <a:solidFill>
            <a:srgbClr val="FF0000"/>
          </a:solidFill>
          <a:ln/>
        </p:spPr>
      </p:sp>
      <p:sp>
        <p:nvSpPr>
          <p:cNvPr id="9" name="Text 7"/>
          <p:cNvSpPr/>
          <p:nvPr/>
        </p:nvSpPr>
        <p:spPr>
          <a:xfrm>
            <a:off x="896112" y="1874520"/>
            <a:ext cx="4572000" cy="658368"/>
          </a:xfrm>
          <a:prstGeom prst="rect">
            <a:avLst/>
          </a:prstGeom>
          <a:noFill/>
          <a:ln/>
        </p:spPr>
        <p:txBody>
          <a:bodyPr wrap="square" rtlCol="0" anchor="ctr"/>
          <a:lstStyle/>
          <a:p>
            <a:pPr indent="0" marL="0">
              <a:buNone/>
            </a:pPr>
            <a:r>
              <a:rPr lang="en-US" sz="1400" dirty="0">
                <a:solidFill>
                  <a:srgbClr val="000000"/>
                </a:solidFill>
                <a:latin typeface="Calibri" pitchFamily="34" charset="0"/>
                <a:ea typeface="Calibri" pitchFamily="34" charset="-122"/>
                <a:cs typeface="Calibri" pitchFamily="34" charset="-120"/>
              </a:rPr>
              <a:t>CPC subió 18% respecto al lunes</a:t>
            </a:r>
            <a:endParaRPr lang="en-US" sz="1400" dirty="0"/>
          </a:p>
        </p:txBody>
      </p:sp>
      <p:sp>
        <p:nvSpPr>
          <p:cNvPr id="10" name="Shape 8"/>
          <p:cNvSpPr/>
          <p:nvPr/>
        </p:nvSpPr>
        <p:spPr>
          <a:xfrm>
            <a:off x="594360" y="2715768"/>
            <a:ext cx="164592" cy="164592"/>
          </a:xfrm>
          <a:prstGeom prst="ellipse">
            <a:avLst/>
          </a:prstGeom>
          <a:solidFill>
            <a:srgbClr val="FF0000"/>
          </a:solidFill>
          <a:ln/>
        </p:spPr>
      </p:sp>
      <p:sp>
        <p:nvSpPr>
          <p:cNvPr id="11" name="Text 9"/>
          <p:cNvSpPr/>
          <p:nvPr/>
        </p:nvSpPr>
        <p:spPr>
          <a:xfrm>
            <a:off x="896112" y="2624328"/>
            <a:ext cx="4572000" cy="658368"/>
          </a:xfrm>
          <a:prstGeom prst="rect">
            <a:avLst/>
          </a:prstGeom>
          <a:noFill/>
          <a:ln/>
        </p:spPr>
        <p:txBody>
          <a:bodyPr wrap="square" rtlCol="0" anchor="ctr"/>
          <a:lstStyle/>
          <a:p>
            <a:pPr indent="0" marL="0">
              <a:buNone/>
            </a:pPr>
            <a:r>
              <a:rPr lang="en-US" sz="1400" dirty="0">
                <a:solidFill>
                  <a:srgbClr val="000000"/>
                </a:solidFill>
                <a:latin typeface="Calibri" pitchFamily="34" charset="0"/>
                <a:ea typeface="Calibri" pitchFamily="34" charset="-122"/>
                <a:cs typeface="Calibri" pitchFamily="34" charset="-120"/>
              </a:rPr>
              <a:t>Reflejo: ajustar pujas en Meta</a:t>
            </a:r>
            <a:endParaRPr lang="en-US" sz="1400" dirty="0"/>
          </a:p>
        </p:txBody>
      </p:sp>
      <p:sp>
        <p:nvSpPr>
          <p:cNvPr id="12" name="Shape 10"/>
          <p:cNvSpPr/>
          <p:nvPr/>
        </p:nvSpPr>
        <p:spPr>
          <a:xfrm>
            <a:off x="594360" y="3465576"/>
            <a:ext cx="164592" cy="164592"/>
          </a:xfrm>
          <a:prstGeom prst="ellipse">
            <a:avLst/>
          </a:prstGeom>
          <a:solidFill>
            <a:srgbClr val="FF0000"/>
          </a:solidFill>
          <a:ln/>
        </p:spPr>
      </p:sp>
      <p:sp>
        <p:nvSpPr>
          <p:cNvPr id="13" name="Text 11"/>
          <p:cNvSpPr/>
          <p:nvPr/>
        </p:nvSpPr>
        <p:spPr>
          <a:xfrm>
            <a:off x="896112" y="3374136"/>
            <a:ext cx="4572000" cy="658368"/>
          </a:xfrm>
          <a:prstGeom prst="rect">
            <a:avLst/>
          </a:prstGeom>
          <a:noFill/>
          <a:ln/>
        </p:spPr>
        <p:txBody>
          <a:bodyPr wrap="square" rtlCol="0" anchor="ctr"/>
          <a:lstStyle/>
          <a:p>
            <a:pPr indent="0" marL="0">
              <a:buNone/>
            </a:pPr>
            <a:r>
              <a:rPr lang="en-US" sz="1400" dirty="0">
                <a:solidFill>
                  <a:srgbClr val="000000"/>
                </a:solidFill>
                <a:latin typeface="Calibri" pitchFamily="34" charset="0"/>
                <a:ea typeface="Calibri" pitchFamily="34" charset="-122"/>
                <a:cs typeface="Calibri" pitchFamily="34" charset="-120"/>
              </a:rPr>
              <a:t>Resultado: gastas más para traer los mismos usuarios</a:t>
            </a:r>
            <a:endParaRPr lang="en-US" sz="1400" dirty="0"/>
          </a:p>
        </p:txBody>
      </p:sp>
      <p:sp>
        <p:nvSpPr>
          <p:cNvPr id="14" name="Shape 12"/>
          <p:cNvSpPr/>
          <p:nvPr/>
        </p:nvSpPr>
        <p:spPr>
          <a:xfrm>
            <a:off x="594360" y="4215384"/>
            <a:ext cx="164592" cy="164592"/>
          </a:xfrm>
          <a:prstGeom prst="ellipse">
            <a:avLst/>
          </a:prstGeom>
          <a:solidFill>
            <a:srgbClr val="FF0000"/>
          </a:solidFill>
          <a:ln/>
        </p:spPr>
      </p:sp>
      <p:sp>
        <p:nvSpPr>
          <p:cNvPr id="15" name="Text 13"/>
          <p:cNvSpPr/>
          <p:nvPr/>
        </p:nvSpPr>
        <p:spPr>
          <a:xfrm>
            <a:off x="896112" y="4123944"/>
            <a:ext cx="4572000" cy="658368"/>
          </a:xfrm>
          <a:prstGeom prst="rect">
            <a:avLst/>
          </a:prstGeom>
          <a:noFill/>
          <a:ln/>
        </p:spPr>
        <p:txBody>
          <a:bodyPr wrap="square" rtlCol="0" anchor="ctr"/>
          <a:lstStyle/>
          <a:p>
            <a:pPr indent="0" marL="0">
              <a:buNone/>
            </a:pPr>
            <a:r>
              <a:rPr lang="en-US" sz="1400" dirty="0">
                <a:solidFill>
                  <a:srgbClr val="000000"/>
                </a:solidFill>
                <a:latin typeface="Calibri" pitchFamily="34" charset="0"/>
                <a:ea typeface="Calibri" pitchFamily="34" charset="-122"/>
                <a:cs typeface="Calibri" pitchFamily="34" charset="-120"/>
              </a:rPr>
              <a:t>El problema sigue ahí — no lo resolviste</a:t>
            </a:r>
            <a:endParaRPr lang="en-US" sz="1400" dirty="0"/>
          </a:p>
        </p:txBody>
      </p:sp>
      <p:sp>
        <p:nvSpPr>
          <p:cNvPr id="16" name="Shape 14"/>
          <p:cNvSpPr/>
          <p:nvPr/>
        </p:nvSpPr>
        <p:spPr>
          <a:xfrm>
            <a:off x="594360" y="4965192"/>
            <a:ext cx="164592" cy="164592"/>
          </a:xfrm>
          <a:prstGeom prst="ellipse">
            <a:avLst/>
          </a:prstGeom>
          <a:solidFill>
            <a:srgbClr val="FF0000"/>
          </a:solidFill>
          <a:ln/>
        </p:spPr>
      </p:sp>
      <p:sp>
        <p:nvSpPr>
          <p:cNvPr id="17" name="Text 15"/>
          <p:cNvSpPr/>
          <p:nvPr/>
        </p:nvSpPr>
        <p:spPr>
          <a:xfrm>
            <a:off x="896112" y="4873752"/>
            <a:ext cx="4572000" cy="658368"/>
          </a:xfrm>
          <a:prstGeom prst="rect">
            <a:avLst/>
          </a:prstGeom>
          <a:noFill/>
          <a:ln/>
        </p:spPr>
        <p:txBody>
          <a:bodyPr wrap="square" rtlCol="0" anchor="ctr"/>
          <a:lstStyle/>
          <a:p>
            <a:pPr indent="0" marL="0">
              <a:buNone/>
            </a:pPr>
            <a:r>
              <a:rPr lang="en-US" sz="1400" dirty="0">
                <a:solidFill>
                  <a:srgbClr val="000000"/>
                </a:solidFill>
                <a:latin typeface="Calibri" pitchFamily="34" charset="0"/>
                <a:ea typeface="Calibri" pitchFamily="34" charset="-122"/>
                <a:cs typeface="Calibri" pitchFamily="34" charset="-120"/>
              </a:rPr>
              <a:t>Decisión basada en síntoma, no en causa</a:t>
            </a:r>
            <a:endParaRPr lang="en-US" sz="1400" dirty="0"/>
          </a:p>
        </p:txBody>
      </p:sp>
      <p:sp>
        <p:nvSpPr>
          <p:cNvPr id="18" name="Shape 16"/>
          <p:cNvSpPr/>
          <p:nvPr/>
        </p:nvSpPr>
        <p:spPr>
          <a:xfrm>
            <a:off x="6492240" y="1234440"/>
            <a:ext cx="5303520" cy="502920"/>
          </a:xfrm>
          <a:prstGeom prst="rect">
            <a:avLst/>
          </a:prstGeom>
          <a:solidFill>
            <a:srgbClr val="FF6B00"/>
          </a:solidFill>
          <a:ln/>
        </p:spPr>
      </p:sp>
      <p:sp>
        <p:nvSpPr>
          <p:cNvPr id="19" name="Text 17"/>
          <p:cNvSpPr/>
          <p:nvPr/>
        </p:nvSpPr>
        <p:spPr>
          <a:xfrm>
            <a:off x="6492240" y="1234440"/>
            <a:ext cx="5303520" cy="50292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LO QUE VE CLAUDE CON ZONA 1 + 2</a:t>
            </a:r>
            <a:endParaRPr lang="en-US" sz="1600" dirty="0"/>
          </a:p>
        </p:txBody>
      </p:sp>
      <p:sp>
        <p:nvSpPr>
          <p:cNvPr id="20" name="Shape 18"/>
          <p:cNvSpPr/>
          <p:nvPr/>
        </p:nvSpPr>
        <p:spPr>
          <a:xfrm>
            <a:off x="6492240" y="1737360"/>
            <a:ext cx="5303520" cy="4754880"/>
          </a:xfrm>
          <a:prstGeom prst="rect">
            <a:avLst/>
          </a:prstGeom>
          <a:solidFill>
            <a:srgbClr val="F9F9F9"/>
          </a:solidFill>
          <a:ln w="12700">
            <a:solidFill>
              <a:srgbClr val="E0E0E0"/>
            </a:solidFill>
            <a:prstDash val="solid"/>
          </a:ln>
        </p:spPr>
      </p:sp>
      <p:sp>
        <p:nvSpPr>
          <p:cNvPr id="21" name="Shape 19"/>
          <p:cNvSpPr/>
          <p:nvPr/>
        </p:nvSpPr>
        <p:spPr>
          <a:xfrm>
            <a:off x="6720840" y="1965960"/>
            <a:ext cx="164592" cy="164592"/>
          </a:xfrm>
          <a:prstGeom prst="ellipse">
            <a:avLst/>
          </a:prstGeom>
          <a:solidFill>
            <a:srgbClr val="FF6B00"/>
          </a:solidFill>
          <a:ln/>
        </p:spPr>
      </p:sp>
      <p:sp>
        <p:nvSpPr>
          <p:cNvPr id="22" name="Text 20"/>
          <p:cNvSpPr/>
          <p:nvPr/>
        </p:nvSpPr>
        <p:spPr>
          <a:xfrm>
            <a:off x="7022592" y="1874520"/>
            <a:ext cx="4572000" cy="658368"/>
          </a:xfrm>
          <a:prstGeom prst="rect">
            <a:avLst/>
          </a:prstGeom>
          <a:noFill/>
          <a:ln/>
        </p:spPr>
        <p:txBody>
          <a:bodyPr wrap="square" rtlCol="0" anchor="ctr"/>
          <a:lstStyle/>
          <a:p>
            <a:pPr indent="0" marL="0">
              <a:buNone/>
            </a:pPr>
            <a:r>
              <a:rPr lang="en-US" sz="1400" dirty="0">
                <a:solidFill>
                  <a:srgbClr val="000000"/>
                </a:solidFill>
                <a:latin typeface="Calibri" pitchFamily="34" charset="0"/>
                <a:ea typeface="Calibri" pitchFamily="34" charset="-122"/>
                <a:cs typeface="Calibri" pitchFamily="34" charset="-120"/>
              </a:rPr>
              <a:t>CTR de Meta: 2.1% — dentro de rango normal</a:t>
            </a:r>
            <a:endParaRPr lang="en-US" sz="1400" dirty="0"/>
          </a:p>
        </p:txBody>
      </p:sp>
      <p:sp>
        <p:nvSpPr>
          <p:cNvPr id="23" name="Shape 21"/>
          <p:cNvSpPr/>
          <p:nvPr/>
        </p:nvSpPr>
        <p:spPr>
          <a:xfrm>
            <a:off x="6720840" y="2715768"/>
            <a:ext cx="164592" cy="164592"/>
          </a:xfrm>
          <a:prstGeom prst="ellipse">
            <a:avLst/>
          </a:prstGeom>
          <a:solidFill>
            <a:srgbClr val="FF6B00"/>
          </a:solidFill>
          <a:ln/>
        </p:spPr>
      </p:sp>
      <p:sp>
        <p:nvSpPr>
          <p:cNvPr id="24" name="Text 22"/>
          <p:cNvSpPr/>
          <p:nvPr/>
        </p:nvSpPr>
        <p:spPr>
          <a:xfrm>
            <a:off x="7022592" y="2624328"/>
            <a:ext cx="4572000" cy="658368"/>
          </a:xfrm>
          <a:prstGeom prst="rect">
            <a:avLst/>
          </a:prstGeom>
          <a:noFill/>
          <a:ln/>
        </p:spPr>
        <p:txBody>
          <a:bodyPr wrap="square" rtlCol="0" anchor="ctr"/>
          <a:lstStyle/>
          <a:p>
            <a:pPr indent="0" marL="0">
              <a:buNone/>
            </a:pPr>
            <a:r>
              <a:rPr lang="en-US" sz="1400" dirty="0">
                <a:solidFill>
                  <a:srgbClr val="000000"/>
                </a:solidFill>
                <a:latin typeface="Calibri" pitchFamily="34" charset="0"/>
                <a:ea typeface="Calibri" pitchFamily="34" charset="-122"/>
                <a:cs typeface="Calibri" pitchFamily="34" charset="-120"/>
              </a:rPr>
              <a:t>Pero activación cayó de 34% a 19% en 3 días</a:t>
            </a:r>
            <a:endParaRPr lang="en-US" sz="1400" dirty="0"/>
          </a:p>
        </p:txBody>
      </p:sp>
      <p:sp>
        <p:nvSpPr>
          <p:cNvPr id="25" name="Shape 23"/>
          <p:cNvSpPr/>
          <p:nvPr/>
        </p:nvSpPr>
        <p:spPr>
          <a:xfrm>
            <a:off x="6720840" y="3465576"/>
            <a:ext cx="164592" cy="164592"/>
          </a:xfrm>
          <a:prstGeom prst="ellipse">
            <a:avLst/>
          </a:prstGeom>
          <a:solidFill>
            <a:srgbClr val="FF6B00"/>
          </a:solidFill>
          <a:ln/>
        </p:spPr>
      </p:sp>
      <p:sp>
        <p:nvSpPr>
          <p:cNvPr id="26" name="Text 24"/>
          <p:cNvSpPr/>
          <p:nvPr/>
        </p:nvSpPr>
        <p:spPr>
          <a:xfrm>
            <a:off x="7022592" y="3374136"/>
            <a:ext cx="4572000" cy="658368"/>
          </a:xfrm>
          <a:prstGeom prst="rect">
            <a:avLst/>
          </a:prstGeom>
          <a:noFill/>
          <a:ln/>
        </p:spPr>
        <p:txBody>
          <a:bodyPr wrap="square" rtlCol="0" anchor="ctr"/>
          <a:lstStyle/>
          <a:p>
            <a:pPr indent="0" marL="0">
              <a:buNone/>
            </a:pPr>
            <a:r>
              <a:rPr lang="en-US" sz="1400" dirty="0">
                <a:solidFill>
                  <a:srgbClr val="000000"/>
                </a:solidFill>
                <a:latin typeface="Calibri" pitchFamily="34" charset="0"/>
                <a:ea typeface="Calibri" pitchFamily="34" charset="-122"/>
                <a:cs typeface="Calibri" pitchFamily="34" charset="-120"/>
              </a:rPr>
              <a:t>Diagnóstico: problema de lo que pasa POST-clic</a:t>
            </a:r>
            <a:endParaRPr lang="en-US" sz="1400" dirty="0"/>
          </a:p>
        </p:txBody>
      </p:sp>
      <p:sp>
        <p:nvSpPr>
          <p:cNvPr id="27" name="Shape 25"/>
          <p:cNvSpPr/>
          <p:nvPr/>
        </p:nvSpPr>
        <p:spPr>
          <a:xfrm>
            <a:off x="6720840" y="4215384"/>
            <a:ext cx="164592" cy="164592"/>
          </a:xfrm>
          <a:prstGeom prst="ellipse">
            <a:avLst/>
          </a:prstGeom>
          <a:solidFill>
            <a:srgbClr val="FF6B00"/>
          </a:solidFill>
          <a:ln/>
        </p:spPr>
      </p:sp>
      <p:sp>
        <p:nvSpPr>
          <p:cNvPr id="28" name="Text 26"/>
          <p:cNvSpPr/>
          <p:nvPr/>
        </p:nvSpPr>
        <p:spPr>
          <a:xfrm>
            <a:off x="7022592" y="4123944"/>
            <a:ext cx="4572000" cy="658368"/>
          </a:xfrm>
          <a:prstGeom prst="rect">
            <a:avLst/>
          </a:prstGeom>
          <a:noFill/>
          <a:ln/>
        </p:spPr>
        <p:txBody>
          <a:bodyPr wrap="square" rtlCol="0" anchor="ctr"/>
          <a:lstStyle/>
          <a:p>
            <a:pPr indent="0" marL="0">
              <a:buNone/>
            </a:pPr>
            <a:r>
              <a:rPr lang="en-US" sz="1400" dirty="0">
                <a:solidFill>
                  <a:srgbClr val="000000"/>
                </a:solidFill>
                <a:latin typeface="Calibri" pitchFamily="34" charset="0"/>
                <a:ea typeface="Calibri" pitchFamily="34" charset="-122"/>
                <a:cs typeface="Calibri" pitchFamily="34" charset="-120"/>
              </a:rPr>
              <a:t>Recomendación: pausar ad set de mayor volumen/menor activación</a:t>
            </a:r>
            <a:endParaRPr lang="en-US" sz="1400" dirty="0"/>
          </a:p>
        </p:txBody>
      </p:sp>
      <p:sp>
        <p:nvSpPr>
          <p:cNvPr id="29" name="Shape 27"/>
          <p:cNvSpPr/>
          <p:nvPr/>
        </p:nvSpPr>
        <p:spPr>
          <a:xfrm>
            <a:off x="6720840" y="4965192"/>
            <a:ext cx="164592" cy="164592"/>
          </a:xfrm>
          <a:prstGeom prst="ellipse">
            <a:avLst/>
          </a:prstGeom>
          <a:solidFill>
            <a:srgbClr val="FF6B00"/>
          </a:solidFill>
          <a:ln/>
        </p:spPr>
      </p:sp>
      <p:sp>
        <p:nvSpPr>
          <p:cNvPr id="30" name="Text 28"/>
          <p:cNvSpPr/>
          <p:nvPr/>
        </p:nvSpPr>
        <p:spPr>
          <a:xfrm>
            <a:off x="7022592" y="4873752"/>
            <a:ext cx="4572000" cy="658368"/>
          </a:xfrm>
          <a:prstGeom prst="rect">
            <a:avLst/>
          </a:prstGeom>
          <a:noFill/>
          <a:ln/>
        </p:spPr>
        <p:txBody>
          <a:bodyPr wrap="square" rtlCol="0" anchor="ctr"/>
          <a:lstStyle/>
          <a:p>
            <a:pPr indent="0" marL="0">
              <a:buNone/>
            </a:pPr>
            <a:r>
              <a:rPr lang="en-US" sz="1400" dirty="0">
                <a:solidFill>
                  <a:srgbClr val="000000"/>
                </a:solidFill>
                <a:latin typeface="Calibri" pitchFamily="34" charset="0"/>
                <a:ea typeface="Calibri" pitchFamily="34" charset="-122"/>
                <a:cs typeface="Calibri" pitchFamily="34" charset="-120"/>
              </a:rPr>
              <a:t>Causa probable: desconexión entre anuncio y onboarding</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FF6B00"/>
          </a:solidFill>
          <a:ln/>
        </p:spPr>
      </p:sp>
      <p:sp>
        <p:nvSpPr>
          <p:cNvPr id="3" name="Shape 1"/>
          <p:cNvSpPr/>
          <p:nvPr/>
        </p:nvSpPr>
        <p:spPr>
          <a:xfrm>
            <a:off x="164592" y="0"/>
            <a:ext cx="12024360" cy="1143000"/>
          </a:xfrm>
          <a:prstGeom prst="rect">
            <a:avLst/>
          </a:prstGeom>
          <a:solidFill>
            <a:srgbClr val="000000"/>
          </a:solidFill>
          <a:ln/>
        </p:spPr>
      </p:sp>
      <p:sp>
        <p:nvSpPr>
          <p:cNvPr id="4" name="Text 2"/>
          <p:cNvSpPr/>
          <p:nvPr/>
        </p:nvSpPr>
        <p:spPr>
          <a:xfrm>
            <a:off x="457200" y="0"/>
            <a:ext cx="11430000" cy="1143000"/>
          </a:xfrm>
          <a:prstGeom prst="rect">
            <a:avLst/>
          </a:prstGeom>
          <a:noFill/>
          <a:ln/>
        </p:spPr>
        <p:txBody>
          <a:bodyPr wrap="square" rtlCol="0" anchor="ctr"/>
          <a:lstStyle/>
          <a:p>
            <a:pPr indent="0" marL="0">
              <a:buNone/>
            </a:pPr>
            <a:r>
              <a:rPr lang="en-US" sz="2600" b="1" dirty="0">
                <a:solidFill>
                  <a:srgbClr val="FFFFFF"/>
                </a:solidFill>
                <a:latin typeface="Arial Black" pitchFamily="34" charset="0"/>
                <a:ea typeface="Arial Black" pitchFamily="34" charset="-122"/>
                <a:cs typeface="Arial Black" pitchFamily="34" charset="-120"/>
              </a:rPr>
              <a:t>Los 4 tipos de análisis que Claude hace mejor en el War Room</a:t>
            </a:r>
            <a:endParaRPr lang="en-US" sz="2600" dirty="0"/>
          </a:p>
        </p:txBody>
      </p:sp>
      <p:sp>
        <p:nvSpPr>
          <p:cNvPr id="5" name="Shape 3"/>
          <p:cNvSpPr/>
          <p:nvPr/>
        </p:nvSpPr>
        <p:spPr>
          <a:xfrm>
            <a:off x="164592" y="1124712"/>
            <a:ext cx="12024360" cy="73152"/>
          </a:xfrm>
          <a:prstGeom prst="rect">
            <a:avLst/>
          </a:prstGeom>
          <a:solidFill>
            <a:srgbClr val="EEFF89"/>
          </a:solidFill>
          <a:ln/>
        </p:spPr>
      </p:sp>
      <p:sp>
        <p:nvSpPr>
          <p:cNvPr id="6" name="Shape 4"/>
          <p:cNvSpPr/>
          <p:nvPr/>
        </p:nvSpPr>
        <p:spPr>
          <a:xfrm>
            <a:off x="457200" y="1490472"/>
            <a:ext cx="384048" cy="384048"/>
          </a:xfrm>
          <a:prstGeom prst="rect">
            <a:avLst/>
          </a:prstGeom>
          <a:solidFill>
            <a:srgbClr val="FF6B00"/>
          </a:solidFill>
          <a:ln/>
        </p:spPr>
      </p:sp>
      <p:sp>
        <p:nvSpPr>
          <p:cNvPr id="7" name="Text 5"/>
          <p:cNvSpPr/>
          <p:nvPr/>
        </p:nvSpPr>
        <p:spPr>
          <a:xfrm>
            <a:off x="457200" y="1490472"/>
            <a:ext cx="384048" cy="384048"/>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8" name="Text 6"/>
          <p:cNvSpPr/>
          <p:nvPr/>
        </p:nvSpPr>
        <p:spPr>
          <a:xfrm>
            <a:off x="1005840" y="1417320"/>
            <a:ext cx="10789920" cy="640080"/>
          </a:xfrm>
          <a:prstGeom prst="rect">
            <a:avLst/>
          </a:prstGeom>
          <a:noFill/>
          <a:ln/>
        </p:spPr>
        <p:txBody>
          <a:bodyPr wrap="square" rtlCol="0" anchor="ctr"/>
          <a:lstStyle/>
          <a:p>
            <a:pPr indent="0" marL="0">
              <a:buNone/>
            </a:pPr>
            <a:r>
              <a:rPr lang="en-US" sz="1500" dirty="0">
                <a:solidFill>
                  <a:srgbClr val="000000"/>
                </a:solidFill>
                <a:latin typeface="Calibri" pitchFamily="34" charset="0"/>
                <a:ea typeface="Calibri" pitchFamily="34" charset="-122"/>
                <a:cs typeface="Calibri" pitchFamily="34" charset="-120"/>
              </a:rPr>
              <a:t>Identificar la caída en el funnel — en qué punto exacto se pierde más valor entre tráfico, registro y activación.</a:t>
            </a:r>
            <a:endParaRPr lang="en-US" sz="1500" dirty="0"/>
          </a:p>
        </p:txBody>
      </p:sp>
      <p:sp>
        <p:nvSpPr>
          <p:cNvPr id="9" name="Shape 7"/>
          <p:cNvSpPr/>
          <p:nvPr/>
        </p:nvSpPr>
        <p:spPr>
          <a:xfrm>
            <a:off x="457200" y="2221992"/>
            <a:ext cx="384048" cy="384048"/>
          </a:xfrm>
          <a:prstGeom prst="rect">
            <a:avLst/>
          </a:prstGeom>
          <a:solidFill>
            <a:srgbClr val="FF6B00"/>
          </a:solidFill>
          <a:ln/>
        </p:spPr>
      </p:sp>
      <p:sp>
        <p:nvSpPr>
          <p:cNvPr id="10" name="Text 8"/>
          <p:cNvSpPr/>
          <p:nvPr/>
        </p:nvSpPr>
        <p:spPr>
          <a:xfrm>
            <a:off x="457200" y="2221992"/>
            <a:ext cx="384048" cy="384048"/>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1" name="Text 9"/>
          <p:cNvSpPr/>
          <p:nvPr/>
        </p:nvSpPr>
        <p:spPr>
          <a:xfrm>
            <a:off x="1005840" y="2148840"/>
            <a:ext cx="10789920" cy="640080"/>
          </a:xfrm>
          <a:prstGeom prst="rect">
            <a:avLst/>
          </a:prstGeom>
          <a:noFill/>
          <a:ln/>
        </p:spPr>
        <p:txBody>
          <a:bodyPr wrap="square" rtlCol="0" anchor="ctr"/>
          <a:lstStyle/>
          <a:p>
            <a:pPr indent="0" marL="0">
              <a:buNone/>
            </a:pPr>
            <a:r>
              <a:rPr lang="en-US" sz="1500" dirty="0">
                <a:solidFill>
                  <a:srgbClr val="000000"/>
                </a:solidFill>
                <a:latin typeface="Calibri" pitchFamily="34" charset="0"/>
                <a:ea typeface="Calibri" pitchFamily="34" charset="-122"/>
                <a:cs typeface="Calibri" pitchFamily="34" charset="-120"/>
              </a:rPr>
              <a:t>Diagnosticar causas probables — separar si el problema es de adquisición (audiencia/mensaje), de producto (onboarding) o de retención (churn/engagement).</a:t>
            </a:r>
            <a:endParaRPr lang="en-US" sz="1500" dirty="0"/>
          </a:p>
        </p:txBody>
      </p:sp>
      <p:sp>
        <p:nvSpPr>
          <p:cNvPr id="12" name="Shape 10"/>
          <p:cNvSpPr/>
          <p:nvPr/>
        </p:nvSpPr>
        <p:spPr>
          <a:xfrm>
            <a:off x="457200" y="2953512"/>
            <a:ext cx="384048" cy="384048"/>
          </a:xfrm>
          <a:prstGeom prst="rect">
            <a:avLst/>
          </a:prstGeom>
          <a:solidFill>
            <a:srgbClr val="FF6B00"/>
          </a:solidFill>
          <a:ln/>
        </p:spPr>
      </p:sp>
      <p:sp>
        <p:nvSpPr>
          <p:cNvPr id="13" name="Text 11"/>
          <p:cNvSpPr/>
          <p:nvPr/>
        </p:nvSpPr>
        <p:spPr>
          <a:xfrm>
            <a:off x="457200" y="2953512"/>
            <a:ext cx="384048" cy="384048"/>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4" name="Text 12"/>
          <p:cNvSpPr/>
          <p:nvPr/>
        </p:nvSpPr>
        <p:spPr>
          <a:xfrm>
            <a:off x="1005840" y="2880360"/>
            <a:ext cx="10789920" cy="640080"/>
          </a:xfrm>
          <a:prstGeom prst="rect">
            <a:avLst/>
          </a:prstGeom>
          <a:noFill/>
          <a:ln/>
        </p:spPr>
        <p:txBody>
          <a:bodyPr wrap="square" rtlCol="0" anchor="ctr"/>
          <a:lstStyle/>
          <a:p>
            <a:pPr indent="0" marL="0">
              <a:buNone/>
            </a:pPr>
            <a:r>
              <a:rPr lang="en-US" sz="1500" dirty="0">
                <a:solidFill>
                  <a:srgbClr val="000000"/>
                </a:solidFill>
                <a:latin typeface="Calibri" pitchFamily="34" charset="0"/>
                <a:ea typeface="Calibri" pitchFamily="34" charset="-122"/>
                <a:cs typeface="Calibri" pitchFamily="34" charset="-120"/>
              </a:rPr>
              <a:t>Priorizar el experimento más accionable — UNA recomendación con canal, magnitud y dirección. No cinco hipótesis.</a:t>
            </a:r>
            <a:endParaRPr lang="en-US" sz="1500" dirty="0"/>
          </a:p>
        </p:txBody>
      </p:sp>
      <p:sp>
        <p:nvSpPr>
          <p:cNvPr id="15" name="Shape 13"/>
          <p:cNvSpPr/>
          <p:nvPr/>
        </p:nvSpPr>
        <p:spPr>
          <a:xfrm>
            <a:off x="457200" y="3685032"/>
            <a:ext cx="384048" cy="384048"/>
          </a:xfrm>
          <a:prstGeom prst="rect">
            <a:avLst/>
          </a:prstGeom>
          <a:solidFill>
            <a:srgbClr val="FF6B00"/>
          </a:solidFill>
          <a:ln/>
        </p:spPr>
      </p:sp>
      <p:sp>
        <p:nvSpPr>
          <p:cNvPr id="16" name="Text 14"/>
          <p:cNvSpPr/>
          <p:nvPr/>
        </p:nvSpPr>
        <p:spPr>
          <a:xfrm>
            <a:off x="457200" y="3685032"/>
            <a:ext cx="384048" cy="384048"/>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7" name="Text 15"/>
          <p:cNvSpPr/>
          <p:nvPr/>
        </p:nvSpPr>
        <p:spPr>
          <a:xfrm>
            <a:off x="1005840" y="3611880"/>
            <a:ext cx="10789920" cy="640080"/>
          </a:xfrm>
          <a:prstGeom prst="rect">
            <a:avLst/>
          </a:prstGeom>
          <a:noFill/>
          <a:ln/>
        </p:spPr>
        <p:txBody>
          <a:bodyPr wrap="square" rtlCol="0" anchor="ctr"/>
          <a:lstStyle/>
          <a:p>
            <a:pPr indent="0" marL="0">
              <a:buNone/>
            </a:pPr>
            <a:r>
              <a:rPr lang="en-US" sz="1500" dirty="0">
                <a:solidFill>
                  <a:srgbClr val="000000"/>
                </a:solidFill>
                <a:latin typeface="Calibri" pitchFamily="34" charset="0"/>
                <a:ea typeface="Calibri" pitchFamily="34" charset="-122"/>
                <a:cs typeface="Calibri" pitchFamily="34" charset="-120"/>
              </a:rPr>
              <a:t>Proyectar el impacto — qué debería cambiar si la recomendación funciona, y qué métrica confirmaría el diagnóstico al día siguiente.</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00000"/>
          </a:solidFill>
          <a:ln/>
        </p:spPr>
      </p:sp>
      <p:sp>
        <p:nvSpPr>
          <p:cNvPr id="3" name="Text 1"/>
          <p:cNvSpPr/>
          <p:nvPr/>
        </p:nvSpPr>
        <p:spPr>
          <a:xfrm>
            <a:off x="365760" y="0"/>
            <a:ext cx="11430000" cy="1005840"/>
          </a:xfrm>
          <a:prstGeom prst="rect">
            <a:avLst/>
          </a:prstGeom>
          <a:noFill/>
          <a:ln/>
        </p:spPr>
        <p:txBody>
          <a:bodyPr wrap="square" rtlCol="0" anchor="ctr"/>
          <a:lstStyle/>
          <a:p>
            <a:pPr indent="0" marL="0">
              <a:buNone/>
            </a:pPr>
            <a:r>
              <a:rPr lang="en-US" sz="2600" b="1" dirty="0">
                <a:solidFill>
                  <a:srgbClr val="FFFFFF"/>
                </a:solidFill>
                <a:latin typeface="Arial Black" pitchFamily="34" charset="0"/>
                <a:ea typeface="Arial Black" pitchFamily="34" charset="-122"/>
                <a:cs typeface="Arial Black" pitchFamily="34" charset="-120"/>
              </a:rPr>
              <a:t>El ritual diario del War Room: 10 minutos, una decisión</a:t>
            </a:r>
            <a:endParaRPr lang="en-US" sz="2600" dirty="0"/>
          </a:p>
        </p:txBody>
      </p:sp>
      <p:sp>
        <p:nvSpPr>
          <p:cNvPr id="4" name="Shape 2"/>
          <p:cNvSpPr/>
          <p:nvPr/>
        </p:nvSpPr>
        <p:spPr>
          <a:xfrm>
            <a:off x="0" y="987552"/>
            <a:ext cx="12188952" cy="64008"/>
          </a:xfrm>
          <a:prstGeom prst="rect">
            <a:avLst/>
          </a:prstGeom>
          <a:solidFill>
            <a:srgbClr val="EEFF89"/>
          </a:solidFill>
          <a:ln/>
        </p:spPr>
      </p:sp>
      <p:sp>
        <p:nvSpPr>
          <p:cNvPr id="5" name="Shape 3"/>
          <p:cNvSpPr/>
          <p:nvPr/>
        </p:nvSpPr>
        <p:spPr>
          <a:xfrm>
            <a:off x="320040" y="1325880"/>
            <a:ext cx="640080" cy="640080"/>
          </a:xfrm>
          <a:prstGeom prst="ellipse">
            <a:avLst/>
          </a:prstGeom>
          <a:solidFill>
            <a:srgbClr val="FF0000"/>
          </a:solidFill>
          <a:ln/>
        </p:spPr>
      </p:sp>
      <p:sp>
        <p:nvSpPr>
          <p:cNvPr id="6" name="Text 4"/>
          <p:cNvSpPr/>
          <p:nvPr/>
        </p:nvSpPr>
        <p:spPr>
          <a:xfrm>
            <a:off x="320040" y="1325880"/>
            <a:ext cx="640080" cy="640080"/>
          </a:xfrm>
          <a:prstGeom prst="rect">
            <a:avLst/>
          </a:prstGeom>
          <a:noFill/>
          <a:ln/>
        </p:spPr>
        <p:txBody>
          <a:bodyPr wrap="square" rtlCol="0" anchor="ctr"/>
          <a:lstStyle/>
          <a:p>
            <a:pPr algn="ctr" indent="0" marL="0">
              <a:buNone/>
            </a:pPr>
            <a:r>
              <a:rPr lang="en-US" sz="2000" b="1" dirty="0">
                <a:solidFill>
                  <a:srgbClr val="FFFFFF"/>
                </a:solidFill>
                <a:latin typeface="Arial Black" pitchFamily="34" charset="0"/>
                <a:ea typeface="Arial Black" pitchFamily="34" charset="-122"/>
                <a:cs typeface="Arial Black" pitchFamily="34" charset="-120"/>
              </a:rPr>
              <a:t>1</a:t>
            </a:r>
            <a:endParaRPr lang="en-US" sz="2000" dirty="0"/>
          </a:p>
        </p:txBody>
      </p:sp>
      <p:sp>
        <p:nvSpPr>
          <p:cNvPr id="7" name="Shape 5"/>
          <p:cNvSpPr/>
          <p:nvPr/>
        </p:nvSpPr>
        <p:spPr>
          <a:xfrm>
            <a:off x="621792" y="1965960"/>
            <a:ext cx="36576" cy="320040"/>
          </a:xfrm>
          <a:prstGeom prst="rect">
            <a:avLst/>
          </a:prstGeom>
          <a:solidFill>
            <a:srgbClr val="DDDDDD"/>
          </a:solidFill>
          <a:ln/>
        </p:spPr>
      </p:sp>
      <p:sp>
        <p:nvSpPr>
          <p:cNvPr id="8" name="Shape 6"/>
          <p:cNvSpPr/>
          <p:nvPr/>
        </p:nvSpPr>
        <p:spPr>
          <a:xfrm>
            <a:off x="1143000" y="1280160"/>
            <a:ext cx="10607040" cy="749808"/>
          </a:xfrm>
          <a:prstGeom prst="rect">
            <a:avLst/>
          </a:prstGeom>
          <a:solidFill>
            <a:srgbClr val="F5F5F5"/>
          </a:solidFill>
          <a:ln w="12700">
            <a:solidFill>
              <a:srgbClr val="FF0000"/>
            </a:solidFill>
            <a:prstDash val="solid"/>
          </a:ln>
        </p:spPr>
      </p:sp>
      <p:sp>
        <p:nvSpPr>
          <p:cNvPr id="9" name="Text 7"/>
          <p:cNvSpPr/>
          <p:nvPr/>
        </p:nvSpPr>
        <p:spPr>
          <a:xfrm>
            <a:off x="1325880" y="1280160"/>
            <a:ext cx="10241280" cy="749808"/>
          </a:xfrm>
          <a:prstGeom prst="rect">
            <a:avLst/>
          </a:prstGeom>
          <a:noFill/>
          <a:ln/>
        </p:spPr>
        <p:txBody>
          <a:bodyPr wrap="square" rtlCol="0" anchor="ctr"/>
          <a:lstStyle/>
          <a:p>
            <a:pPr indent="0" marL="0">
              <a:buNone/>
            </a:pPr>
            <a:r>
              <a:rPr lang="en-US" sz="1400" dirty="0">
                <a:solidFill>
                  <a:srgbClr val="000000"/>
                </a:solidFill>
                <a:latin typeface="Calibri" pitchFamily="34" charset="0"/>
                <a:ea typeface="Calibri" pitchFamily="34" charset="-122"/>
                <a:cs typeface="Calibri" pitchFamily="34" charset="-120"/>
              </a:rPr>
              <a:t>Min 0–3: Abrir War Room en Sheets. Pegar métricas de Meta, Google y email de ayer en Zona 1.</a:t>
            </a:r>
            <a:endParaRPr lang="en-US" sz="1400" dirty="0"/>
          </a:p>
        </p:txBody>
      </p:sp>
      <p:sp>
        <p:nvSpPr>
          <p:cNvPr id="10" name="Shape 8"/>
          <p:cNvSpPr/>
          <p:nvPr/>
        </p:nvSpPr>
        <p:spPr>
          <a:xfrm>
            <a:off x="320040" y="2258568"/>
            <a:ext cx="640080" cy="640080"/>
          </a:xfrm>
          <a:prstGeom prst="ellipse">
            <a:avLst/>
          </a:prstGeom>
          <a:solidFill>
            <a:srgbClr val="FF6B00"/>
          </a:solidFill>
          <a:ln/>
        </p:spPr>
      </p:sp>
      <p:sp>
        <p:nvSpPr>
          <p:cNvPr id="11" name="Text 9"/>
          <p:cNvSpPr/>
          <p:nvPr/>
        </p:nvSpPr>
        <p:spPr>
          <a:xfrm>
            <a:off x="320040" y="2258568"/>
            <a:ext cx="640080" cy="640080"/>
          </a:xfrm>
          <a:prstGeom prst="rect">
            <a:avLst/>
          </a:prstGeom>
          <a:noFill/>
          <a:ln/>
        </p:spPr>
        <p:txBody>
          <a:bodyPr wrap="square" rtlCol="0" anchor="ctr"/>
          <a:lstStyle/>
          <a:p>
            <a:pPr algn="ctr" indent="0" marL="0">
              <a:buNone/>
            </a:pPr>
            <a:r>
              <a:rPr lang="en-US" sz="2000" b="1" dirty="0">
                <a:solidFill>
                  <a:srgbClr val="FFFFFF"/>
                </a:solidFill>
                <a:latin typeface="Arial Black" pitchFamily="34" charset="0"/>
                <a:ea typeface="Arial Black" pitchFamily="34" charset="-122"/>
                <a:cs typeface="Arial Black" pitchFamily="34" charset="-120"/>
              </a:rPr>
              <a:t>2</a:t>
            </a:r>
            <a:endParaRPr lang="en-US" sz="2000" dirty="0"/>
          </a:p>
        </p:txBody>
      </p:sp>
      <p:sp>
        <p:nvSpPr>
          <p:cNvPr id="12" name="Shape 10"/>
          <p:cNvSpPr/>
          <p:nvPr/>
        </p:nvSpPr>
        <p:spPr>
          <a:xfrm>
            <a:off x="621792" y="2898648"/>
            <a:ext cx="36576" cy="320040"/>
          </a:xfrm>
          <a:prstGeom prst="rect">
            <a:avLst/>
          </a:prstGeom>
          <a:solidFill>
            <a:srgbClr val="DDDDDD"/>
          </a:solidFill>
          <a:ln/>
        </p:spPr>
      </p:sp>
      <p:sp>
        <p:nvSpPr>
          <p:cNvPr id="13" name="Shape 11"/>
          <p:cNvSpPr/>
          <p:nvPr/>
        </p:nvSpPr>
        <p:spPr>
          <a:xfrm>
            <a:off x="1143000" y="2212848"/>
            <a:ext cx="10607040" cy="749808"/>
          </a:xfrm>
          <a:prstGeom prst="rect">
            <a:avLst/>
          </a:prstGeom>
          <a:solidFill>
            <a:srgbClr val="F5F5F5"/>
          </a:solidFill>
          <a:ln w="12700">
            <a:solidFill>
              <a:srgbClr val="FF6B00"/>
            </a:solidFill>
            <a:prstDash val="solid"/>
          </a:ln>
        </p:spPr>
      </p:sp>
      <p:sp>
        <p:nvSpPr>
          <p:cNvPr id="14" name="Text 12"/>
          <p:cNvSpPr/>
          <p:nvPr/>
        </p:nvSpPr>
        <p:spPr>
          <a:xfrm>
            <a:off x="1325880" y="2212848"/>
            <a:ext cx="10241280" cy="749808"/>
          </a:xfrm>
          <a:prstGeom prst="rect">
            <a:avLst/>
          </a:prstGeom>
          <a:noFill/>
          <a:ln/>
        </p:spPr>
        <p:txBody>
          <a:bodyPr wrap="square" rtlCol="0" anchor="ctr"/>
          <a:lstStyle/>
          <a:p>
            <a:pPr indent="0" marL="0">
              <a:buNone/>
            </a:pPr>
            <a:r>
              <a:rPr lang="en-US" sz="1400" dirty="0">
                <a:solidFill>
                  <a:srgbClr val="000000"/>
                </a:solidFill>
                <a:latin typeface="Calibri" pitchFamily="34" charset="0"/>
                <a:ea typeface="Calibri" pitchFamily="34" charset="-122"/>
                <a:cs typeface="Calibri" pitchFamily="34" charset="-120"/>
              </a:rPr>
              <a:t>Min 3–5: Pegar métricas de activación y retención en Zona 2. Escribir nota del día si hay contexto relevante.</a:t>
            </a:r>
            <a:endParaRPr lang="en-US" sz="1400" dirty="0"/>
          </a:p>
        </p:txBody>
      </p:sp>
      <p:sp>
        <p:nvSpPr>
          <p:cNvPr id="15" name="Shape 13"/>
          <p:cNvSpPr/>
          <p:nvPr/>
        </p:nvSpPr>
        <p:spPr>
          <a:xfrm>
            <a:off x="320040" y="3191256"/>
            <a:ext cx="640080" cy="640080"/>
          </a:xfrm>
          <a:prstGeom prst="ellipse">
            <a:avLst/>
          </a:prstGeom>
          <a:solidFill>
            <a:srgbClr val="000000"/>
          </a:solidFill>
          <a:ln/>
        </p:spPr>
      </p:sp>
      <p:sp>
        <p:nvSpPr>
          <p:cNvPr id="16" name="Text 14"/>
          <p:cNvSpPr/>
          <p:nvPr/>
        </p:nvSpPr>
        <p:spPr>
          <a:xfrm>
            <a:off x="320040" y="3191256"/>
            <a:ext cx="640080" cy="640080"/>
          </a:xfrm>
          <a:prstGeom prst="rect">
            <a:avLst/>
          </a:prstGeom>
          <a:noFill/>
          <a:ln/>
        </p:spPr>
        <p:txBody>
          <a:bodyPr wrap="square" rtlCol="0" anchor="ctr"/>
          <a:lstStyle/>
          <a:p>
            <a:pPr algn="ctr" indent="0" marL="0">
              <a:buNone/>
            </a:pPr>
            <a:r>
              <a:rPr lang="en-US" sz="2000" b="1" dirty="0">
                <a:solidFill>
                  <a:srgbClr val="FFFFFF"/>
                </a:solidFill>
                <a:latin typeface="Arial Black" pitchFamily="34" charset="0"/>
                <a:ea typeface="Arial Black" pitchFamily="34" charset="-122"/>
                <a:cs typeface="Arial Black" pitchFamily="34" charset="-120"/>
              </a:rPr>
              <a:t>3</a:t>
            </a:r>
            <a:endParaRPr lang="en-US" sz="2000" dirty="0"/>
          </a:p>
        </p:txBody>
      </p:sp>
      <p:sp>
        <p:nvSpPr>
          <p:cNvPr id="17" name="Shape 15"/>
          <p:cNvSpPr/>
          <p:nvPr/>
        </p:nvSpPr>
        <p:spPr>
          <a:xfrm>
            <a:off x="621792" y="3831336"/>
            <a:ext cx="36576" cy="320040"/>
          </a:xfrm>
          <a:prstGeom prst="rect">
            <a:avLst/>
          </a:prstGeom>
          <a:solidFill>
            <a:srgbClr val="DDDDDD"/>
          </a:solidFill>
          <a:ln/>
        </p:spPr>
      </p:sp>
      <p:sp>
        <p:nvSpPr>
          <p:cNvPr id="18" name="Shape 16"/>
          <p:cNvSpPr/>
          <p:nvPr/>
        </p:nvSpPr>
        <p:spPr>
          <a:xfrm>
            <a:off x="1143000" y="3145536"/>
            <a:ext cx="10607040" cy="749808"/>
          </a:xfrm>
          <a:prstGeom prst="rect">
            <a:avLst/>
          </a:prstGeom>
          <a:solidFill>
            <a:srgbClr val="F5F5F5"/>
          </a:solidFill>
          <a:ln w="12700">
            <a:solidFill>
              <a:srgbClr val="000000"/>
            </a:solidFill>
            <a:prstDash val="solid"/>
          </a:ln>
        </p:spPr>
      </p:sp>
      <p:sp>
        <p:nvSpPr>
          <p:cNvPr id="19" name="Text 17"/>
          <p:cNvSpPr/>
          <p:nvPr/>
        </p:nvSpPr>
        <p:spPr>
          <a:xfrm>
            <a:off x="1325880" y="3145536"/>
            <a:ext cx="10241280" cy="749808"/>
          </a:xfrm>
          <a:prstGeom prst="rect">
            <a:avLst/>
          </a:prstGeom>
          <a:noFill/>
          <a:ln/>
        </p:spPr>
        <p:txBody>
          <a:bodyPr wrap="square" rtlCol="0" anchor="ctr"/>
          <a:lstStyle/>
          <a:p>
            <a:pPr indent="0" marL="0">
              <a:buNone/>
            </a:pPr>
            <a:r>
              <a:rPr lang="en-US" sz="1400" dirty="0">
                <a:solidFill>
                  <a:srgbClr val="000000"/>
                </a:solidFill>
                <a:latin typeface="Calibri" pitchFamily="34" charset="0"/>
                <a:ea typeface="Calibri" pitchFamily="34" charset="-122"/>
                <a:cs typeface="Calibri" pitchFamily="34" charset="-120"/>
              </a:rPr>
              <a:t>Min 5–6: Seleccionar Zona 1 + Zona 2 completas. Copiar (Cmd+C / Ctrl+C).</a:t>
            </a:r>
            <a:endParaRPr lang="en-US" sz="1400" dirty="0"/>
          </a:p>
        </p:txBody>
      </p:sp>
      <p:sp>
        <p:nvSpPr>
          <p:cNvPr id="20" name="Shape 18"/>
          <p:cNvSpPr/>
          <p:nvPr/>
        </p:nvSpPr>
        <p:spPr>
          <a:xfrm>
            <a:off x="320040" y="4123944"/>
            <a:ext cx="640080" cy="640080"/>
          </a:xfrm>
          <a:prstGeom prst="ellipse">
            <a:avLst/>
          </a:prstGeom>
          <a:solidFill>
            <a:srgbClr val="FF0000"/>
          </a:solidFill>
          <a:ln/>
        </p:spPr>
      </p:sp>
      <p:sp>
        <p:nvSpPr>
          <p:cNvPr id="21" name="Text 19"/>
          <p:cNvSpPr/>
          <p:nvPr/>
        </p:nvSpPr>
        <p:spPr>
          <a:xfrm>
            <a:off x="320040" y="4123944"/>
            <a:ext cx="640080" cy="640080"/>
          </a:xfrm>
          <a:prstGeom prst="rect">
            <a:avLst/>
          </a:prstGeom>
          <a:noFill/>
          <a:ln/>
        </p:spPr>
        <p:txBody>
          <a:bodyPr wrap="square" rtlCol="0" anchor="ctr"/>
          <a:lstStyle/>
          <a:p>
            <a:pPr algn="ctr" indent="0" marL="0">
              <a:buNone/>
            </a:pPr>
            <a:r>
              <a:rPr lang="en-US" sz="2000" b="1" dirty="0">
                <a:solidFill>
                  <a:srgbClr val="FFFFFF"/>
                </a:solidFill>
                <a:latin typeface="Arial Black" pitchFamily="34" charset="0"/>
                <a:ea typeface="Arial Black" pitchFamily="34" charset="-122"/>
                <a:cs typeface="Arial Black" pitchFamily="34" charset="-120"/>
              </a:rPr>
              <a:t>4</a:t>
            </a:r>
            <a:endParaRPr lang="en-US" sz="2000" dirty="0"/>
          </a:p>
        </p:txBody>
      </p:sp>
      <p:sp>
        <p:nvSpPr>
          <p:cNvPr id="22" name="Shape 20"/>
          <p:cNvSpPr/>
          <p:nvPr/>
        </p:nvSpPr>
        <p:spPr>
          <a:xfrm>
            <a:off x="621792" y="4764024"/>
            <a:ext cx="36576" cy="320040"/>
          </a:xfrm>
          <a:prstGeom prst="rect">
            <a:avLst/>
          </a:prstGeom>
          <a:solidFill>
            <a:srgbClr val="DDDDDD"/>
          </a:solidFill>
          <a:ln/>
        </p:spPr>
      </p:sp>
      <p:sp>
        <p:nvSpPr>
          <p:cNvPr id="23" name="Shape 21"/>
          <p:cNvSpPr/>
          <p:nvPr/>
        </p:nvSpPr>
        <p:spPr>
          <a:xfrm>
            <a:off x="1143000" y="4078224"/>
            <a:ext cx="10607040" cy="749808"/>
          </a:xfrm>
          <a:prstGeom prst="rect">
            <a:avLst/>
          </a:prstGeom>
          <a:solidFill>
            <a:srgbClr val="F5F5F5"/>
          </a:solidFill>
          <a:ln w="12700">
            <a:solidFill>
              <a:srgbClr val="FF0000"/>
            </a:solidFill>
            <a:prstDash val="solid"/>
          </a:ln>
        </p:spPr>
      </p:sp>
      <p:sp>
        <p:nvSpPr>
          <p:cNvPr id="24" name="Text 22"/>
          <p:cNvSpPr/>
          <p:nvPr/>
        </p:nvSpPr>
        <p:spPr>
          <a:xfrm>
            <a:off x="1325880" y="4078224"/>
            <a:ext cx="10241280" cy="749808"/>
          </a:xfrm>
          <a:prstGeom prst="rect">
            <a:avLst/>
          </a:prstGeom>
          <a:noFill/>
          <a:ln/>
        </p:spPr>
        <p:txBody>
          <a:bodyPr wrap="square" rtlCol="0" anchor="ctr"/>
          <a:lstStyle/>
          <a:p>
            <a:pPr indent="0" marL="0">
              <a:buNone/>
            </a:pPr>
            <a:r>
              <a:rPr lang="en-US" sz="1400" dirty="0">
                <a:solidFill>
                  <a:srgbClr val="000000"/>
                </a:solidFill>
                <a:latin typeface="Calibri" pitchFamily="34" charset="0"/>
                <a:ea typeface="Calibri" pitchFamily="34" charset="-122"/>
                <a:cs typeface="Calibri" pitchFamily="34" charset="-120"/>
              </a:rPr>
              <a:t>Min 6–7: Abrir Claude → Project de Growth → nueva conversación. Pegar los datos. Enviar.</a:t>
            </a:r>
            <a:endParaRPr lang="en-US" sz="1400" dirty="0"/>
          </a:p>
        </p:txBody>
      </p:sp>
      <p:sp>
        <p:nvSpPr>
          <p:cNvPr id="25" name="Shape 23"/>
          <p:cNvSpPr/>
          <p:nvPr/>
        </p:nvSpPr>
        <p:spPr>
          <a:xfrm>
            <a:off x="320040" y="5056632"/>
            <a:ext cx="640080" cy="640080"/>
          </a:xfrm>
          <a:prstGeom prst="ellipse">
            <a:avLst/>
          </a:prstGeom>
          <a:solidFill>
            <a:srgbClr val="FF6B00"/>
          </a:solidFill>
          <a:ln/>
        </p:spPr>
      </p:sp>
      <p:sp>
        <p:nvSpPr>
          <p:cNvPr id="26" name="Text 24"/>
          <p:cNvSpPr/>
          <p:nvPr/>
        </p:nvSpPr>
        <p:spPr>
          <a:xfrm>
            <a:off x="320040" y="5056632"/>
            <a:ext cx="640080" cy="640080"/>
          </a:xfrm>
          <a:prstGeom prst="rect">
            <a:avLst/>
          </a:prstGeom>
          <a:noFill/>
          <a:ln/>
        </p:spPr>
        <p:txBody>
          <a:bodyPr wrap="square" rtlCol="0" anchor="ctr"/>
          <a:lstStyle/>
          <a:p>
            <a:pPr algn="ctr" indent="0" marL="0">
              <a:buNone/>
            </a:pPr>
            <a:r>
              <a:rPr lang="en-US" sz="2000" b="1" dirty="0">
                <a:solidFill>
                  <a:srgbClr val="FFFFFF"/>
                </a:solidFill>
                <a:latin typeface="Arial Black" pitchFamily="34" charset="0"/>
                <a:ea typeface="Arial Black" pitchFamily="34" charset="-122"/>
                <a:cs typeface="Arial Black" pitchFamily="34" charset="-120"/>
              </a:rPr>
              <a:t>5</a:t>
            </a:r>
            <a:endParaRPr lang="en-US" sz="2000" dirty="0"/>
          </a:p>
        </p:txBody>
      </p:sp>
      <p:sp>
        <p:nvSpPr>
          <p:cNvPr id="27" name="Shape 25"/>
          <p:cNvSpPr/>
          <p:nvPr/>
        </p:nvSpPr>
        <p:spPr>
          <a:xfrm>
            <a:off x="621792" y="5696712"/>
            <a:ext cx="36576" cy="320040"/>
          </a:xfrm>
          <a:prstGeom prst="rect">
            <a:avLst/>
          </a:prstGeom>
          <a:solidFill>
            <a:srgbClr val="DDDDDD"/>
          </a:solidFill>
          <a:ln/>
        </p:spPr>
      </p:sp>
      <p:sp>
        <p:nvSpPr>
          <p:cNvPr id="28" name="Shape 26"/>
          <p:cNvSpPr/>
          <p:nvPr/>
        </p:nvSpPr>
        <p:spPr>
          <a:xfrm>
            <a:off x="1143000" y="5010912"/>
            <a:ext cx="10607040" cy="749808"/>
          </a:xfrm>
          <a:prstGeom prst="rect">
            <a:avLst/>
          </a:prstGeom>
          <a:solidFill>
            <a:srgbClr val="F5F5F5"/>
          </a:solidFill>
          <a:ln w="12700">
            <a:solidFill>
              <a:srgbClr val="FF6B00"/>
            </a:solidFill>
            <a:prstDash val="solid"/>
          </a:ln>
        </p:spPr>
      </p:sp>
      <p:sp>
        <p:nvSpPr>
          <p:cNvPr id="29" name="Text 27"/>
          <p:cNvSpPr/>
          <p:nvPr/>
        </p:nvSpPr>
        <p:spPr>
          <a:xfrm>
            <a:off x="1325880" y="5010912"/>
            <a:ext cx="10241280" cy="749808"/>
          </a:xfrm>
          <a:prstGeom prst="rect">
            <a:avLst/>
          </a:prstGeom>
          <a:noFill/>
          <a:ln/>
        </p:spPr>
        <p:txBody>
          <a:bodyPr wrap="square" rtlCol="0" anchor="ctr"/>
          <a:lstStyle/>
          <a:p>
            <a:pPr indent="0" marL="0">
              <a:buNone/>
            </a:pPr>
            <a:r>
              <a:rPr lang="en-US" sz="1400" dirty="0">
                <a:solidFill>
                  <a:srgbClr val="000000"/>
                </a:solidFill>
                <a:latin typeface="Calibri" pitchFamily="34" charset="0"/>
                <a:ea typeface="Calibri" pitchFamily="34" charset="-122"/>
                <a:cs typeface="Calibri" pitchFamily="34" charset="-120"/>
              </a:rPr>
              <a:t>Min 7–8: Leer el output de Claude: Diagnóstico → Causa → Recomendación → Experimento.</a:t>
            </a:r>
            <a:endParaRPr lang="en-US" sz="1400" dirty="0"/>
          </a:p>
        </p:txBody>
      </p:sp>
      <p:sp>
        <p:nvSpPr>
          <p:cNvPr id="30" name="Shape 28"/>
          <p:cNvSpPr/>
          <p:nvPr/>
        </p:nvSpPr>
        <p:spPr>
          <a:xfrm>
            <a:off x="320040" y="5989320"/>
            <a:ext cx="640080" cy="640080"/>
          </a:xfrm>
          <a:prstGeom prst="ellipse">
            <a:avLst/>
          </a:prstGeom>
          <a:solidFill>
            <a:srgbClr val="000000"/>
          </a:solidFill>
          <a:ln/>
        </p:spPr>
      </p:sp>
      <p:sp>
        <p:nvSpPr>
          <p:cNvPr id="31" name="Text 29"/>
          <p:cNvSpPr/>
          <p:nvPr/>
        </p:nvSpPr>
        <p:spPr>
          <a:xfrm>
            <a:off x="320040" y="5989320"/>
            <a:ext cx="640080" cy="640080"/>
          </a:xfrm>
          <a:prstGeom prst="rect">
            <a:avLst/>
          </a:prstGeom>
          <a:noFill/>
          <a:ln/>
        </p:spPr>
        <p:txBody>
          <a:bodyPr wrap="square" rtlCol="0" anchor="ctr"/>
          <a:lstStyle/>
          <a:p>
            <a:pPr algn="ctr" indent="0" marL="0">
              <a:buNone/>
            </a:pPr>
            <a:r>
              <a:rPr lang="en-US" sz="2000" b="1" dirty="0">
                <a:solidFill>
                  <a:srgbClr val="FFFFFF"/>
                </a:solidFill>
                <a:latin typeface="Arial Black" pitchFamily="34" charset="0"/>
                <a:ea typeface="Arial Black" pitchFamily="34" charset="-122"/>
                <a:cs typeface="Arial Black" pitchFamily="34" charset="-120"/>
              </a:rPr>
              <a:t>6</a:t>
            </a:r>
            <a:endParaRPr lang="en-US" sz="2000" dirty="0"/>
          </a:p>
        </p:txBody>
      </p:sp>
      <p:sp>
        <p:nvSpPr>
          <p:cNvPr id="32" name="Shape 30"/>
          <p:cNvSpPr/>
          <p:nvPr/>
        </p:nvSpPr>
        <p:spPr>
          <a:xfrm>
            <a:off x="1143000" y="5943600"/>
            <a:ext cx="10607040" cy="749808"/>
          </a:xfrm>
          <a:prstGeom prst="rect">
            <a:avLst/>
          </a:prstGeom>
          <a:solidFill>
            <a:srgbClr val="F5F5F5"/>
          </a:solidFill>
          <a:ln w="12700">
            <a:solidFill>
              <a:srgbClr val="000000"/>
            </a:solidFill>
            <a:prstDash val="solid"/>
          </a:ln>
        </p:spPr>
      </p:sp>
      <p:sp>
        <p:nvSpPr>
          <p:cNvPr id="33" name="Text 31"/>
          <p:cNvSpPr/>
          <p:nvPr/>
        </p:nvSpPr>
        <p:spPr>
          <a:xfrm>
            <a:off x="1325880" y="5943600"/>
            <a:ext cx="10241280" cy="749808"/>
          </a:xfrm>
          <a:prstGeom prst="rect">
            <a:avLst/>
          </a:prstGeom>
          <a:noFill/>
          <a:ln/>
        </p:spPr>
        <p:txBody>
          <a:bodyPr wrap="square" rtlCol="0" anchor="ctr"/>
          <a:lstStyle/>
          <a:p>
            <a:pPr indent="0" marL="0">
              <a:buNone/>
            </a:pPr>
            <a:r>
              <a:rPr lang="en-US" sz="1400" dirty="0">
                <a:solidFill>
                  <a:srgbClr val="000000"/>
                </a:solidFill>
                <a:latin typeface="Calibri" pitchFamily="34" charset="0"/>
                <a:ea typeface="Calibri" pitchFamily="34" charset="-122"/>
                <a:cs typeface="Calibri" pitchFamily="34" charset="-120"/>
              </a:rPr>
              <a:t>Min 8–10: Ejecutar la recomendación o delegarla con contexto claro al equipo.</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FF0000"/>
          </a:solidFill>
          <a:ln/>
        </p:spPr>
      </p:sp>
      <p:sp>
        <p:nvSpPr>
          <p:cNvPr id="3" name="Shape 1"/>
          <p:cNvSpPr/>
          <p:nvPr/>
        </p:nvSpPr>
        <p:spPr>
          <a:xfrm>
            <a:off x="548640" y="457200"/>
            <a:ext cx="2743200" cy="457200"/>
          </a:xfrm>
          <a:prstGeom prst="rect">
            <a:avLst/>
          </a:prstGeom>
          <a:solidFill>
            <a:srgbClr val="FF6B00"/>
          </a:solidFill>
          <a:ln/>
        </p:spPr>
      </p:sp>
      <p:sp>
        <p:nvSpPr>
          <p:cNvPr id="4" name="Text 2"/>
          <p:cNvSpPr/>
          <p:nvPr/>
        </p:nvSpPr>
        <p:spPr>
          <a:xfrm>
            <a:off x="548640" y="457200"/>
            <a:ext cx="2743200" cy="4572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ENTREGABLE DE LA CLASE</a:t>
            </a:r>
            <a:endParaRPr lang="en-US" sz="1100" dirty="0"/>
          </a:p>
        </p:txBody>
      </p:sp>
      <p:sp>
        <p:nvSpPr>
          <p:cNvPr id="5" name="Text 3"/>
          <p:cNvSpPr/>
          <p:nvPr/>
        </p:nvSpPr>
        <p:spPr>
          <a:xfrm>
            <a:off x="548640" y="1097280"/>
            <a:ext cx="11064240" cy="2194560"/>
          </a:xfrm>
          <a:prstGeom prst="rect">
            <a:avLst/>
          </a:prstGeom>
          <a:noFill/>
          <a:ln/>
        </p:spPr>
        <p:txBody>
          <a:bodyPr wrap="square" rtlCol="0" anchor="t"/>
          <a:lstStyle/>
          <a:p>
            <a:pPr algn="l" indent="0" marL="0">
              <a:buNone/>
            </a:pPr>
            <a:r>
              <a:rPr lang="en-US" sz="3200" b="1" dirty="0">
                <a:solidFill>
                  <a:srgbClr val="FFFFFF"/>
                </a:solidFill>
                <a:latin typeface="Arial Black" pitchFamily="34" charset="0"/>
                <a:ea typeface="Arial Black" pitchFamily="34" charset="-122"/>
                <a:cs typeface="Arial Black" pitchFamily="34" charset="-120"/>
              </a:rPr>
              <a:t>Template del War Room de Growth</a:t>
            </a:r>
            <a:endParaRPr lang="en-US" sz="3200" dirty="0"/>
          </a:p>
          <a:p>
            <a:pPr algn="l" indent="0" marL="0">
              <a:buNone/>
            </a:pPr>
            <a:r>
              <a:rPr lang="en-US" sz="3200" b="1" dirty="0">
                <a:solidFill>
                  <a:srgbClr val="FFFFFF"/>
                </a:solidFill>
                <a:latin typeface="Arial Black" pitchFamily="34" charset="0"/>
                <a:ea typeface="Arial Black" pitchFamily="34" charset="-122"/>
                <a:cs typeface="Arial Black" pitchFamily="34" charset="-120"/>
              </a:rPr>
              <a:t>— el entregable</a:t>
            </a:r>
            <a:endParaRPr lang="en-US" sz="3200" dirty="0"/>
          </a:p>
        </p:txBody>
      </p:sp>
      <p:sp>
        <p:nvSpPr>
          <p:cNvPr id="6" name="Shape 4"/>
          <p:cNvSpPr/>
          <p:nvPr/>
        </p:nvSpPr>
        <p:spPr>
          <a:xfrm>
            <a:off x="548640" y="3474720"/>
            <a:ext cx="11064240" cy="1645920"/>
          </a:xfrm>
          <a:prstGeom prst="rect">
            <a:avLst/>
          </a:prstGeom>
          <a:solidFill>
            <a:srgbClr val="FF0000"/>
          </a:solidFill>
          <a:ln/>
        </p:spPr>
      </p:sp>
      <p:sp>
        <p:nvSpPr>
          <p:cNvPr id="7" name="Text 5"/>
          <p:cNvSpPr/>
          <p:nvPr/>
        </p:nvSpPr>
        <p:spPr>
          <a:xfrm>
            <a:off x="731520" y="3520440"/>
            <a:ext cx="10698480" cy="1554480"/>
          </a:xfrm>
          <a:prstGeom prst="rect">
            <a:avLst/>
          </a:prstGeom>
          <a:noFill/>
          <a:ln/>
        </p:spPr>
        <p:txBody>
          <a:bodyPr wrap="square" rtlCol="0" anchor="ctr"/>
          <a:lstStyle/>
          <a:p>
            <a:pPr algn="l" indent="0" marL="0">
              <a:buNone/>
            </a:pPr>
            <a:r>
              <a:rPr lang="en-US" sz="1700" dirty="0">
                <a:solidFill>
                  <a:srgbClr val="FFFFFF"/>
                </a:solidFill>
                <a:latin typeface="Calibri" pitchFamily="34" charset="0"/>
                <a:ea typeface="Calibri" pitchFamily="34" charset="-122"/>
                <a:cs typeface="Calibri" pitchFamily="34" charset="-120"/>
              </a:rPr>
              <a:t>Tu entregable tiene dos cosas: la plantilla del War Room lista para duplicar en Google Sheets y el prompt de sistema completo para cargar en tu Project de Claude.</a:t>
            </a:r>
            <a:endParaRPr lang="en-US" sz="1700" dirty="0"/>
          </a:p>
          <a:p>
            <a:pPr algn="l" indent="0" marL="0">
              <a:buNone/>
            </a:pPr>
            <a:endParaRPr lang="en-US" sz="1700" dirty="0"/>
          </a:p>
          <a:p>
            <a:pPr algn="l" indent="0" marL="0">
              <a:buNone/>
            </a:pPr>
            <a:r>
              <a:rPr lang="en-US" sz="1700" dirty="0">
                <a:solidFill>
                  <a:srgbClr val="FFFFFF"/>
                </a:solidFill>
                <a:latin typeface="Calibri" pitchFamily="34" charset="0"/>
                <a:ea typeface="Calibri" pitchFamily="34" charset="-122"/>
                <a:cs typeface="Calibri" pitchFamily="34" charset="-120"/>
              </a:rPr>
              <a:t>Tiempo para configurarlo: 20 minutos. A partir de mañana, los primeros 10 minutos de tu día tienen un output claro: una decisión, soportada por datos, lista para ejecutar.</a:t>
            </a:r>
            <a:endParaRPr lang="en-US" sz="1700" dirty="0"/>
          </a:p>
        </p:txBody>
      </p:sp>
      <p:sp>
        <p:nvSpPr>
          <p:cNvPr id="8" name="Shape 6"/>
          <p:cNvSpPr/>
          <p:nvPr/>
        </p:nvSpPr>
        <p:spPr>
          <a:xfrm>
            <a:off x="548640" y="5257800"/>
            <a:ext cx="11064240" cy="54864"/>
          </a:xfrm>
          <a:prstGeom prst="rect">
            <a:avLst/>
          </a:prstGeom>
          <a:solidFill>
            <a:srgbClr val="EEFF89"/>
          </a:solidFill>
          <a:ln/>
        </p:spPr>
      </p:sp>
      <p:sp>
        <p:nvSpPr>
          <p:cNvPr id="9" name="Text 7"/>
          <p:cNvSpPr/>
          <p:nvPr/>
        </p:nvSpPr>
        <p:spPr>
          <a:xfrm>
            <a:off x="548640" y="5440680"/>
            <a:ext cx="11064240" cy="731520"/>
          </a:xfrm>
          <a:prstGeom prst="rect">
            <a:avLst/>
          </a:prstGeom>
          <a:noFill/>
          <a:ln/>
        </p:spPr>
        <p:txBody>
          <a:bodyPr wrap="square" rtlCol="0" anchor="ctr"/>
          <a:lstStyle/>
          <a:p>
            <a:pPr algn="l" indent="0" marL="0">
              <a:buNone/>
            </a:pPr>
            <a:r>
              <a:rPr lang="en-US" sz="1500" i="1" dirty="0">
                <a:solidFill>
                  <a:srgbClr val="EEFF89"/>
                </a:solidFill>
                <a:latin typeface="Calibri" pitchFamily="34" charset="0"/>
                <a:ea typeface="Calibri" pitchFamily="34" charset="-122"/>
                <a:cs typeface="Calibri" pitchFamily="34" charset="-120"/>
              </a:rPr>
              <a:t>Siguiente clase: Claude Code — construyes tu primera herramienta de Growth sin escribir una línea de código.</a:t>
            </a:r>
            <a:endParaRPr lang="en-US" sz="1500" dirty="0"/>
          </a:p>
        </p:txBody>
      </p:sp>
      <p:sp>
        <p:nvSpPr>
          <p:cNvPr id="10" name="Shape 8"/>
          <p:cNvSpPr/>
          <p:nvPr/>
        </p:nvSpPr>
        <p:spPr>
          <a:xfrm>
            <a:off x="0" y="6748272"/>
            <a:ext cx="12188952" cy="109728"/>
          </a:xfrm>
          <a:prstGeom prst="rect">
            <a:avLst/>
          </a:prstGeom>
          <a:solidFill>
            <a:srgbClr val="FF0000"/>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Clase 06 — War Room de Growth</dc:title>
  <dc:subject>PptxGenJS Presentation</dc:subject>
  <dc:creator>Claude para Growth</dc:creator>
  <cp:lastModifiedBy>Claude para Growth</cp:lastModifiedBy>
  <cp:revision>1</cp:revision>
  <dcterms:created xsi:type="dcterms:W3CDTF">2026-03-25T18:19:35Z</dcterms:created>
  <dcterms:modified xsi:type="dcterms:W3CDTF">2026-03-25T18:19:35Z</dcterms:modified>
</cp:coreProperties>
</file>