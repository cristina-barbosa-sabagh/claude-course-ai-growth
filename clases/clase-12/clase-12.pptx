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última clase del curso. Y no vamos a hacer una recapitulación. Vamos a hacer lo que los tres hacemos cada día: operar nuestros sistemas de Growth con Claude. En los próximos 14 minutos vas a ver tres sistemas reales funcionando. No demos. No slides. No teoría. Métricas de ayer. Decisiones de esta mañana. Outputs que ya están en producción.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última clase del curso. Y no vamos a hacer una recapitulación. Vamos a hacer lo que los tres hacemos cada día: operar nuestros sistemas de Growth con Claude. En los próximos 14 minutos vas a ver tres sistemas reales funcionando. No demos. No slides. No teoría. Métricas de ayer. Decisiones de esta mañana. Outputs que ya están en producción. Y al final, tienes el plan de 7 días para que tu sistema esté operando completamente esta semana. No una lista de pendientes. Un roadmap con días, acciones específicas y criterios de éxito.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sistema que construiste en 12 clases: Fundamentos (1-3), Producción (4-6), Automatización (7-9), Sistema (10-11). Ahora tienes el stack completo: Projects + Skills + Agentes + Automatizaciones. Todos los componentes encajan.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 stack de Growth con IA: Projects + Skills + Agentes + Automatizaciones. Projects: la base de operaciones. Claude entiende tu negocio. Skills: tu librería de prompts probados. Mejoran solos con el uso. Agentes: tu equipo especializado coordinado en el tablero de Notion.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los próximos minutos vas a ver tres sistemas reales funcionando. No demos. No slides. No teoría. Métricas de ayer. Decisiones de esta mañana. Outputs que ya están en producción.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Ese es mi día. No perfecto. No mágico. Pero consistente. Tengo contexto antes del primer café. Tomo decisiones con datos. Ejecuto sin esperar a nadie. Eso vale más que cualquier herramienta que uses una vez y olvides. Hace dos meses, ese número me habría tomado 45 minutos de análisis manual y una reunión de equipo para interpretar. Hoy, el Agente de Análisis lo detectó en la revisión semanal.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 contexto es diferente. Tengo un equipo de tres personas. El reto no es solo generar outputs — es que el equipo use el sistema sin que yo sea el intermediario. El sistema multiplicó la capacidad de un equipo de tres personas sin contratar a nadie más. No porque Claude sea mágico. Porque el contexto está bien cargado, los roles están claros y el proceso está documentado.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 caso es el más pequeño — soy founder, soy el equipo de Growth. Una persona. Múltiples frentes. Cero tiempo para fricción. Lo que voy a mostrar es el flujo mínimo viable: el sistema que funciona cuando no tienes horas para operar algo complejo. Diez minutos cada mañana: contexto del funnel, dos acciones para ejecutar hoy, y un draft del mensaje para clientes en riesgo de churn.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vas a implementar todo el sistema de una vez. Nadie lo hace. Lo que voy a darte es un orden. Un ritmo. Y cómo saber si cada paso funcionó antes de pasar al siguiente. Al final del Día 7, tienes un sistema de Growth con IA funcionando en tu operación real. No perfecto. Pero funcionando. Y un sistema que funciona mejora. Uno que no existe,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diario estimado: 30-60 minutos por día. Resultado al final del Día 7: sistema de Growth con Claude completamente operativo. Día 1: 45 min. Día 2: 45 min. Día 3: 60 min. Día 4: 45 min. Día 5: 60 min. Día 6: 45 min. Día 7: 30 min. Total: aproximadamente 6 horas distribuidas en 7 días.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final de la primera semana completa de operación, deberías ver que empiezas el día con más contexto, tomas decisiones con datos en menos tiempo, produces copies o análisis en minutos, y el equipo usa los skills sin preguntarte cómo. Señales de que algo necesita ajuste: outputs genéricos significa que las instrucciones de sistema necesitan más contexto específico. Los agentes que salen de su área necesitan restricciones reforzadas.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última cosa. Lo más poderoso que vas a descubrir en las próximas semanas no es un prompt. No es un skill. No es un agente. Es que tu sistema de Growth mejora contigo. Cada semana que lo usas, Claude entiende mejor tu negocio. Cada skill que iteras, produce mejor. Cada agente que ajustas, piensa más alineado a tu estrategia. Ese es el compuesto que nadie te puede dar en un curso. Solo te lo da el uso constante. Empezaste esta semana. No pares. Nos vemos en el grupo.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FF0000"/>
          </a:solidFill>
          <a:ln/>
        </p:spPr>
      </p:sp>
      <p:sp>
        <p:nvSpPr>
          <p:cNvPr id="3" name="Shape 1"/>
          <p:cNvSpPr/>
          <p:nvPr/>
        </p:nvSpPr>
        <p:spPr>
          <a:xfrm>
            <a:off x="0" y="6693408"/>
            <a:ext cx="12188952" cy="164592"/>
          </a:xfrm>
          <a:prstGeom prst="rect">
            <a:avLst/>
          </a:prstGeom>
          <a:solidFill>
            <a:srgbClr val="FF6B00"/>
          </a:solidFill>
          <a:ln/>
        </p:spPr>
      </p:sp>
      <p:sp>
        <p:nvSpPr>
          <p:cNvPr id="4" name="Text 2"/>
          <p:cNvSpPr/>
          <p:nvPr/>
        </p:nvSpPr>
        <p:spPr>
          <a:xfrm>
            <a:off x="457200" y="1188720"/>
            <a:ext cx="11274552" cy="1645920"/>
          </a:xfrm>
          <a:prstGeom prst="rect">
            <a:avLst/>
          </a:prstGeom>
          <a:noFill/>
          <a:ln/>
        </p:spPr>
        <p:txBody>
          <a:bodyPr wrap="square" rtlCol="0" anchor="ctr"/>
          <a:lstStyle/>
          <a:p>
            <a:pPr algn="ctr" indent="0" marL="0">
              <a:buNone/>
            </a:pPr>
            <a:r>
              <a:rPr lang="en-US" sz="5200" b="1" dirty="0">
                <a:solidFill>
                  <a:srgbClr val="FFFFFF"/>
                </a:solidFill>
                <a:latin typeface="Arial Black" pitchFamily="34" charset="0"/>
                <a:ea typeface="Arial Black" pitchFamily="34" charset="-122"/>
                <a:cs typeface="Arial Black" pitchFamily="34" charset="-120"/>
              </a:rPr>
              <a:t>Proyecto Final</a:t>
            </a:r>
            <a:endParaRPr lang="en-US" sz="5200" dirty="0"/>
          </a:p>
        </p:txBody>
      </p:sp>
      <p:sp>
        <p:nvSpPr>
          <p:cNvPr id="5" name="Text 3"/>
          <p:cNvSpPr/>
          <p:nvPr/>
        </p:nvSpPr>
        <p:spPr>
          <a:xfrm>
            <a:off x="457200" y="2926080"/>
            <a:ext cx="11274552" cy="914400"/>
          </a:xfrm>
          <a:prstGeom prst="rect">
            <a:avLst/>
          </a:prstGeom>
          <a:noFill/>
          <a:ln/>
        </p:spPr>
        <p:txBody>
          <a:bodyPr wrap="square" rtlCol="0" anchor="ctr"/>
          <a:lstStyle/>
          <a:p>
            <a:pPr algn="ctr" indent="0" marL="0">
              <a:buNone/>
            </a:pPr>
            <a:r>
              <a:rPr lang="en-US" sz="2400" dirty="0">
                <a:solidFill>
                  <a:srgbClr val="FF0000"/>
                </a:solidFill>
                <a:latin typeface="Calibri" pitchFamily="34" charset="0"/>
                <a:ea typeface="Calibri" pitchFamily="34" charset="-122"/>
                <a:cs typeface="Calibri" pitchFamily="34" charset="-120"/>
              </a:rPr>
              <a:t>Tu sistema de Growth operando desde hoy</a:t>
            </a:r>
            <a:endParaRPr lang="en-US" sz="2400" dirty="0"/>
          </a:p>
        </p:txBody>
      </p:sp>
      <p:sp>
        <p:nvSpPr>
          <p:cNvPr id="6" name="Shape 4"/>
          <p:cNvSpPr/>
          <p:nvPr/>
        </p:nvSpPr>
        <p:spPr>
          <a:xfrm>
            <a:off x="1371600" y="4023360"/>
            <a:ext cx="2834640" cy="594360"/>
          </a:xfrm>
          <a:prstGeom prst="rect">
            <a:avLst/>
          </a:prstGeom>
          <a:solidFill>
            <a:srgbClr val="FF0000"/>
          </a:solidFill>
          <a:ln/>
        </p:spPr>
      </p:sp>
      <p:sp>
        <p:nvSpPr>
          <p:cNvPr id="7" name="Shape 5"/>
          <p:cNvSpPr/>
          <p:nvPr/>
        </p:nvSpPr>
        <p:spPr>
          <a:xfrm>
            <a:off x="4681728" y="4023360"/>
            <a:ext cx="2834640" cy="594360"/>
          </a:xfrm>
          <a:prstGeom prst="rect">
            <a:avLst/>
          </a:prstGeom>
          <a:solidFill>
            <a:srgbClr val="FF6B00"/>
          </a:solidFill>
          <a:ln/>
        </p:spPr>
      </p:sp>
      <p:sp>
        <p:nvSpPr>
          <p:cNvPr id="8" name="Shape 6"/>
          <p:cNvSpPr/>
          <p:nvPr/>
        </p:nvSpPr>
        <p:spPr>
          <a:xfrm>
            <a:off x="7982712" y="4023360"/>
            <a:ext cx="2834640" cy="594360"/>
          </a:xfrm>
          <a:prstGeom prst="rect">
            <a:avLst/>
          </a:prstGeom>
          <a:solidFill>
            <a:srgbClr val="FF0000"/>
          </a:solidFill>
          <a:ln/>
        </p:spPr>
      </p:sp>
      <p:sp>
        <p:nvSpPr>
          <p:cNvPr id="9" name="Text 7"/>
          <p:cNvSpPr/>
          <p:nvPr/>
        </p:nvSpPr>
        <p:spPr>
          <a:xfrm>
            <a:off x="1371600" y="4023360"/>
            <a:ext cx="2834640" cy="594360"/>
          </a:xfrm>
          <a:prstGeom prst="rect">
            <a:avLst/>
          </a:prstGeom>
          <a:noFill/>
          <a:ln/>
        </p:spPr>
        <p:txBody>
          <a:bodyPr wrap="square"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Instructor A</a:t>
            </a:r>
            <a:endParaRPr lang="en-US" sz="1400" dirty="0"/>
          </a:p>
        </p:txBody>
      </p:sp>
      <p:sp>
        <p:nvSpPr>
          <p:cNvPr id="10" name="Text 8"/>
          <p:cNvSpPr/>
          <p:nvPr/>
        </p:nvSpPr>
        <p:spPr>
          <a:xfrm>
            <a:off x="4681728" y="4023360"/>
            <a:ext cx="2834640" cy="594360"/>
          </a:xfrm>
          <a:prstGeom prst="rect">
            <a:avLst/>
          </a:prstGeom>
          <a:noFill/>
          <a:ln/>
        </p:spPr>
        <p:txBody>
          <a:bodyPr wrap="square"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Instructor B</a:t>
            </a:r>
            <a:endParaRPr lang="en-US" sz="1400" dirty="0"/>
          </a:p>
        </p:txBody>
      </p:sp>
      <p:sp>
        <p:nvSpPr>
          <p:cNvPr id="11" name="Text 9"/>
          <p:cNvSpPr/>
          <p:nvPr/>
        </p:nvSpPr>
        <p:spPr>
          <a:xfrm>
            <a:off x="7982712" y="4023360"/>
            <a:ext cx="2834640" cy="594360"/>
          </a:xfrm>
          <a:prstGeom prst="rect">
            <a:avLst/>
          </a:prstGeom>
          <a:noFill/>
          <a:ln/>
        </p:spPr>
        <p:txBody>
          <a:bodyPr wrap="square"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Instructor C</a:t>
            </a:r>
            <a:endParaRPr lang="en-US" sz="1400" dirty="0"/>
          </a:p>
        </p:txBody>
      </p:sp>
      <p:sp>
        <p:nvSpPr>
          <p:cNvPr id="12" name="Text 10"/>
          <p:cNvSpPr/>
          <p:nvPr/>
        </p:nvSpPr>
        <p:spPr>
          <a:xfrm>
            <a:off x="457200" y="4846320"/>
            <a:ext cx="11274552" cy="640080"/>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Módulo 04 · Clase 12 · Clase Final · 14 minutos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FF6B00"/>
          </a:solidFill>
          <a:ln/>
        </p:spPr>
      </p:sp>
      <p:sp>
        <p:nvSpPr>
          <p:cNvPr id="3" name="Shape 1"/>
          <p:cNvSpPr/>
          <p:nvPr/>
        </p:nvSpPr>
        <p:spPr>
          <a:xfrm>
            <a:off x="731520" y="1280160"/>
            <a:ext cx="10725912" cy="4114800"/>
          </a:xfrm>
          <a:prstGeom prst="rect">
            <a:avLst/>
          </a:prstGeom>
          <a:solidFill>
            <a:srgbClr val="EEFF89"/>
          </a:solidFill>
          <a:ln/>
        </p:spPr>
      </p:sp>
      <p:sp>
        <p:nvSpPr>
          <p:cNvPr id="4" name="Text 2"/>
          <p:cNvSpPr/>
          <p:nvPr/>
        </p:nvSpPr>
        <p:spPr>
          <a:xfrm>
            <a:off x="1005840" y="1463040"/>
            <a:ext cx="10177272" cy="3657600"/>
          </a:xfrm>
          <a:prstGeom prst="rect">
            <a:avLst/>
          </a:prstGeom>
          <a:noFill/>
          <a:ln/>
        </p:spPr>
        <p:txBody>
          <a:bodyPr wrap="square" rtlCol="0" anchor="ctr"/>
          <a:lstStyle/>
          <a:p>
            <a:pPr algn="ctr" indent="0" marL="0">
              <a:buNone/>
            </a:pPr>
            <a:r>
              <a:rPr lang="en-US" sz="2200" b="1" dirty="0">
                <a:solidFill>
                  <a:srgbClr val="000000"/>
                </a:solidFill>
                <a:latin typeface="Calibri" pitchFamily="34" charset="0"/>
                <a:ea typeface="Calibri" pitchFamily="34" charset="-122"/>
                <a:cs typeface="Calibri" pitchFamily="34" charset="-120"/>
              </a:rPr>
              <a:t>“Esta es la última clase del curso.</a:t>
            </a:r>
            <a:endParaRPr lang="en-US" sz="2200" dirty="0"/>
          </a:p>
          <a:p>
            <a:pPr algn="ctr" indent="0" marL="0">
              <a:buNone/>
            </a:pPr>
            <a:r>
              <a:rPr lang="en-US" sz="2200" b="1" dirty="0">
                <a:solidFill>
                  <a:srgbClr val="000000"/>
                </a:solidFill>
                <a:latin typeface="Calibri" pitchFamily="34" charset="0"/>
                <a:ea typeface="Calibri" pitchFamily="34" charset="-122"/>
                <a:cs typeface="Calibri" pitchFamily="34" charset="-120"/>
              </a:rPr>
              <a:t>Y no vamos a hacer una recapitulación.</a:t>
            </a:r>
            <a:endParaRPr lang="en-US" sz="2200" dirty="0"/>
          </a:p>
          <a:p>
            <a:pPr algn="ctr" indent="0" marL="0">
              <a:buNone/>
            </a:pPr>
            <a:endParaRPr lang="en-US" sz="2200" dirty="0"/>
          </a:p>
          <a:p>
            <a:pPr algn="ctr" indent="0" marL="0">
              <a:buNone/>
            </a:pPr>
            <a:r>
              <a:rPr lang="en-US" sz="2200" b="1" dirty="0">
                <a:solidFill>
                  <a:srgbClr val="000000"/>
                </a:solidFill>
                <a:latin typeface="Calibri" pitchFamily="34" charset="0"/>
                <a:ea typeface="Calibri" pitchFamily="34" charset="-122"/>
                <a:cs typeface="Calibri" pitchFamily="34" charset="-120"/>
              </a:rPr>
              <a:t>Vamos a hacer lo que los tres hacemos cada día:</a:t>
            </a:r>
            <a:endParaRPr lang="en-US" sz="2200" dirty="0"/>
          </a:p>
          <a:p>
            <a:pPr algn="ctr" indent="0" marL="0">
              <a:buNone/>
            </a:pPr>
            <a:r>
              <a:rPr lang="en-US" sz="2200" b="1" dirty="0">
                <a:solidFill>
                  <a:srgbClr val="000000"/>
                </a:solidFill>
                <a:latin typeface="Calibri" pitchFamily="34" charset="0"/>
                <a:ea typeface="Calibri" pitchFamily="34" charset="-122"/>
                <a:cs typeface="Calibri" pitchFamily="34" charset="-120"/>
              </a:rPr>
              <a:t>operar nuestros sistemas de Growth con Claude.</a:t>
            </a:r>
            <a:endParaRPr lang="en-US" sz="2200" dirty="0"/>
          </a:p>
          <a:p>
            <a:pPr algn="ctr" indent="0" marL="0">
              <a:buNone/>
            </a:pPr>
            <a:endParaRPr lang="en-US" sz="2200" dirty="0"/>
          </a:p>
          <a:p>
            <a:pPr algn="ctr" indent="0" marL="0">
              <a:buNone/>
            </a:pPr>
            <a:r>
              <a:rPr lang="en-US" sz="2200" b="1" dirty="0">
                <a:solidFill>
                  <a:srgbClr val="000000"/>
                </a:solidFill>
                <a:latin typeface="Calibri" pitchFamily="34" charset="0"/>
                <a:ea typeface="Calibri" pitchFamily="34" charset="-122"/>
                <a:cs typeface="Calibri" pitchFamily="34" charset="-120"/>
              </a:rPr>
              <a:t>Métricas de ayer. Decisiones de esta mañana.</a:t>
            </a:r>
            <a:endParaRPr lang="en-US" sz="2200" dirty="0"/>
          </a:p>
          <a:p>
            <a:pPr algn="ctr" indent="0" marL="0">
              <a:buNone/>
            </a:pPr>
            <a:r>
              <a:rPr lang="en-US" sz="2200" b="1" dirty="0">
                <a:solidFill>
                  <a:srgbClr val="000000"/>
                </a:solidFill>
                <a:latin typeface="Calibri" pitchFamily="34" charset="0"/>
                <a:ea typeface="Calibri" pitchFamily="34" charset="-122"/>
                <a:cs typeface="Calibri" pitchFamily="34" charset="-120"/>
              </a:rPr>
              <a:t>Outputs que ya están en producción.”</a:t>
            </a:r>
            <a:endParaRPr lang="en-US" sz="2200" dirty="0"/>
          </a:p>
        </p:txBody>
      </p:sp>
      <p:sp>
        <p:nvSpPr>
          <p:cNvPr id="5" name="Text 3"/>
          <p:cNvSpPr/>
          <p:nvPr/>
        </p:nvSpPr>
        <p:spPr>
          <a:xfrm>
            <a:off x="731520" y="5577840"/>
            <a:ext cx="10725912" cy="640080"/>
          </a:xfrm>
          <a:prstGeom prst="rect">
            <a:avLst/>
          </a:prstGeom>
          <a:noFill/>
          <a:ln/>
        </p:spPr>
        <p:txBody>
          <a:bodyPr wrap="square" rtlCol="0" anchor="ctr"/>
          <a:lstStyle/>
          <a:p>
            <a:pPr algn="r" indent="0" marL="0">
              <a:buNone/>
            </a:pPr>
            <a:r>
              <a:rPr lang="en-US" sz="1400" i="1" dirty="0">
                <a:solidFill>
                  <a:srgbClr val="FF6B00"/>
                </a:solidFill>
                <a:latin typeface="Calibri" pitchFamily="34" charset="0"/>
                <a:ea typeface="Calibri" pitchFamily="34" charset="-122"/>
                <a:cs typeface="Calibri" pitchFamily="34" charset="-120"/>
              </a:rPr>
              <a:t>— Los tres instructores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00000"/>
          </a:solidFill>
          <a:ln/>
        </p:spPr>
      </p:sp>
      <p:sp>
        <p:nvSpPr>
          <p:cNvPr id="3" name="Text 1"/>
          <p:cNvSpPr/>
          <p:nvPr/>
        </p:nvSpPr>
        <p:spPr>
          <a:xfrm>
            <a:off x="365760" y="45720"/>
            <a:ext cx="11430000" cy="914400"/>
          </a:xfrm>
          <a:prstGeom prst="rect">
            <a:avLst/>
          </a:prstGeom>
          <a:noFill/>
          <a:ln/>
        </p:spPr>
        <p:txBody>
          <a:bodyPr wrap="square" rtlCol="0" anchor="ctr"/>
          <a:lstStyle/>
          <a:p>
            <a:pPr algn="ctr" indent="0" marL="0">
              <a:buNone/>
            </a:pPr>
            <a:r>
              <a:rPr lang="en-US" sz="3200" b="1" dirty="0">
                <a:solidFill>
                  <a:srgbClr val="FFFFFF"/>
                </a:solidFill>
                <a:latin typeface="Arial Black" pitchFamily="34" charset="0"/>
                <a:ea typeface="Arial Black" pitchFamily="34" charset="-122"/>
                <a:cs typeface="Arial Black" pitchFamily="34" charset="-120"/>
              </a:rPr>
              <a:t>El Sistema que Construiste en 12 Clases</a:t>
            </a:r>
            <a:endParaRPr lang="en-US" sz="3200" dirty="0"/>
          </a:p>
        </p:txBody>
      </p:sp>
      <p:sp>
        <p:nvSpPr>
          <p:cNvPr id="4" name="Shape 2"/>
          <p:cNvSpPr/>
          <p:nvPr/>
        </p:nvSpPr>
        <p:spPr>
          <a:xfrm>
            <a:off x="274320" y="1143000"/>
            <a:ext cx="5669280" cy="502920"/>
          </a:xfrm>
          <a:prstGeom prst="rect">
            <a:avLst/>
          </a:prstGeom>
          <a:solidFill>
            <a:srgbClr val="FF0000"/>
          </a:solidFill>
          <a:ln/>
        </p:spPr>
      </p:sp>
      <p:sp>
        <p:nvSpPr>
          <p:cNvPr id="5" name="Text 3"/>
          <p:cNvSpPr/>
          <p:nvPr/>
        </p:nvSpPr>
        <p:spPr>
          <a:xfrm>
            <a:off x="365760" y="1188720"/>
            <a:ext cx="5486400" cy="41148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Módulo 01 — FUNDAMENTOS (Clases 1-3)</a:t>
            </a:r>
            <a:endParaRPr lang="en-US" sz="1600" dirty="0"/>
          </a:p>
        </p:txBody>
      </p:sp>
      <p:sp>
        <p:nvSpPr>
          <p:cNvPr id="6" name="Shape 4"/>
          <p:cNvSpPr/>
          <p:nvPr/>
        </p:nvSpPr>
        <p:spPr>
          <a:xfrm>
            <a:off x="274320" y="1645920"/>
            <a:ext cx="5669280" cy="2057400"/>
          </a:xfrm>
          <a:prstGeom prst="rect">
            <a:avLst/>
          </a:prstGeom>
          <a:solidFill>
            <a:srgbClr val="F5F5F5"/>
          </a:solidFill>
          <a:ln/>
        </p:spPr>
      </p:sp>
      <p:sp>
        <p:nvSpPr>
          <p:cNvPr id="7" name="Text 5"/>
          <p:cNvSpPr/>
          <p:nvPr/>
        </p:nvSpPr>
        <p:spPr>
          <a:xfrm>
            <a:off x="411480" y="1737360"/>
            <a:ext cx="5394960" cy="1874520"/>
          </a:xfrm>
          <a:prstGeom prst="rect">
            <a:avLst/>
          </a:prstGeom>
          <a:noFill/>
          <a:ln/>
        </p:spPr>
        <p:txBody>
          <a:bodyPr wrap="square" rtlCol="0" anchor="t"/>
          <a:lstStyle/>
          <a:p>
            <a:pPr indent="0" marL="0">
              <a:buNone/>
            </a:pPr>
            <a:r>
              <a:rPr lang="en-US" sz="1300" dirty="0">
                <a:solidFill>
                  <a:srgbClr val="000000"/>
                </a:solidFill>
                <a:latin typeface="Calibri" pitchFamily="34" charset="0"/>
                <a:ea typeface="Calibri" pitchFamily="34" charset="-122"/>
                <a:cs typeface="Calibri" pitchFamily="34" charset="-120"/>
              </a:rPr>
              <a:t>Claude como herramienta de producción.</a:t>
            </a: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Projects, instrucciones de sistema, contexto cargado.</a:t>
            </a:r>
            <a:endParaRPr lang="en-US" sz="1300" dirty="0"/>
          </a:p>
          <a:p>
            <a:pPr indent="0" marL="0">
              <a:buNone/>
            </a:pP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Base: Claude entiende tu negocio.</a:t>
            </a:r>
            <a:endParaRPr lang="en-US" sz="1300" dirty="0"/>
          </a:p>
        </p:txBody>
      </p:sp>
      <p:sp>
        <p:nvSpPr>
          <p:cNvPr id="8" name="Shape 6"/>
          <p:cNvSpPr/>
          <p:nvPr/>
        </p:nvSpPr>
        <p:spPr>
          <a:xfrm>
            <a:off x="6236208" y="1143000"/>
            <a:ext cx="5669280" cy="502920"/>
          </a:xfrm>
          <a:prstGeom prst="rect">
            <a:avLst/>
          </a:prstGeom>
          <a:solidFill>
            <a:srgbClr val="FF6B00"/>
          </a:solidFill>
          <a:ln/>
        </p:spPr>
      </p:sp>
      <p:sp>
        <p:nvSpPr>
          <p:cNvPr id="9" name="Text 7"/>
          <p:cNvSpPr/>
          <p:nvPr/>
        </p:nvSpPr>
        <p:spPr>
          <a:xfrm>
            <a:off x="6327648" y="1188720"/>
            <a:ext cx="5486400" cy="41148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Módulo 02 — PRODUCCIÓN (Clases 4-6)</a:t>
            </a:r>
            <a:endParaRPr lang="en-US" sz="1600" dirty="0"/>
          </a:p>
        </p:txBody>
      </p:sp>
      <p:sp>
        <p:nvSpPr>
          <p:cNvPr id="10" name="Shape 8"/>
          <p:cNvSpPr/>
          <p:nvPr/>
        </p:nvSpPr>
        <p:spPr>
          <a:xfrm>
            <a:off x="6236208" y="1645920"/>
            <a:ext cx="5669280" cy="2057400"/>
          </a:xfrm>
          <a:prstGeom prst="rect">
            <a:avLst/>
          </a:prstGeom>
          <a:solidFill>
            <a:srgbClr val="F5F5F5"/>
          </a:solidFill>
          <a:ln/>
        </p:spPr>
      </p:sp>
      <p:sp>
        <p:nvSpPr>
          <p:cNvPr id="11" name="Text 9"/>
          <p:cNvSpPr/>
          <p:nvPr/>
        </p:nvSpPr>
        <p:spPr>
          <a:xfrm>
            <a:off x="6373368" y="1737360"/>
            <a:ext cx="5394960" cy="1874520"/>
          </a:xfrm>
          <a:prstGeom prst="rect">
            <a:avLst/>
          </a:prstGeom>
          <a:noFill/>
          <a:ln/>
        </p:spPr>
        <p:txBody>
          <a:bodyPr wrap="square" rtlCol="0" anchor="t"/>
          <a:lstStyle/>
          <a:p>
            <a:pPr indent="0" marL="0">
              <a:buNone/>
            </a:pPr>
            <a:r>
              <a:rPr lang="en-US" sz="1300" dirty="0">
                <a:solidFill>
                  <a:srgbClr val="000000"/>
                </a:solidFill>
                <a:latin typeface="Calibri" pitchFamily="34" charset="0"/>
                <a:ea typeface="Calibri" pitchFamily="34" charset="-122"/>
                <a:cs typeface="Calibri" pitchFamily="34" charset="-120"/>
              </a:rPr>
              <a:t>Outputs de alta calidad para Growth.</a:t>
            </a: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Copies, análisis, experimentación.</a:t>
            </a:r>
            <a:endParaRPr lang="en-US" sz="1300" dirty="0"/>
          </a:p>
          <a:p>
            <a:pPr indent="0" marL="0">
              <a:buNone/>
            </a:pP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Resultado: producción consistente sin reconstruir desde cero.</a:t>
            </a:r>
            <a:endParaRPr lang="en-US" sz="1300" dirty="0"/>
          </a:p>
        </p:txBody>
      </p:sp>
      <p:sp>
        <p:nvSpPr>
          <p:cNvPr id="12" name="Shape 10"/>
          <p:cNvSpPr/>
          <p:nvPr/>
        </p:nvSpPr>
        <p:spPr>
          <a:xfrm>
            <a:off x="274320" y="3931920"/>
            <a:ext cx="5669280" cy="502920"/>
          </a:xfrm>
          <a:prstGeom prst="rect">
            <a:avLst/>
          </a:prstGeom>
          <a:solidFill>
            <a:srgbClr val="FF0000"/>
          </a:solidFill>
          <a:ln/>
        </p:spPr>
      </p:sp>
      <p:sp>
        <p:nvSpPr>
          <p:cNvPr id="13" name="Text 11"/>
          <p:cNvSpPr/>
          <p:nvPr/>
        </p:nvSpPr>
        <p:spPr>
          <a:xfrm>
            <a:off x="365760" y="3977640"/>
            <a:ext cx="5486400" cy="41148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Módulo 03 — AUTOMATIZACIÓN (Clases 7-9)</a:t>
            </a:r>
            <a:endParaRPr lang="en-US" sz="1600" dirty="0"/>
          </a:p>
        </p:txBody>
      </p:sp>
      <p:sp>
        <p:nvSpPr>
          <p:cNvPr id="14" name="Shape 12"/>
          <p:cNvSpPr/>
          <p:nvPr/>
        </p:nvSpPr>
        <p:spPr>
          <a:xfrm>
            <a:off x="274320" y="4434840"/>
            <a:ext cx="5669280" cy="2057400"/>
          </a:xfrm>
          <a:prstGeom prst="rect">
            <a:avLst/>
          </a:prstGeom>
          <a:solidFill>
            <a:srgbClr val="F5F5F5"/>
          </a:solidFill>
          <a:ln/>
        </p:spPr>
      </p:sp>
      <p:sp>
        <p:nvSpPr>
          <p:cNvPr id="15" name="Text 13"/>
          <p:cNvSpPr/>
          <p:nvPr/>
        </p:nvSpPr>
        <p:spPr>
          <a:xfrm>
            <a:off x="411480" y="4526280"/>
            <a:ext cx="5394960" cy="1874520"/>
          </a:xfrm>
          <a:prstGeom prst="rect">
            <a:avLst/>
          </a:prstGeom>
          <a:noFill/>
          <a:ln/>
        </p:spPr>
        <p:txBody>
          <a:bodyPr wrap="square" rtlCol="0" anchor="t"/>
          <a:lstStyle/>
          <a:p>
            <a:pPr indent="0" marL="0">
              <a:buNone/>
            </a:pPr>
            <a:r>
              <a:rPr lang="en-US" sz="1300" dirty="0">
                <a:solidFill>
                  <a:srgbClr val="000000"/>
                </a:solidFill>
                <a:latin typeface="Calibri" pitchFamily="34" charset="0"/>
                <a:ea typeface="Calibri" pitchFamily="34" charset="-122"/>
                <a:cs typeface="Calibri" pitchFamily="34" charset="-120"/>
              </a:rPr>
              <a:t>Flujos que trabajan solos.</a:t>
            </a: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Integraciones, triggers, workflows.</a:t>
            </a:r>
            <a:endParaRPr lang="en-US" sz="1300" dirty="0"/>
          </a:p>
          <a:p>
            <a:pPr indent="0" marL="0">
              <a:buNone/>
            </a:pP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Resultado: procesos que ocurren sin tu intervención manual.</a:t>
            </a:r>
            <a:endParaRPr lang="en-US" sz="1300" dirty="0"/>
          </a:p>
        </p:txBody>
      </p:sp>
      <p:sp>
        <p:nvSpPr>
          <p:cNvPr id="16" name="Shape 14"/>
          <p:cNvSpPr/>
          <p:nvPr/>
        </p:nvSpPr>
        <p:spPr>
          <a:xfrm>
            <a:off x="6236208" y="3931920"/>
            <a:ext cx="5669280" cy="502920"/>
          </a:xfrm>
          <a:prstGeom prst="rect">
            <a:avLst/>
          </a:prstGeom>
          <a:solidFill>
            <a:srgbClr val="FF6B00"/>
          </a:solidFill>
          <a:ln/>
        </p:spPr>
      </p:sp>
      <p:sp>
        <p:nvSpPr>
          <p:cNvPr id="17" name="Text 15"/>
          <p:cNvSpPr/>
          <p:nvPr/>
        </p:nvSpPr>
        <p:spPr>
          <a:xfrm>
            <a:off x="6327648" y="3977640"/>
            <a:ext cx="5486400" cy="41148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Módulo 04 — SISTEMA (Clases 10-11)</a:t>
            </a:r>
            <a:endParaRPr lang="en-US" sz="1600" dirty="0"/>
          </a:p>
        </p:txBody>
      </p:sp>
      <p:sp>
        <p:nvSpPr>
          <p:cNvPr id="18" name="Shape 16"/>
          <p:cNvSpPr/>
          <p:nvPr/>
        </p:nvSpPr>
        <p:spPr>
          <a:xfrm>
            <a:off x="6236208" y="4434840"/>
            <a:ext cx="5669280" cy="2057400"/>
          </a:xfrm>
          <a:prstGeom prst="rect">
            <a:avLst/>
          </a:prstGeom>
          <a:solidFill>
            <a:srgbClr val="F5F5F5"/>
          </a:solidFill>
          <a:ln/>
        </p:spPr>
      </p:sp>
      <p:sp>
        <p:nvSpPr>
          <p:cNvPr id="19" name="Text 17"/>
          <p:cNvSpPr/>
          <p:nvPr/>
        </p:nvSpPr>
        <p:spPr>
          <a:xfrm>
            <a:off x="6373368" y="4526280"/>
            <a:ext cx="5394960" cy="1874520"/>
          </a:xfrm>
          <a:prstGeom prst="rect">
            <a:avLst/>
          </a:prstGeom>
          <a:noFill/>
          <a:ln/>
        </p:spPr>
        <p:txBody>
          <a:bodyPr wrap="square" rtlCol="0" anchor="t"/>
          <a:lstStyle/>
          <a:p>
            <a:pPr indent="0" marL="0">
              <a:buNone/>
            </a:pPr>
            <a:r>
              <a:rPr lang="en-US" sz="1300" dirty="0">
                <a:solidFill>
                  <a:srgbClr val="000000"/>
                </a:solidFill>
                <a:latin typeface="Calibri" pitchFamily="34" charset="0"/>
                <a:ea typeface="Calibri" pitchFamily="34" charset="-122"/>
                <a:cs typeface="Calibri" pitchFamily="34" charset="-120"/>
              </a:rPr>
              <a:t>Skills + Agentes especializados.</a:t>
            </a: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Biblioteca de 15 skills, 4 agentes, tablero de coordinación.</a:t>
            </a:r>
            <a:endParaRPr lang="en-US" sz="1300" dirty="0"/>
          </a:p>
          <a:p>
            <a:pPr indent="0" marL="0">
              <a:buNone/>
            </a:pP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Resultado: equipo de Growth operando en paralelo.</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000000"/>
          </a:solidFill>
          <a:ln/>
        </p:spPr>
      </p:sp>
      <p:sp>
        <p:nvSpPr>
          <p:cNvPr id="3" name="Text 1"/>
          <p:cNvSpPr/>
          <p:nvPr/>
        </p:nvSpPr>
        <p:spPr>
          <a:xfrm>
            <a:off x="365760" y="91440"/>
            <a:ext cx="11430000" cy="914400"/>
          </a:xfrm>
          <a:prstGeom prst="rect">
            <a:avLst/>
          </a:prstGeom>
          <a:noFill/>
          <a:ln/>
        </p:spPr>
        <p:txBody>
          <a:bodyPr wrap="square" rtlCol="0" anchor="ctr"/>
          <a:lstStyle/>
          <a:p>
            <a:pPr algn="ctr" indent="0" marL="0">
              <a:buNone/>
            </a:pPr>
            <a:r>
              <a:rPr lang="en-US" sz="3200" b="1" dirty="0">
                <a:solidFill>
                  <a:srgbClr val="FFFFFF"/>
                </a:solidFill>
                <a:latin typeface="Arial Black" pitchFamily="34" charset="0"/>
                <a:ea typeface="Arial Black" pitchFamily="34" charset="-122"/>
                <a:cs typeface="Arial Black" pitchFamily="34" charset="-120"/>
              </a:rPr>
              <a:t>Tu Stack de Growth con IA — Cómo Encajan</a:t>
            </a:r>
            <a:endParaRPr lang="en-US" sz="3200" dirty="0"/>
          </a:p>
        </p:txBody>
      </p:sp>
      <p:sp>
        <p:nvSpPr>
          <p:cNvPr id="4" name="Shape 2"/>
          <p:cNvSpPr/>
          <p:nvPr/>
        </p:nvSpPr>
        <p:spPr>
          <a:xfrm>
            <a:off x="274320" y="1280160"/>
            <a:ext cx="3566160" cy="640080"/>
          </a:xfrm>
          <a:prstGeom prst="rect">
            <a:avLst/>
          </a:prstGeom>
          <a:solidFill>
            <a:srgbClr val="FF0000"/>
          </a:solidFill>
          <a:ln/>
        </p:spPr>
      </p:sp>
      <p:sp>
        <p:nvSpPr>
          <p:cNvPr id="5" name="Text 3"/>
          <p:cNvSpPr/>
          <p:nvPr/>
        </p:nvSpPr>
        <p:spPr>
          <a:xfrm>
            <a:off x="365760" y="1325880"/>
            <a:ext cx="3383280" cy="54864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PROJECTS + CONTEXTO</a:t>
            </a:r>
            <a:endParaRPr lang="en-US" sz="1600" dirty="0"/>
          </a:p>
        </p:txBody>
      </p:sp>
      <p:sp>
        <p:nvSpPr>
          <p:cNvPr id="6" name="Shape 4"/>
          <p:cNvSpPr/>
          <p:nvPr/>
        </p:nvSpPr>
        <p:spPr>
          <a:xfrm>
            <a:off x="274320" y="1920240"/>
            <a:ext cx="3566160" cy="4572000"/>
          </a:xfrm>
          <a:prstGeom prst="rect">
            <a:avLst/>
          </a:prstGeom>
          <a:solidFill>
            <a:srgbClr val="F8F8F8"/>
          </a:solidFill>
          <a:ln/>
        </p:spPr>
      </p:sp>
      <p:sp>
        <p:nvSpPr>
          <p:cNvPr id="7" name="Text 5"/>
          <p:cNvSpPr/>
          <p:nvPr/>
        </p:nvSpPr>
        <p:spPr>
          <a:xfrm>
            <a:off x="411480" y="2011680"/>
            <a:ext cx="3291840" cy="4389120"/>
          </a:xfrm>
          <a:prstGeom prst="rect">
            <a:avLst/>
          </a:prstGeom>
          <a:noFill/>
          <a:ln/>
        </p:spPr>
        <p:txBody>
          <a:bodyPr wrap="square" rtlCol="0" anchor="t"/>
          <a:lstStyle/>
          <a:p>
            <a:pPr indent="0" marL="0">
              <a:buNone/>
            </a:pPr>
            <a:r>
              <a:rPr lang="en-US" sz="1300" dirty="0">
                <a:solidFill>
                  <a:srgbClr val="000000"/>
                </a:solidFill>
                <a:latin typeface="Calibri" pitchFamily="34" charset="0"/>
                <a:ea typeface="Calibri" pitchFamily="34" charset="-122"/>
                <a:cs typeface="Calibri" pitchFamily="34" charset="-120"/>
              </a:rPr>
              <a:t>La base de operaciones.</a:t>
            </a:r>
            <a:endParaRPr lang="en-US" sz="1300" dirty="0"/>
          </a:p>
          <a:p>
            <a:pPr indent="0" marL="0">
              <a:buNone/>
            </a:pPr>
            <a:endParaRPr lang="en-US" sz="1300" dirty="0"/>
          </a:p>
          <a:p>
            <a:pPr indent="0" marL="0">
              <a:buNone/>
            </a:pPr>
            <a:endParaRPr lang="en-US" sz="1300" dirty="0"/>
          </a:p>
          <a:p>
            <a:pPr indent="0" marL="0">
              <a:buNone/>
            </a:pP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Claude entiende tu negocio, tu ICP, tus métricas.</a:t>
            </a:r>
            <a:endParaRPr lang="en-US" sz="1300" dirty="0"/>
          </a:p>
          <a:p>
            <a:pPr indent="0" marL="0">
              <a:buNone/>
            </a:pPr>
            <a:endParaRPr lang="en-US" sz="1300" dirty="0"/>
          </a:p>
          <a:p>
            <a:pPr indent="0" marL="0">
              <a:buNone/>
            </a:pPr>
            <a:endParaRPr lang="en-US" sz="1300" dirty="0"/>
          </a:p>
          <a:p>
            <a:pPr indent="0" marL="0">
              <a:buNone/>
            </a:pP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Cada Project = un agente especializado con memoria de contexto.</a:t>
            </a:r>
            <a:endParaRPr lang="en-US" sz="1300" dirty="0"/>
          </a:p>
          <a:p>
            <a:pPr indent="0" marL="0">
              <a:buNone/>
            </a:pPr>
            <a:endParaRPr lang="en-US" sz="1300" dirty="0"/>
          </a:p>
          <a:p>
            <a:pPr indent="0" marL="0">
              <a:buNone/>
            </a:pPr>
            <a:endParaRPr lang="en-US" sz="1300" dirty="0"/>
          </a:p>
          <a:p>
            <a:pPr indent="0" marL="0">
              <a:buNone/>
            </a:pP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Setup: 1 vez. Uso: todos los días.</a:t>
            </a:r>
            <a:endParaRPr lang="en-US" sz="1300" dirty="0"/>
          </a:p>
        </p:txBody>
      </p:sp>
      <p:sp>
        <p:nvSpPr>
          <p:cNvPr id="8" name="Shape 6"/>
          <p:cNvSpPr/>
          <p:nvPr/>
        </p:nvSpPr>
        <p:spPr>
          <a:xfrm>
            <a:off x="4297680" y="1280160"/>
            <a:ext cx="3566160" cy="640080"/>
          </a:xfrm>
          <a:prstGeom prst="rect">
            <a:avLst/>
          </a:prstGeom>
          <a:solidFill>
            <a:srgbClr val="FF6B00"/>
          </a:solidFill>
          <a:ln/>
        </p:spPr>
      </p:sp>
      <p:sp>
        <p:nvSpPr>
          <p:cNvPr id="9" name="Text 7"/>
          <p:cNvSpPr/>
          <p:nvPr/>
        </p:nvSpPr>
        <p:spPr>
          <a:xfrm>
            <a:off x="4389120" y="1325880"/>
            <a:ext cx="3383280" cy="54864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SKILLS DE PRODUCCIÓN</a:t>
            </a:r>
            <a:endParaRPr lang="en-US" sz="1600" dirty="0"/>
          </a:p>
        </p:txBody>
      </p:sp>
      <p:sp>
        <p:nvSpPr>
          <p:cNvPr id="10" name="Shape 8"/>
          <p:cNvSpPr/>
          <p:nvPr/>
        </p:nvSpPr>
        <p:spPr>
          <a:xfrm>
            <a:off x="4297680" y="1920240"/>
            <a:ext cx="3566160" cy="4572000"/>
          </a:xfrm>
          <a:prstGeom prst="rect">
            <a:avLst/>
          </a:prstGeom>
          <a:solidFill>
            <a:srgbClr val="F8F8F8"/>
          </a:solidFill>
          <a:ln/>
        </p:spPr>
      </p:sp>
      <p:sp>
        <p:nvSpPr>
          <p:cNvPr id="11" name="Text 9"/>
          <p:cNvSpPr/>
          <p:nvPr/>
        </p:nvSpPr>
        <p:spPr>
          <a:xfrm>
            <a:off x="4434840" y="2011680"/>
            <a:ext cx="3291840" cy="4389120"/>
          </a:xfrm>
          <a:prstGeom prst="rect">
            <a:avLst/>
          </a:prstGeom>
          <a:noFill/>
          <a:ln/>
        </p:spPr>
        <p:txBody>
          <a:bodyPr wrap="square" rtlCol="0" anchor="t"/>
          <a:lstStyle/>
          <a:p>
            <a:pPr indent="0" marL="0">
              <a:buNone/>
            </a:pPr>
            <a:r>
              <a:rPr lang="en-US" sz="1300" dirty="0">
                <a:solidFill>
                  <a:srgbClr val="000000"/>
                </a:solidFill>
                <a:latin typeface="Calibri" pitchFamily="34" charset="0"/>
                <a:ea typeface="Calibri" pitchFamily="34" charset="-122"/>
                <a:cs typeface="Calibri" pitchFamily="34" charset="-120"/>
              </a:rPr>
              <a:t>Tu librería de prompts probados.</a:t>
            </a:r>
            <a:endParaRPr lang="en-US" sz="1300" dirty="0"/>
          </a:p>
          <a:p>
            <a:pPr indent="0" marL="0">
              <a:buNone/>
            </a:pPr>
            <a:endParaRPr lang="en-US" sz="1300" dirty="0"/>
          </a:p>
          <a:p>
            <a:pPr indent="0" marL="0">
              <a:buNone/>
            </a:pPr>
            <a:endParaRPr lang="en-US" sz="1300" dirty="0"/>
          </a:p>
          <a:p>
            <a:pPr indent="0" marL="0">
              <a:buNone/>
            </a:pP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15 skills activos en Notion.</a:t>
            </a:r>
            <a:endParaRPr lang="en-US" sz="1300" dirty="0"/>
          </a:p>
          <a:p>
            <a:pPr indent="0" marL="0">
              <a:buNone/>
            </a:pPr>
            <a:endParaRPr lang="en-US" sz="1300" dirty="0"/>
          </a:p>
          <a:p>
            <a:pPr indent="0" marL="0">
              <a:buNone/>
            </a:pPr>
            <a:endParaRPr lang="en-US" sz="1300" dirty="0"/>
          </a:p>
          <a:p>
            <a:pPr indent="0" marL="0">
              <a:buNone/>
            </a:pP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Cada skill: nombre + cuándo + prompt con variables + output de referencia.</a:t>
            </a:r>
            <a:endParaRPr lang="en-US" sz="1300" dirty="0"/>
          </a:p>
          <a:p>
            <a:pPr indent="0" marL="0">
              <a:buNone/>
            </a:pPr>
            <a:endParaRPr lang="en-US" sz="1300" dirty="0"/>
          </a:p>
          <a:p>
            <a:pPr indent="0" marL="0">
              <a:buNone/>
            </a:pPr>
            <a:endParaRPr lang="en-US" sz="1300" dirty="0"/>
          </a:p>
          <a:p>
            <a:pPr indent="0" marL="0">
              <a:buNone/>
            </a:pP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Mejoran solos con el uso.</a:t>
            </a:r>
            <a:endParaRPr lang="en-US" sz="1300" dirty="0"/>
          </a:p>
        </p:txBody>
      </p:sp>
      <p:sp>
        <p:nvSpPr>
          <p:cNvPr id="12" name="Shape 10"/>
          <p:cNvSpPr/>
          <p:nvPr/>
        </p:nvSpPr>
        <p:spPr>
          <a:xfrm>
            <a:off x="8321040" y="1280160"/>
            <a:ext cx="3566160" cy="640080"/>
          </a:xfrm>
          <a:prstGeom prst="rect">
            <a:avLst/>
          </a:prstGeom>
          <a:solidFill>
            <a:srgbClr val="FF0000"/>
          </a:solidFill>
          <a:ln/>
        </p:spPr>
      </p:sp>
      <p:sp>
        <p:nvSpPr>
          <p:cNvPr id="13" name="Text 11"/>
          <p:cNvSpPr/>
          <p:nvPr/>
        </p:nvSpPr>
        <p:spPr>
          <a:xfrm>
            <a:off x="8412480" y="1325880"/>
            <a:ext cx="3383280" cy="54864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AGENTES + TABLERO</a:t>
            </a:r>
            <a:endParaRPr lang="en-US" sz="1600" dirty="0"/>
          </a:p>
        </p:txBody>
      </p:sp>
      <p:sp>
        <p:nvSpPr>
          <p:cNvPr id="14" name="Shape 12"/>
          <p:cNvSpPr/>
          <p:nvPr/>
        </p:nvSpPr>
        <p:spPr>
          <a:xfrm>
            <a:off x="8321040" y="1920240"/>
            <a:ext cx="3566160" cy="4572000"/>
          </a:xfrm>
          <a:prstGeom prst="rect">
            <a:avLst/>
          </a:prstGeom>
          <a:solidFill>
            <a:srgbClr val="F8F8F8"/>
          </a:solidFill>
          <a:ln/>
        </p:spPr>
      </p:sp>
      <p:sp>
        <p:nvSpPr>
          <p:cNvPr id="15" name="Text 13"/>
          <p:cNvSpPr/>
          <p:nvPr/>
        </p:nvSpPr>
        <p:spPr>
          <a:xfrm>
            <a:off x="8458200" y="2011680"/>
            <a:ext cx="3291840" cy="4389120"/>
          </a:xfrm>
          <a:prstGeom prst="rect">
            <a:avLst/>
          </a:prstGeom>
          <a:noFill/>
          <a:ln/>
        </p:spPr>
        <p:txBody>
          <a:bodyPr wrap="square" rtlCol="0" anchor="t"/>
          <a:lstStyle/>
          <a:p>
            <a:pPr indent="0" marL="0">
              <a:buNone/>
            </a:pPr>
            <a:r>
              <a:rPr lang="en-US" sz="1300" dirty="0">
                <a:solidFill>
                  <a:srgbClr val="000000"/>
                </a:solidFill>
                <a:latin typeface="Calibri" pitchFamily="34" charset="0"/>
                <a:ea typeface="Calibri" pitchFamily="34" charset="-122"/>
                <a:cs typeface="Calibri" pitchFamily="34" charset="-120"/>
              </a:rPr>
              <a:t>Tu equipo especializado.</a:t>
            </a:r>
            <a:endParaRPr lang="en-US" sz="1300" dirty="0"/>
          </a:p>
          <a:p>
            <a:pPr indent="0" marL="0">
              <a:buNone/>
            </a:pPr>
            <a:endParaRPr lang="en-US" sz="1300" dirty="0"/>
          </a:p>
          <a:p>
            <a:pPr indent="0" marL="0">
              <a:buNone/>
            </a:pPr>
            <a:endParaRPr lang="en-US" sz="1300" dirty="0"/>
          </a:p>
          <a:p>
            <a:pPr indent="0" marL="0">
              <a:buNone/>
            </a:pP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4 agentes coordinados en el tablero de Notion.</a:t>
            </a:r>
            <a:endParaRPr lang="en-US" sz="1300" dirty="0"/>
          </a:p>
          <a:p>
            <a:pPr indent="0" marL="0">
              <a:buNone/>
            </a:pPr>
            <a:endParaRPr lang="en-US" sz="1300" dirty="0"/>
          </a:p>
          <a:p>
            <a:pPr indent="0" marL="0">
              <a:buNone/>
            </a:pPr>
            <a:endParaRPr lang="en-US" sz="1300" dirty="0"/>
          </a:p>
          <a:p>
            <a:pPr indent="0" marL="0">
              <a:buNone/>
            </a:pP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40 min/semana de coordinación vs. horas de reuniones.</a:t>
            </a:r>
            <a:endParaRPr lang="en-US" sz="1300" dirty="0"/>
          </a:p>
          <a:p>
            <a:pPr indent="0" marL="0">
              <a:buNone/>
            </a:pPr>
            <a:endParaRPr lang="en-US" sz="1300" dirty="0"/>
          </a:p>
          <a:p>
            <a:pPr indent="0" marL="0">
              <a:buNone/>
            </a:pPr>
            <a:endParaRPr lang="en-US" sz="1300" dirty="0"/>
          </a:p>
          <a:p>
            <a:pPr indent="0" marL="0">
              <a:buNone/>
            </a:pP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Outputs que se convierten en decisiones.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FF0000"/>
          </a:solidFill>
          <a:ln/>
        </p:spPr>
      </p:sp>
      <p:sp>
        <p:nvSpPr>
          <p:cNvPr id="3" name="Text 1"/>
          <p:cNvSpPr/>
          <p:nvPr/>
        </p:nvSpPr>
        <p:spPr>
          <a:xfrm>
            <a:off x="731520" y="1371600"/>
            <a:ext cx="2743200" cy="2743200"/>
          </a:xfrm>
          <a:prstGeom prst="rect">
            <a:avLst/>
          </a:prstGeom>
          <a:noFill/>
          <a:ln/>
        </p:spPr>
        <p:txBody>
          <a:bodyPr wrap="square" rtlCol="0" anchor="ctr"/>
          <a:lstStyle/>
          <a:p>
            <a:pPr algn="l" indent="0" marL="0">
              <a:buNone/>
            </a:pPr>
            <a:r>
              <a:rPr lang="en-US" sz="12000" b="1" dirty="0">
                <a:solidFill>
                  <a:srgbClr val="FF0000"/>
                </a:solidFill>
                <a:latin typeface="Arial Black" pitchFamily="34" charset="0"/>
                <a:ea typeface="Arial Black" pitchFamily="34" charset="-122"/>
                <a:cs typeface="Arial Black" pitchFamily="34" charset="-120"/>
              </a:rPr>
              <a:t>3</a:t>
            </a:r>
            <a:endParaRPr lang="en-US" sz="12000" dirty="0"/>
          </a:p>
        </p:txBody>
      </p:sp>
      <p:sp>
        <p:nvSpPr>
          <p:cNvPr id="4" name="Text 2"/>
          <p:cNvSpPr/>
          <p:nvPr/>
        </p:nvSpPr>
        <p:spPr>
          <a:xfrm>
            <a:off x="3840480" y="2286000"/>
            <a:ext cx="7955280" cy="2286000"/>
          </a:xfrm>
          <a:prstGeom prst="rect">
            <a:avLst/>
          </a:prstGeom>
          <a:noFill/>
          <a:ln/>
        </p:spPr>
        <p:txBody>
          <a:bodyPr wrap="square" rtlCol="0" anchor="ctr"/>
          <a:lstStyle/>
          <a:p>
            <a:pPr algn="l" indent="0" marL="0">
              <a:buNone/>
            </a:pPr>
            <a:r>
              <a:rPr lang="en-US" sz="3600" b="1" dirty="0">
                <a:solidFill>
                  <a:srgbClr val="FFFFFF"/>
                </a:solidFill>
                <a:latin typeface="Arial Black" pitchFamily="34" charset="0"/>
                <a:ea typeface="Arial Black" pitchFamily="34" charset="-122"/>
                <a:cs typeface="Arial Black" pitchFamily="34" charset="-120"/>
              </a:rPr>
              <a:t>Sistemas Reales</a:t>
            </a:r>
            <a:endParaRPr lang="en-US" sz="3600" dirty="0"/>
          </a:p>
          <a:p>
            <a:pPr algn="l" indent="0" marL="0">
              <a:buNone/>
            </a:pPr>
            <a:r>
              <a:rPr lang="en-US" sz="3600" b="1" dirty="0">
                <a:solidFill>
                  <a:srgbClr val="FFFFFF"/>
                </a:solidFill>
                <a:latin typeface="Arial Black" pitchFamily="34" charset="0"/>
                <a:ea typeface="Arial Black" pitchFamily="34" charset="-122"/>
                <a:cs typeface="Arial Black" pitchFamily="34" charset="-120"/>
              </a:rPr>
              <a:t>Funcionando en Vivo</a:t>
            </a:r>
            <a:endParaRPr lang="en-US" sz="3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FF0000"/>
          </a:solidFill>
          <a:ln/>
        </p:spPr>
      </p:sp>
      <p:sp>
        <p:nvSpPr>
          <p:cNvPr id="3" name="Text 1"/>
          <p:cNvSpPr/>
          <p:nvPr/>
        </p:nvSpPr>
        <p:spPr>
          <a:xfrm>
            <a:off x="365760" y="91440"/>
            <a:ext cx="11430000" cy="914400"/>
          </a:xfrm>
          <a:prstGeom prst="rect">
            <a:avLst/>
          </a:prstGeom>
          <a:noFill/>
          <a:ln/>
        </p:spPr>
        <p:txBody>
          <a:bodyPr wrap="square"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Instructor A — Su Sistema de Growth en Vivo</a:t>
            </a:r>
            <a:endParaRPr lang="en-US" sz="3400" dirty="0"/>
          </a:p>
        </p:txBody>
      </p:sp>
      <p:sp>
        <p:nvSpPr>
          <p:cNvPr id="4" name="Shape 2"/>
          <p:cNvSpPr/>
          <p:nvPr/>
        </p:nvSpPr>
        <p:spPr>
          <a:xfrm>
            <a:off x="274320" y="1417320"/>
            <a:ext cx="502920" cy="502920"/>
          </a:xfrm>
          <a:prstGeom prst="ellipse">
            <a:avLst/>
          </a:prstGeom>
          <a:solidFill>
            <a:srgbClr val="FF0000"/>
          </a:solidFill>
          <a:ln/>
        </p:spPr>
      </p:sp>
      <p:sp>
        <p:nvSpPr>
          <p:cNvPr id="5" name="Text 3"/>
          <p:cNvSpPr/>
          <p:nvPr/>
        </p:nvSpPr>
        <p:spPr>
          <a:xfrm>
            <a:off x="274320" y="1417320"/>
            <a:ext cx="502920" cy="50292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1</a:t>
            </a:r>
            <a:endParaRPr lang="en-US" sz="1600" dirty="0"/>
          </a:p>
        </p:txBody>
      </p:sp>
      <p:sp>
        <p:nvSpPr>
          <p:cNvPr id="6" name="Text 4"/>
          <p:cNvSpPr/>
          <p:nvPr/>
        </p:nvSpPr>
        <p:spPr>
          <a:xfrm>
            <a:off x="960120" y="1371600"/>
            <a:ext cx="10881360" cy="1257300"/>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Abre el tablero. El brief de la semana estaba puesto desde el lunes (5 minutos de trabajo).</a:t>
            </a:r>
            <a:endParaRPr lang="en-US" sz="1400" dirty="0"/>
          </a:p>
        </p:txBody>
      </p:sp>
      <p:sp>
        <p:nvSpPr>
          <p:cNvPr id="7" name="Shape 5"/>
          <p:cNvSpPr/>
          <p:nvPr/>
        </p:nvSpPr>
        <p:spPr>
          <a:xfrm>
            <a:off x="274320" y="2720340"/>
            <a:ext cx="502920" cy="502920"/>
          </a:xfrm>
          <a:prstGeom prst="ellipse">
            <a:avLst/>
          </a:prstGeom>
          <a:solidFill>
            <a:srgbClr val="FF6B00"/>
          </a:solidFill>
          <a:ln/>
        </p:spPr>
      </p:sp>
      <p:sp>
        <p:nvSpPr>
          <p:cNvPr id="8" name="Text 6"/>
          <p:cNvSpPr/>
          <p:nvPr/>
        </p:nvSpPr>
        <p:spPr>
          <a:xfrm>
            <a:off x="274320" y="2720340"/>
            <a:ext cx="502920" cy="50292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2</a:t>
            </a:r>
            <a:endParaRPr lang="en-US" sz="1600" dirty="0"/>
          </a:p>
        </p:txBody>
      </p:sp>
      <p:sp>
        <p:nvSpPr>
          <p:cNvPr id="9" name="Text 7"/>
          <p:cNvSpPr/>
          <p:nvPr/>
        </p:nvSpPr>
        <p:spPr>
          <a:xfrm>
            <a:off x="960120" y="2674620"/>
            <a:ext cx="10881360" cy="1257300"/>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El Agente de Análisis tenía las métricas de ayer. Diagnóstico en el tablero a las 9am.</a:t>
            </a:r>
            <a:endParaRPr lang="en-US" sz="1400" dirty="0"/>
          </a:p>
        </p:txBody>
      </p:sp>
      <p:sp>
        <p:nvSpPr>
          <p:cNvPr id="10" name="Shape 8"/>
          <p:cNvSpPr/>
          <p:nvPr/>
        </p:nvSpPr>
        <p:spPr>
          <a:xfrm>
            <a:off x="274320" y="4023360"/>
            <a:ext cx="502920" cy="502920"/>
          </a:xfrm>
          <a:prstGeom prst="ellipse">
            <a:avLst/>
          </a:prstGeom>
          <a:solidFill>
            <a:srgbClr val="FF0000"/>
          </a:solidFill>
          <a:ln/>
        </p:spPr>
      </p:sp>
      <p:sp>
        <p:nvSpPr>
          <p:cNvPr id="11" name="Text 9"/>
          <p:cNvSpPr/>
          <p:nvPr/>
        </p:nvSpPr>
        <p:spPr>
          <a:xfrm>
            <a:off x="274320" y="4023360"/>
            <a:ext cx="502920" cy="50292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3</a:t>
            </a:r>
            <a:endParaRPr lang="en-US" sz="1600" dirty="0"/>
          </a:p>
        </p:txBody>
      </p:sp>
      <p:sp>
        <p:nvSpPr>
          <p:cNvPr id="12" name="Text 10"/>
          <p:cNvSpPr/>
          <p:nvPr/>
        </p:nvSpPr>
        <p:spPr>
          <a:xfrm>
            <a:off x="960120" y="3977640"/>
            <a:ext cx="10881360" cy="1257300"/>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Una sola decisión a partir del output del agente. Una anomalía detectada, una acción definida.</a:t>
            </a:r>
            <a:endParaRPr lang="en-US" sz="1400" dirty="0"/>
          </a:p>
        </p:txBody>
      </p:sp>
      <p:sp>
        <p:nvSpPr>
          <p:cNvPr id="13" name="Shape 11"/>
          <p:cNvSpPr/>
          <p:nvPr/>
        </p:nvSpPr>
        <p:spPr>
          <a:xfrm>
            <a:off x="274320" y="5326380"/>
            <a:ext cx="502920" cy="502920"/>
          </a:xfrm>
          <a:prstGeom prst="ellipse">
            <a:avLst/>
          </a:prstGeom>
          <a:solidFill>
            <a:srgbClr val="FF6B00"/>
          </a:solidFill>
          <a:ln/>
        </p:spPr>
      </p:sp>
      <p:sp>
        <p:nvSpPr>
          <p:cNvPr id="14" name="Text 12"/>
          <p:cNvSpPr/>
          <p:nvPr/>
        </p:nvSpPr>
        <p:spPr>
          <a:xfrm>
            <a:off x="274320" y="5326380"/>
            <a:ext cx="502920" cy="50292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4</a:t>
            </a:r>
            <a:endParaRPr lang="en-US" sz="1600" dirty="0"/>
          </a:p>
        </p:txBody>
      </p:sp>
      <p:sp>
        <p:nvSpPr>
          <p:cNvPr id="15" name="Text 13"/>
          <p:cNvSpPr/>
          <p:nvPr/>
        </p:nvSpPr>
        <p:spPr>
          <a:xfrm>
            <a:off x="960120" y="5280660"/>
            <a:ext cx="10881360" cy="1257300"/>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Esa decisión se tradujo en un prompt al Agente de Adquisición → output de campaña en producción.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943600" cy="6858000"/>
          </a:xfrm>
          <a:prstGeom prst="rect">
            <a:avLst/>
          </a:prstGeom>
          <a:solidFill>
            <a:srgbClr val="000000"/>
          </a:solidFill>
          <a:ln/>
        </p:spPr>
      </p:sp>
      <p:sp>
        <p:nvSpPr>
          <p:cNvPr id="3" name="Text 1"/>
          <p:cNvSpPr/>
          <p:nvPr/>
        </p:nvSpPr>
        <p:spPr>
          <a:xfrm>
            <a:off x="274320" y="274320"/>
            <a:ext cx="5394960" cy="822960"/>
          </a:xfrm>
          <a:prstGeom prst="rect">
            <a:avLst/>
          </a:prstGeom>
          <a:noFill/>
          <a:ln/>
        </p:spPr>
        <p:txBody>
          <a:bodyPr wrap="square" rtlCol="0" anchor="ctr"/>
          <a:lstStyle/>
          <a:p>
            <a:pPr algn="ctr" indent="0" marL="0">
              <a:buNone/>
            </a:pPr>
            <a:r>
              <a:rPr lang="en-US" sz="2800" b="1" dirty="0">
                <a:solidFill>
                  <a:srgbClr val="FF6B00"/>
                </a:solidFill>
                <a:latin typeface="Arial Black" pitchFamily="34" charset="0"/>
                <a:ea typeface="Arial Black" pitchFamily="34" charset="-122"/>
                <a:cs typeface="Arial Black" pitchFamily="34" charset="-120"/>
              </a:rPr>
              <a:t>ANTES</a:t>
            </a:r>
            <a:endParaRPr lang="en-US" sz="2800" dirty="0"/>
          </a:p>
        </p:txBody>
      </p:sp>
      <p:sp>
        <p:nvSpPr>
          <p:cNvPr id="4" name="Text 2"/>
          <p:cNvSpPr/>
          <p:nvPr/>
        </p:nvSpPr>
        <p:spPr>
          <a:xfrm>
            <a:off x="365760" y="1280160"/>
            <a:ext cx="5303520" cy="530352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Con equipo de 3 personas:</a:t>
            </a:r>
            <a:endParaRPr lang="en-US" sz="1400" dirty="0"/>
          </a:p>
          <a:p>
            <a:pPr indent="0" marL="0">
              <a:buNone/>
            </a:pPr>
            <a:endParaRPr lang="en-US" sz="1400" dirty="0"/>
          </a:p>
          <a:p>
            <a:pPr indent="0" marL="0">
              <a:buNone/>
            </a:pPr>
            <a:endParaRPr lang="en-US" sz="1400" dirty="0"/>
          </a:p>
          <a:p>
            <a:pPr indent="0" marL="0">
              <a:buNone/>
            </a:pP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2 horas los viernes para el reporte semanal</a:t>
            </a:r>
            <a:endParaRPr lang="en-US" sz="1400" dirty="0"/>
          </a:p>
          <a:p>
            <a:pPr indent="0" marL="0">
              <a:buNone/>
            </a:pPr>
            <a:endParaRPr lang="en-US" sz="1400" dirty="0"/>
          </a:p>
          <a:p>
            <a:pPr indent="0" marL="0">
              <a:buNone/>
            </a:pPr>
            <a:endParaRPr lang="en-US" sz="1400" dirty="0"/>
          </a:p>
          <a:p>
            <a:pPr indent="0" marL="0">
              <a:buNone/>
            </a:pP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Reuniones de coordinación internas</a:t>
            </a:r>
            <a:endParaRPr lang="en-US" sz="1400" dirty="0"/>
          </a:p>
          <a:p>
            <a:pPr indent="0" marL="0">
              <a:buNone/>
            </a:pPr>
            <a:endParaRPr lang="en-US" sz="1400" dirty="0"/>
          </a:p>
          <a:p>
            <a:pPr indent="0" marL="0">
              <a:buNone/>
            </a:pPr>
            <a:endParaRPr lang="en-US" sz="1400" dirty="0"/>
          </a:p>
          <a:p>
            <a:pPr indent="0" marL="0">
              <a:buNone/>
            </a:pP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Briefs que van y vienen por email</a:t>
            </a:r>
            <a:endParaRPr lang="en-US" sz="1400" dirty="0"/>
          </a:p>
          <a:p>
            <a:pPr indent="0" marL="0">
              <a:buNone/>
            </a:pPr>
            <a:endParaRPr lang="en-US" sz="1400" dirty="0"/>
          </a:p>
          <a:p>
            <a:pPr indent="0" marL="0">
              <a:buNone/>
            </a:pPr>
            <a:endParaRPr lang="en-US" sz="1400" dirty="0"/>
          </a:p>
          <a:p>
            <a:pPr indent="0" marL="0">
              <a:buNone/>
            </a:pP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Cada persona construye sus prompts desde cero</a:t>
            </a:r>
            <a:endParaRPr lang="en-US" sz="1400" dirty="0"/>
          </a:p>
          <a:p>
            <a:pPr indent="0" marL="0">
              <a:buNone/>
            </a:pPr>
            <a:endParaRPr lang="en-US" sz="1400" dirty="0"/>
          </a:p>
          <a:p>
            <a:pPr indent="0" marL="0">
              <a:buNone/>
            </a:pPr>
            <a:endParaRPr lang="en-US" sz="1400" dirty="0"/>
          </a:p>
          <a:p>
            <a:pPr indent="0" marL="0">
              <a:buNone/>
            </a:pP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El lead de Growth es el intermediario de todo</a:t>
            </a:r>
            <a:endParaRPr lang="en-US" sz="1400" dirty="0"/>
          </a:p>
        </p:txBody>
      </p:sp>
      <p:sp>
        <p:nvSpPr>
          <p:cNvPr id="5" name="Shape 3"/>
          <p:cNvSpPr/>
          <p:nvPr/>
        </p:nvSpPr>
        <p:spPr>
          <a:xfrm>
            <a:off x="5943600" y="0"/>
            <a:ext cx="6245352" cy="548640"/>
          </a:xfrm>
          <a:prstGeom prst="rect">
            <a:avLst/>
          </a:prstGeom>
          <a:solidFill>
            <a:srgbClr val="FF0000"/>
          </a:solidFill>
          <a:ln/>
        </p:spPr>
      </p:sp>
      <p:sp>
        <p:nvSpPr>
          <p:cNvPr id="6" name="Text 4"/>
          <p:cNvSpPr/>
          <p:nvPr/>
        </p:nvSpPr>
        <p:spPr>
          <a:xfrm>
            <a:off x="6035040" y="45720"/>
            <a:ext cx="6062472" cy="457200"/>
          </a:xfrm>
          <a:prstGeom prst="rect">
            <a:avLst/>
          </a:prstGeom>
          <a:noFill/>
          <a:ln/>
        </p:spPr>
        <p:txBody>
          <a:bodyPr wrap="square" rtlCol="0" anchor="ctr"/>
          <a:lstStyle/>
          <a:p>
            <a:pPr algn="ctr" indent="0" marL="0">
              <a:buNone/>
            </a:pPr>
            <a:r>
              <a:rPr lang="en-US" sz="2800" b="1" dirty="0">
                <a:solidFill>
                  <a:srgbClr val="FFFFFF"/>
                </a:solidFill>
                <a:latin typeface="Arial Black" pitchFamily="34" charset="0"/>
                <a:ea typeface="Arial Black" pitchFamily="34" charset="-122"/>
                <a:cs typeface="Arial Black" pitchFamily="34" charset="-120"/>
              </a:rPr>
              <a:t>DESPUES</a:t>
            </a:r>
            <a:endParaRPr lang="en-US" sz="2800" dirty="0"/>
          </a:p>
        </p:txBody>
      </p:sp>
      <p:sp>
        <p:nvSpPr>
          <p:cNvPr id="7" name="Text 5"/>
          <p:cNvSpPr/>
          <p:nvPr/>
        </p:nvSpPr>
        <p:spPr>
          <a:xfrm>
            <a:off x="6080760" y="1280160"/>
            <a:ext cx="5760720" cy="5303520"/>
          </a:xfrm>
          <a:prstGeom prst="rect">
            <a:avLst/>
          </a:prstGeom>
          <a:noFill/>
          <a:ln/>
        </p:spPr>
        <p:txBody>
          <a:bodyPr wrap="square" rtlCol="0" anchor="t"/>
          <a:lstStyle/>
          <a:p>
            <a:pPr indent="0" marL="0">
              <a:buNone/>
            </a:pPr>
            <a:r>
              <a:rPr lang="en-US" sz="1400" dirty="0">
                <a:solidFill>
                  <a:srgbClr val="000000"/>
                </a:solidFill>
                <a:latin typeface="Calibri" pitchFamily="34" charset="0"/>
                <a:ea typeface="Calibri" pitchFamily="34" charset="-122"/>
                <a:cs typeface="Calibri" pitchFamily="34" charset="-120"/>
              </a:rPr>
              <a:t>Con el sistema de agentes:</a:t>
            </a:r>
            <a:endParaRPr lang="en-US" sz="1400" dirty="0"/>
          </a:p>
          <a:p>
            <a:pPr indent="0" marL="0">
              <a:buNone/>
            </a:pPr>
            <a:endParaRPr lang="en-US" sz="1400" dirty="0"/>
          </a:p>
          <a:p>
            <a:pPr indent="0" marL="0">
              <a:buNone/>
            </a:pP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20 min para el reporte semanal con Skill 05</a:t>
            </a:r>
            <a:endParaRPr lang="en-US" sz="1400" dirty="0"/>
          </a:p>
          <a:p>
            <a:pPr indent="0" marL="0">
              <a:buNone/>
            </a:pPr>
            <a:endParaRPr lang="en-US" sz="1400" dirty="0"/>
          </a:p>
          <a:p>
            <a:pPr indent="0" marL="0">
              <a:buNone/>
            </a:pP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Tablero de Notion como sala de guerra</a:t>
            </a:r>
            <a:endParaRPr lang="en-US" sz="1400" dirty="0"/>
          </a:p>
          <a:p>
            <a:pPr indent="0" marL="0">
              <a:buNone/>
            </a:pPr>
            <a:endParaRPr lang="en-US" sz="1400" dirty="0"/>
          </a:p>
          <a:p>
            <a:pPr indent="0" marL="0">
              <a:buNone/>
            </a:pP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Cada persona sabe qué agente consultar</a:t>
            </a:r>
            <a:endParaRPr lang="en-US" sz="1400" dirty="0"/>
          </a:p>
          <a:p>
            <a:pPr indent="0" marL="0">
              <a:buNone/>
            </a:pPr>
            <a:endParaRPr lang="en-US" sz="1400" dirty="0"/>
          </a:p>
          <a:p>
            <a:pPr indent="0" marL="0">
              <a:buNone/>
            </a:pP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Skills del entregable: abren, rellenan, ejecutan</a:t>
            </a:r>
            <a:endParaRPr lang="en-US" sz="1400" dirty="0"/>
          </a:p>
          <a:p>
            <a:pPr indent="0" marL="0">
              <a:buNone/>
            </a:pPr>
            <a:endParaRPr lang="en-US" sz="1400" dirty="0"/>
          </a:p>
          <a:p>
            <a:pPr indent="0" marL="0">
              <a:buNone/>
            </a:pP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El sistema multiplica la capacidad sin contratar</a:t>
            </a:r>
            <a:endParaRPr lang="en-US" sz="1400" dirty="0"/>
          </a:p>
        </p:txBody>
      </p:sp>
      <p:sp>
        <p:nvSpPr>
          <p:cNvPr id="8" name="Shape 6"/>
          <p:cNvSpPr/>
          <p:nvPr/>
        </p:nvSpPr>
        <p:spPr>
          <a:xfrm>
            <a:off x="5852160" y="0"/>
            <a:ext cx="91440" cy="6858000"/>
          </a:xfrm>
          <a:prstGeom prst="rect">
            <a:avLst/>
          </a:prstGeom>
          <a:solidFill>
            <a:srgbClr val="FF0000"/>
          </a:solidFill>
          <a:ln/>
        </p:spPr>
      </p:sp>
      <p:sp>
        <p:nvSpPr>
          <p:cNvPr id="9" name="Text 7"/>
          <p:cNvSpPr/>
          <p:nvPr/>
        </p:nvSpPr>
        <p:spPr>
          <a:xfrm>
            <a:off x="0" y="0"/>
            <a:ext cx="5852160" cy="548640"/>
          </a:xfrm>
          <a:prstGeom prst="rect">
            <a:avLst/>
          </a:prstGeom>
          <a:noFill/>
          <a:ln/>
        </p:spPr>
        <p:txBody>
          <a:bodyPr wrap="square" rtlCol="0" anchor="ctr"/>
          <a:lstStyle/>
          <a:p>
            <a:pPr algn="ctr" indent="0" marL="0">
              <a:buNone/>
            </a:pPr>
            <a:r>
              <a:rPr lang="en-US" sz="1600" b="1" dirty="0">
                <a:solidFill>
                  <a:srgbClr val="FF6B00"/>
                </a:solidFill>
                <a:latin typeface="Arial Black" pitchFamily="34" charset="0"/>
                <a:ea typeface="Arial Black" pitchFamily="34" charset="-122"/>
                <a:cs typeface="Arial Black" pitchFamily="34" charset="-120"/>
              </a:rPr>
              <a:t>Instructor B</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FF0000"/>
          </a:solidFill>
          <a:ln/>
        </p:spPr>
      </p:sp>
      <p:sp>
        <p:nvSpPr>
          <p:cNvPr id="3" name="Text 1"/>
          <p:cNvSpPr/>
          <p:nvPr/>
        </p:nvSpPr>
        <p:spPr>
          <a:xfrm>
            <a:off x="365760" y="91440"/>
            <a:ext cx="11430000" cy="914400"/>
          </a:xfrm>
          <a:prstGeom prst="rect">
            <a:avLst/>
          </a:prstGeom>
          <a:noFill/>
          <a:ln/>
        </p:spPr>
        <p:txBody>
          <a:bodyPr wrap="square"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Instructor C — El Sistema Mínimo Viable (Founder Solo)</a:t>
            </a:r>
            <a:endParaRPr lang="en-US" sz="3400" dirty="0"/>
          </a:p>
        </p:txBody>
      </p:sp>
      <p:sp>
        <p:nvSpPr>
          <p:cNvPr id="4" name="Text 2"/>
          <p:cNvSpPr/>
          <p:nvPr/>
        </p:nvSpPr>
        <p:spPr>
          <a:xfrm>
            <a:off x="457200" y="1280160"/>
            <a:ext cx="11274552" cy="3474720"/>
          </a:xfrm>
          <a:prstGeom prst="rect">
            <a:avLst/>
          </a:prstGeom>
          <a:noFill/>
          <a:ln/>
        </p:spPr>
        <p:txBody>
          <a:bodyPr wrap="square" rtlCol="0" anchor="t"/>
          <a:lstStyle/>
          <a:p>
            <a:pPr indent="0" marL="0">
              <a:buNone/>
            </a:pPr>
            <a:r>
              <a:rPr lang="en-US" sz="1500" dirty="0">
                <a:solidFill>
                  <a:srgbClr val="000000"/>
                </a:solidFill>
                <a:latin typeface="Calibri" pitchFamily="34" charset="0"/>
                <a:ea typeface="Calibri" pitchFamily="34" charset="-122"/>
                <a:cs typeface="Calibri" pitchFamily="34" charset="-120"/>
              </a:rPr>
              <a:t>Mi caso es el más pequeño — soy founder, soy el equipo de Growth.</a:t>
            </a:r>
            <a:endParaRPr lang="en-US" sz="1500" dirty="0"/>
          </a:p>
          <a:p>
            <a:pPr indent="0" marL="0">
              <a:buNone/>
            </a:pPr>
            <a:r>
              <a:rPr lang="en-US" sz="1500" dirty="0">
                <a:solidFill>
                  <a:srgbClr val="000000"/>
                </a:solidFill>
                <a:latin typeface="Calibri" pitchFamily="34" charset="0"/>
                <a:ea typeface="Calibri" pitchFamily="34" charset="-122"/>
                <a:cs typeface="Calibri" pitchFamily="34" charset="-120"/>
              </a:rPr>
              <a:t>Una persona. Múltiples frentes. Cero tiempo para fricción.</a:t>
            </a:r>
            <a:endParaRPr lang="en-US" sz="1500" dirty="0"/>
          </a:p>
          <a:p>
            <a:pPr indent="0" marL="0">
              <a:buNone/>
            </a:pPr>
            <a:endParaRPr lang="en-US" sz="1500" dirty="0"/>
          </a:p>
          <a:p>
            <a:pPr indent="0" marL="0">
              <a:buNone/>
            </a:pPr>
            <a:r>
              <a:rPr lang="en-US" sz="1500" dirty="0">
                <a:solidFill>
                  <a:srgbClr val="000000"/>
                </a:solidFill>
                <a:latin typeface="Calibri" pitchFamily="34" charset="0"/>
                <a:ea typeface="Calibri" pitchFamily="34" charset="-122"/>
                <a:cs typeface="Calibri" pitchFamily="34" charset="-120"/>
              </a:rPr>
              <a:t>El flujo mínimo viable:</a:t>
            </a:r>
            <a:endParaRPr lang="en-US" sz="1500" dirty="0"/>
          </a:p>
          <a:p>
            <a:pPr indent="0" marL="0">
              <a:buNone/>
            </a:pPr>
            <a:r>
              <a:rPr lang="en-US" sz="1500" dirty="0">
                <a:solidFill>
                  <a:srgbClr val="000000"/>
                </a:solidFill>
                <a:latin typeface="Calibri" pitchFamily="34" charset="0"/>
                <a:ea typeface="Calibri" pitchFamily="34" charset="-122"/>
                <a:cs typeface="Calibri" pitchFamily="34" charset="-120"/>
              </a:rPr>
              <a:t>• Un solo Project con el contexto completo y el foco de la semana</a:t>
            </a:r>
            <a:endParaRPr lang="en-US" sz="1500" dirty="0"/>
          </a:p>
          <a:p>
            <a:pPr indent="0" marL="0">
              <a:buNone/>
            </a:pPr>
            <a:r>
              <a:rPr lang="en-US" sz="1500" dirty="0">
                <a:solidFill>
                  <a:srgbClr val="000000"/>
                </a:solidFill>
                <a:latin typeface="Calibri" pitchFamily="34" charset="0"/>
                <a:ea typeface="Calibri" pitchFamily="34" charset="-122"/>
                <a:cs typeface="Calibri" pitchFamily="34" charset="-120"/>
              </a:rPr>
              <a:t>• Cada semana el foco cambia: esta semana retención → las instrucciones priorizan retención</a:t>
            </a:r>
            <a:endParaRPr lang="en-US" sz="1500" dirty="0"/>
          </a:p>
          <a:p>
            <a:pPr indent="0" marL="0">
              <a:buNone/>
            </a:pPr>
            <a:r>
              <a:rPr lang="en-US" sz="1500" dirty="0">
                <a:solidFill>
                  <a:srgbClr val="000000"/>
                </a:solidFill>
                <a:latin typeface="Calibri" pitchFamily="34" charset="0"/>
                <a:ea typeface="Calibri" pitchFamily="34" charset="-122"/>
                <a:cs typeface="Calibri" pitchFamily="34" charset="-120"/>
              </a:rPr>
              <a:t>• 10 minutos cada mañana: contexto del funnel + 2 acciones del día + 1 draft para clientes en riesgo</a:t>
            </a:r>
            <a:endParaRPr lang="en-US" sz="1500" dirty="0"/>
          </a:p>
          <a:p>
            <a:pPr indent="0" marL="0">
              <a:buNone/>
            </a:pPr>
            <a:endParaRPr lang="en-US" sz="1500" dirty="0"/>
          </a:p>
          <a:p>
            <a:pPr indent="0" marL="0">
              <a:buNone/>
            </a:pPr>
            <a:r>
              <a:rPr lang="en-US" sz="1500" dirty="0">
                <a:solidFill>
                  <a:srgbClr val="000000"/>
                </a:solidFill>
                <a:latin typeface="Calibri" pitchFamily="34" charset="0"/>
                <a:ea typeface="Calibri" pitchFamily="34" charset="-122"/>
                <a:cs typeface="Calibri" pitchFamily="34" charset="-120"/>
              </a:rPr>
              <a:t>No me importa tener el sistema más sofisticado.</a:t>
            </a:r>
            <a:endParaRPr lang="en-US" sz="1500" dirty="0"/>
          </a:p>
          <a:p>
            <a:pPr indent="0" marL="0">
              <a:buNone/>
            </a:pPr>
            <a:r>
              <a:rPr lang="en-US" sz="1500" dirty="0">
                <a:solidFill>
                  <a:srgbClr val="000000"/>
                </a:solidFill>
                <a:latin typeface="Calibri" pitchFamily="34" charset="0"/>
                <a:ea typeface="Calibri" pitchFamily="34" charset="-122"/>
                <a:cs typeface="Calibri" pitchFamily="34" charset="-120"/>
              </a:rPr>
              <a:t>Me importa tener el sistema que voy a usar todos los días.</a:t>
            </a:r>
            <a:endParaRPr lang="en-US" sz="1500" dirty="0"/>
          </a:p>
          <a:p>
            <a:pPr indent="0" marL="0">
              <a:buNone/>
            </a:pPr>
            <a:r>
              <a:rPr lang="en-US" sz="1500" dirty="0">
                <a:solidFill>
                  <a:srgbClr val="000000"/>
                </a:solidFill>
                <a:latin typeface="Calibri" pitchFamily="34" charset="0"/>
                <a:ea typeface="Calibri" pitchFamily="34" charset="-122"/>
                <a:cs typeface="Calibri" pitchFamily="34" charset="-120"/>
              </a:rPr>
              <a:t>Ese es el punto de partida para cualquiera que empieza solo.</a:t>
            </a:r>
            <a:endParaRPr lang="en-US" sz="1500" dirty="0"/>
          </a:p>
          <a:p>
            <a:pPr indent="0" marL="0">
              <a:buNone/>
            </a:pPr>
            <a:r>
              <a:rPr lang="en-US" sz="1500" dirty="0">
                <a:solidFill>
                  <a:srgbClr val="000000"/>
                </a:solidFill>
                <a:latin typeface="Calibri" pitchFamily="34" charset="0"/>
                <a:ea typeface="Calibri" pitchFamily="34" charset="-122"/>
                <a:cs typeface="Calibri" pitchFamily="34" charset="-120"/>
              </a:rPr>
              <a:t>Cuando creces, el sistema crece.</a:t>
            </a:r>
            <a:endParaRPr lang="en-US" sz="1500" dirty="0"/>
          </a:p>
        </p:txBody>
      </p:sp>
      <p:sp>
        <p:nvSpPr>
          <p:cNvPr id="5" name="Shape 3"/>
          <p:cNvSpPr/>
          <p:nvPr/>
        </p:nvSpPr>
        <p:spPr>
          <a:xfrm>
            <a:off x="457200" y="4937760"/>
            <a:ext cx="11274552" cy="1554480"/>
          </a:xfrm>
          <a:prstGeom prst="rect">
            <a:avLst/>
          </a:prstGeom>
          <a:solidFill>
            <a:srgbClr val="EEFF89"/>
          </a:solidFill>
          <a:ln/>
        </p:spPr>
      </p:sp>
      <p:sp>
        <p:nvSpPr>
          <p:cNvPr id="6" name="Text 4"/>
          <p:cNvSpPr/>
          <p:nvPr/>
        </p:nvSpPr>
        <p:spPr>
          <a:xfrm>
            <a:off x="640080" y="5029200"/>
            <a:ext cx="10908792" cy="1371600"/>
          </a:xfrm>
          <a:prstGeom prst="rect">
            <a:avLst/>
          </a:prstGeom>
          <a:noFill/>
          <a:ln/>
        </p:spPr>
        <p:txBody>
          <a:bodyPr wrap="square" rtlCol="0" anchor="ctr"/>
          <a:lstStyle/>
          <a:p>
            <a:pPr algn="ctr" indent="0" marL="0">
              <a:buNone/>
            </a:pPr>
            <a:r>
              <a:rPr lang="en-US" sz="1500" b="1" dirty="0">
                <a:solidFill>
                  <a:srgbClr val="000000"/>
                </a:solidFill>
                <a:latin typeface="Calibri" pitchFamily="34" charset="0"/>
                <a:ea typeface="Calibri" pitchFamily="34" charset="-122"/>
                <a:cs typeface="Calibri" pitchFamily="34" charset="-120"/>
              </a:rPr>
              <a:t>"Empieza simple, empieza ahora. Cuando creces, el sistema crece."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FF0000"/>
          </a:solidFill>
          <a:ln/>
        </p:spPr>
      </p:sp>
      <p:sp>
        <p:nvSpPr>
          <p:cNvPr id="3" name="Text 1"/>
          <p:cNvSpPr/>
          <p:nvPr/>
        </p:nvSpPr>
        <p:spPr>
          <a:xfrm>
            <a:off x="365760" y="91440"/>
            <a:ext cx="11430000" cy="914400"/>
          </a:xfrm>
          <a:prstGeom prst="rect">
            <a:avLst/>
          </a:prstGeom>
          <a:noFill/>
          <a:ln/>
        </p:spPr>
        <p:txBody>
          <a:bodyPr wrap="square"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Tu Plan de 7 Días — Roadmap de Implementación</a:t>
            </a:r>
            <a:endParaRPr lang="en-US" sz="3400" dirty="0"/>
          </a:p>
        </p:txBody>
      </p:sp>
      <p:sp>
        <p:nvSpPr>
          <p:cNvPr id="4" name="Shape 2"/>
          <p:cNvSpPr/>
          <p:nvPr/>
        </p:nvSpPr>
        <p:spPr>
          <a:xfrm>
            <a:off x="274320" y="1417320"/>
            <a:ext cx="502920" cy="502920"/>
          </a:xfrm>
          <a:prstGeom prst="ellipse">
            <a:avLst/>
          </a:prstGeom>
          <a:solidFill>
            <a:srgbClr val="FF0000"/>
          </a:solidFill>
          <a:ln/>
        </p:spPr>
      </p:sp>
      <p:sp>
        <p:nvSpPr>
          <p:cNvPr id="5" name="Text 3"/>
          <p:cNvSpPr/>
          <p:nvPr/>
        </p:nvSpPr>
        <p:spPr>
          <a:xfrm>
            <a:off x="274320" y="1417320"/>
            <a:ext cx="502920" cy="50292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1</a:t>
            </a:r>
            <a:endParaRPr lang="en-US" sz="1600" dirty="0"/>
          </a:p>
        </p:txBody>
      </p:sp>
      <p:sp>
        <p:nvSpPr>
          <p:cNvPr id="6" name="Text 4"/>
          <p:cNvSpPr/>
          <p:nvPr/>
        </p:nvSpPr>
        <p:spPr>
          <a:xfrm>
            <a:off x="960120" y="1371600"/>
            <a:ext cx="10881360" cy="822960"/>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DÍA 1 — Fundamentos activos. Criterio: Claude responde con contexto específico de tu negocio. "¿Qué entiendes sobre mi negocio?" → respuesta específica.</a:t>
            </a:r>
            <a:endParaRPr lang="en-US" sz="1400" dirty="0"/>
          </a:p>
        </p:txBody>
      </p:sp>
      <p:sp>
        <p:nvSpPr>
          <p:cNvPr id="7" name="Shape 5"/>
          <p:cNvSpPr/>
          <p:nvPr/>
        </p:nvSpPr>
        <p:spPr>
          <a:xfrm>
            <a:off x="274320" y="2286000"/>
            <a:ext cx="502920" cy="502920"/>
          </a:xfrm>
          <a:prstGeom prst="ellipse">
            <a:avLst/>
          </a:prstGeom>
          <a:solidFill>
            <a:srgbClr val="FF6B00"/>
          </a:solidFill>
          <a:ln/>
        </p:spPr>
      </p:sp>
      <p:sp>
        <p:nvSpPr>
          <p:cNvPr id="8" name="Text 6"/>
          <p:cNvSpPr/>
          <p:nvPr/>
        </p:nvSpPr>
        <p:spPr>
          <a:xfrm>
            <a:off x="274320" y="2286000"/>
            <a:ext cx="502920" cy="50292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2</a:t>
            </a:r>
            <a:endParaRPr lang="en-US" sz="1600" dirty="0"/>
          </a:p>
        </p:txBody>
      </p:sp>
      <p:sp>
        <p:nvSpPr>
          <p:cNvPr id="9" name="Text 7"/>
          <p:cNvSpPr/>
          <p:nvPr/>
        </p:nvSpPr>
        <p:spPr>
          <a:xfrm>
            <a:off x="960120" y="2240280"/>
            <a:ext cx="10881360" cy="822960"/>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DÍA 2-3 — Primeros 3 skills en Notion. Criterio: 3 skills documentados, al menos 1 ejecutado con output real que podría entrar en producción.</a:t>
            </a:r>
            <a:endParaRPr lang="en-US" sz="1400" dirty="0"/>
          </a:p>
        </p:txBody>
      </p:sp>
      <p:sp>
        <p:nvSpPr>
          <p:cNvPr id="10" name="Shape 8"/>
          <p:cNvSpPr/>
          <p:nvPr/>
        </p:nvSpPr>
        <p:spPr>
          <a:xfrm>
            <a:off x="274320" y="3154680"/>
            <a:ext cx="502920" cy="502920"/>
          </a:xfrm>
          <a:prstGeom prst="ellipse">
            <a:avLst/>
          </a:prstGeom>
          <a:solidFill>
            <a:srgbClr val="FF0000"/>
          </a:solidFill>
          <a:ln/>
        </p:spPr>
      </p:sp>
      <p:sp>
        <p:nvSpPr>
          <p:cNvPr id="11" name="Text 9"/>
          <p:cNvSpPr/>
          <p:nvPr/>
        </p:nvSpPr>
        <p:spPr>
          <a:xfrm>
            <a:off x="274320" y="3154680"/>
            <a:ext cx="502920" cy="50292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3</a:t>
            </a:r>
            <a:endParaRPr lang="en-US" sz="1600" dirty="0"/>
          </a:p>
        </p:txBody>
      </p:sp>
      <p:sp>
        <p:nvSpPr>
          <p:cNvPr id="12" name="Text 10"/>
          <p:cNvSpPr/>
          <p:nvPr/>
        </p:nvSpPr>
        <p:spPr>
          <a:xfrm>
            <a:off x="960120" y="3108960"/>
            <a:ext cx="10881360" cy="822960"/>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DÍA 4 — Agente de Adquisición configurado. Criterio: diagnóstico real con al menos 1 acción concreta que vas a ejecutar esta semana.</a:t>
            </a:r>
            <a:endParaRPr lang="en-US" sz="1400" dirty="0"/>
          </a:p>
        </p:txBody>
      </p:sp>
      <p:sp>
        <p:nvSpPr>
          <p:cNvPr id="13" name="Shape 11"/>
          <p:cNvSpPr/>
          <p:nvPr/>
        </p:nvSpPr>
        <p:spPr>
          <a:xfrm>
            <a:off x="274320" y="4023360"/>
            <a:ext cx="502920" cy="502920"/>
          </a:xfrm>
          <a:prstGeom prst="ellipse">
            <a:avLst/>
          </a:prstGeom>
          <a:solidFill>
            <a:srgbClr val="FF6B00"/>
          </a:solidFill>
          <a:ln/>
        </p:spPr>
      </p:sp>
      <p:sp>
        <p:nvSpPr>
          <p:cNvPr id="14" name="Text 12"/>
          <p:cNvSpPr/>
          <p:nvPr/>
        </p:nvSpPr>
        <p:spPr>
          <a:xfrm>
            <a:off x="274320" y="4023360"/>
            <a:ext cx="502920" cy="50292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4</a:t>
            </a:r>
            <a:endParaRPr lang="en-US" sz="1600" dirty="0"/>
          </a:p>
        </p:txBody>
      </p:sp>
      <p:sp>
        <p:nvSpPr>
          <p:cNvPr id="15" name="Text 13"/>
          <p:cNvSpPr/>
          <p:nvPr/>
        </p:nvSpPr>
        <p:spPr>
          <a:xfrm>
            <a:off x="960120" y="3977640"/>
            <a:ext cx="10881360" cy="822960"/>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DÍA 5 — Agentes de Retención + Análisis/Revenue. Criterio: 3 agentes activos con outputs complementarios y específicos.</a:t>
            </a:r>
            <a:endParaRPr lang="en-US" sz="1400" dirty="0"/>
          </a:p>
        </p:txBody>
      </p:sp>
      <p:sp>
        <p:nvSpPr>
          <p:cNvPr id="16" name="Shape 14"/>
          <p:cNvSpPr/>
          <p:nvPr/>
        </p:nvSpPr>
        <p:spPr>
          <a:xfrm>
            <a:off x="274320" y="4892040"/>
            <a:ext cx="502920" cy="502920"/>
          </a:xfrm>
          <a:prstGeom prst="ellipse">
            <a:avLst/>
          </a:prstGeom>
          <a:solidFill>
            <a:srgbClr val="FF0000"/>
          </a:solidFill>
          <a:ln/>
        </p:spPr>
      </p:sp>
      <p:sp>
        <p:nvSpPr>
          <p:cNvPr id="17" name="Text 15"/>
          <p:cNvSpPr/>
          <p:nvPr/>
        </p:nvSpPr>
        <p:spPr>
          <a:xfrm>
            <a:off x="274320" y="4892040"/>
            <a:ext cx="502920" cy="50292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5</a:t>
            </a:r>
            <a:endParaRPr lang="en-US" sz="1600" dirty="0"/>
          </a:p>
        </p:txBody>
      </p:sp>
      <p:sp>
        <p:nvSpPr>
          <p:cNvPr id="18" name="Text 16"/>
          <p:cNvSpPr/>
          <p:nvPr/>
        </p:nvSpPr>
        <p:spPr>
          <a:xfrm>
            <a:off x="960120" y="4846320"/>
            <a:ext cx="10881360" cy="822960"/>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DÍA 6 — Tablero de coordinación operativo. Criterio: brief cargado + outputs de agentes + decisiones de la semana tomadas.</a:t>
            </a:r>
            <a:endParaRPr lang="en-US" sz="1400" dirty="0"/>
          </a:p>
        </p:txBody>
      </p:sp>
      <p:sp>
        <p:nvSpPr>
          <p:cNvPr id="19" name="Shape 17"/>
          <p:cNvSpPr/>
          <p:nvPr/>
        </p:nvSpPr>
        <p:spPr>
          <a:xfrm>
            <a:off x="274320" y="5760720"/>
            <a:ext cx="502920" cy="502920"/>
          </a:xfrm>
          <a:prstGeom prst="ellipse">
            <a:avLst/>
          </a:prstGeom>
          <a:solidFill>
            <a:srgbClr val="FF6B00"/>
          </a:solidFill>
          <a:ln/>
        </p:spPr>
      </p:sp>
      <p:sp>
        <p:nvSpPr>
          <p:cNvPr id="20" name="Text 18"/>
          <p:cNvSpPr/>
          <p:nvPr/>
        </p:nvSpPr>
        <p:spPr>
          <a:xfrm>
            <a:off x="274320" y="5760720"/>
            <a:ext cx="502920" cy="50292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6</a:t>
            </a:r>
            <a:endParaRPr lang="en-US" sz="1600" dirty="0"/>
          </a:p>
        </p:txBody>
      </p:sp>
      <p:sp>
        <p:nvSpPr>
          <p:cNvPr id="21" name="Text 19"/>
          <p:cNvSpPr/>
          <p:nvPr/>
        </p:nvSpPr>
        <p:spPr>
          <a:xfrm>
            <a:off x="960120" y="5715000"/>
            <a:ext cx="10881360" cy="822960"/>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DÍA 7 — Primera revisión y ajuste. Criterio: al menos 1 skill en v1.1 y 1 agente actualizado. Primer post en la comunidad.</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FF0000"/>
          </a:solidFill>
          <a:ln/>
        </p:spPr>
      </p:sp>
      <p:sp>
        <p:nvSpPr>
          <p:cNvPr id="3" name="Text 1"/>
          <p:cNvSpPr/>
          <p:nvPr/>
        </p:nvSpPr>
        <p:spPr>
          <a:xfrm>
            <a:off x="457200" y="914400"/>
            <a:ext cx="11274552" cy="2743200"/>
          </a:xfrm>
          <a:prstGeom prst="rect">
            <a:avLst/>
          </a:prstGeom>
          <a:noFill/>
          <a:ln/>
        </p:spPr>
        <p:txBody>
          <a:bodyPr wrap="square" rtlCol="0" anchor="ctr"/>
          <a:lstStyle/>
          <a:p>
            <a:pPr algn="ctr" indent="0" marL="0">
              <a:buNone/>
            </a:pPr>
            <a:r>
              <a:rPr lang="en-US" sz="10000" b="1" dirty="0">
                <a:solidFill>
                  <a:srgbClr val="FF0000"/>
                </a:solidFill>
                <a:latin typeface="Arial Black" pitchFamily="34" charset="0"/>
                <a:ea typeface="Arial Black" pitchFamily="34" charset="-122"/>
                <a:cs typeface="Arial Black" pitchFamily="34" charset="-120"/>
              </a:rPr>
              <a:t>~6h</a:t>
            </a:r>
            <a:endParaRPr lang="en-US" sz="10000" dirty="0"/>
          </a:p>
        </p:txBody>
      </p:sp>
      <p:sp>
        <p:nvSpPr>
          <p:cNvPr id="4" name="Text 2"/>
          <p:cNvSpPr/>
          <p:nvPr/>
        </p:nvSpPr>
        <p:spPr>
          <a:xfrm>
            <a:off x="457200" y="3749040"/>
            <a:ext cx="11274552" cy="1097280"/>
          </a:xfrm>
          <a:prstGeom prst="rect">
            <a:avLst/>
          </a:prstGeom>
          <a:noFill/>
          <a:ln/>
        </p:spPr>
        <p:txBody>
          <a:bodyPr wrap="square" rtlCol="0" anchor="ctr"/>
          <a:lstStyle/>
          <a:p>
            <a:pPr algn="ctr" indent="0" marL="0">
              <a:buNone/>
            </a:pPr>
            <a:r>
              <a:rPr lang="en-US" sz="2800" b="1" dirty="0">
                <a:solidFill>
                  <a:srgbClr val="000000"/>
                </a:solidFill>
                <a:latin typeface="Arial Black" pitchFamily="34" charset="0"/>
                <a:ea typeface="Arial Black" pitchFamily="34" charset="-122"/>
                <a:cs typeface="Arial Black" pitchFamily="34" charset="-120"/>
              </a:rPr>
              <a:t>distribuidas en 7 días</a:t>
            </a:r>
            <a:endParaRPr lang="en-US" sz="2800" dirty="0"/>
          </a:p>
        </p:txBody>
      </p:sp>
      <p:sp>
        <p:nvSpPr>
          <p:cNvPr id="5" name="Shape 3"/>
          <p:cNvSpPr/>
          <p:nvPr/>
        </p:nvSpPr>
        <p:spPr>
          <a:xfrm>
            <a:off x="1828800" y="5029200"/>
            <a:ext cx="8531352" cy="1280160"/>
          </a:xfrm>
          <a:prstGeom prst="rect">
            <a:avLst/>
          </a:prstGeom>
          <a:solidFill>
            <a:srgbClr val="EEFF89"/>
          </a:solidFill>
          <a:ln/>
        </p:spPr>
      </p:sp>
      <p:sp>
        <p:nvSpPr>
          <p:cNvPr id="6" name="Text 4"/>
          <p:cNvSpPr/>
          <p:nvPr/>
        </p:nvSpPr>
        <p:spPr>
          <a:xfrm>
            <a:off x="2011680" y="5120640"/>
            <a:ext cx="8165592" cy="109728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Para tener tu sistema de Growth con IA completamente operativo.</a:t>
            </a:r>
            <a:endParaRPr lang="en-US" sz="1400" dirty="0"/>
          </a:p>
          <a:p>
            <a:pPr algn="ctr" indent="0" marL="0">
              <a:buNone/>
            </a:pPr>
            <a:r>
              <a:rPr lang="en-US" sz="1400" dirty="0">
                <a:solidFill>
                  <a:srgbClr val="000000"/>
                </a:solidFill>
                <a:latin typeface="Calibri" pitchFamily="34" charset="0"/>
                <a:ea typeface="Calibri" pitchFamily="34" charset="-122"/>
                <a:cs typeface="Calibri" pitchFamily="34" charset="-120"/>
              </a:rPr>
              <a:t>30-60 minutos por día. No un sprint. Un hábito.</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FF0000"/>
          </a:solidFill>
          <a:ln/>
        </p:spPr>
      </p:sp>
      <p:sp>
        <p:nvSpPr>
          <p:cNvPr id="3" name="Text 1"/>
          <p:cNvSpPr/>
          <p:nvPr/>
        </p:nvSpPr>
        <p:spPr>
          <a:xfrm>
            <a:off x="365760" y="91440"/>
            <a:ext cx="11430000" cy="914400"/>
          </a:xfrm>
          <a:prstGeom prst="rect">
            <a:avLst/>
          </a:prstGeom>
          <a:noFill/>
          <a:ln/>
        </p:spPr>
        <p:txBody>
          <a:bodyPr wrap="square"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Señales de que el Sistema está Funcionando</a:t>
            </a:r>
            <a:endParaRPr lang="en-US" sz="3400" dirty="0"/>
          </a:p>
        </p:txBody>
      </p:sp>
      <p:sp>
        <p:nvSpPr>
          <p:cNvPr id="4" name="Text 2"/>
          <p:cNvSpPr/>
          <p:nvPr/>
        </p:nvSpPr>
        <p:spPr>
          <a:xfrm>
            <a:off x="457200" y="1280160"/>
            <a:ext cx="11274552" cy="3474720"/>
          </a:xfrm>
          <a:prstGeom prst="rect">
            <a:avLst/>
          </a:prstGeom>
          <a:noFill/>
          <a:ln/>
        </p:spPr>
        <p:txBody>
          <a:bodyPr wrap="square" rtlCol="0" anchor="t"/>
          <a:lstStyle/>
          <a:p>
            <a:pPr indent="0" marL="0">
              <a:buNone/>
            </a:pPr>
            <a:r>
              <a:rPr lang="en-US" sz="1500" dirty="0">
                <a:solidFill>
                  <a:srgbClr val="000000"/>
                </a:solidFill>
                <a:latin typeface="Calibri" pitchFamily="34" charset="0"/>
                <a:ea typeface="Calibri" pitchFamily="34" charset="-122"/>
                <a:cs typeface="Calibri" pitchFamily="34" charset="-120"/>
              </a:rPr>
              <a:t>Al final de la primera semana completa de operación, deberías ver:</a:t>
            </a:r>
            <a:endParaRPr lang="en-US" sz="1500" dirty="0"/>
          </a:p>
          <a:p>
            <a:pPr indent="0" marL="0">
              <a:buNone/>
            </a:pPr>
            <a:endParaRPr lang="en-US" sz="1500" dirty="0"/>
          </a:p>
          <a:p>
            <a:pPr indent="0" marL="0">
              <a:buNone/>
            </a:pPr>
            <a:r>
              <a:rPr lang="en-US" sz="1500" dirty="0">
                <a:solidFill>
                  <a:srgbClr val="000000"/>
                </a:solidFill>
                <a:latin typeface="Calibri" pitchFamily="34" charset="0"/>
                <a:ea typeface="Calibri" pitchFamily="34" charset="-122"/>
                <a:cs typeface="Calibri" pitchFamily="34" charset="-120"/>
              </a:rPr>
              <a:t>✅ Empiezas el día con más contexto sobre tu negocio del que tenías antes</a:t>
            </a:r>
            <a:endParaRPr lang="en-US" sz="1500" dirty="0"/>
          </a:p>
          <a:p>
            <a:pPr indent="0" marL="0">
              <a:buNone/>
            </a:pPr>
            <a:r>
              <a:rPr lang="en-US" sz="1500" dirty="0">
                <a:solidFill>
                  <a:srgbClr val="000000"/>
                </a:solidFill>
                <a:latin typeface="Calibri" pitchFamily="34" charset="0"/>
                <a:ea typeface="Calibri" pitchFamily="34" charset="-122"/>
                <a:cs typeface="Calibri" pitchFamily="34" charset="-120"/>
              </a:rPr>
              <a:t>✅ Tomas decisiones con datos en menos tiempo</a:t>
            </a:r>
            <a:endParaRPr lang="en-US" sz="1500" dirty="0"/>
          </a:p>
          <a:p>
            <a:pPr indent="0" marL="0">
              <a:buNone/>
            </a:pPr>
            <a:r>
              <a:rPr lang="en-US" sz="1500" dirty="0">
                <a:solidFill>
                  <a:srgbClr val="000000"/>
                </a:solidFill>
                <a:latin typeface="Calibri" pitchFamily="34" charset="0"/>
                <a:ea typeface="Calibri" pitchFamily="34" charset="-122"/>
                <a:cs typeface="Calibri" pitchFamily="34" charset="-120"/>
              </a:rPr>
              <a:t>✅ Produces copies o análisis en minutos, no en horas</a:t>
            </a:r>
            <a:endParaRPr lang="en-US" sz="1500" dirty="0"/>
          </a:p>
          <a:p>
            <a:pPr indent="0" marL="0">
              <a:buNone/>
            </a:pPr>
            <a:r>
              <a:rPr lang="en-US" sz="1500" dirty="0">
                <a:solidFill>
                  <a:srgbClr val="000000"/>
                </a:solidFill>
                <a:latin typeface="Calibri" pitchFamily="34" charset="0"/>
                <a:ea typeface="Calibri" pitchFamily="34" charset="-122"/>
                <a:cs typeface="Calibri" pitchFamily="34" charset="-120"/>
              </a:rPr>
              <a:t>✅ El equipo usa los skills sin preguntarte cómo</a:t>
            </a:r>
            <a:endParaRPr lang="en-US" sz="1500" dirty="0"/>
          </a:p>
          <a:p>
            <a:pPr indent="0" marL="0">
              <a:buNone/>
            </a:pPr>
            <a:endParaRPr lang="en-US" sz="1500" dirty="0"/>
          </a:p>
          <a:p>
            <a:pPr indent="0" marL="0">
              <a:buNone/>
            </a:pPr>
            <a:r>
              <a:rPr lang="en-US" sz="1500" dirty="0">
                <a:solidFill>
                  <a:srgbClr val="000000"/>
                </a:solidFill>
                <a:latin typeface="Calibri" pitchFamily="34" charset="0"/>
                <a:ea typeface="Calibri" pitchFamily="34" charset="-122"/>
                <a:cs typeface="Calibri" pitchFamily="34" charset="-120"/>
              </a:rPr>
              <a:t>Señales de que algo necesita ajuste:</a:t>
            </a:r>
            <a:endParaRPr lang="en-US" sz="1500" dirty="0"/>
          </a:p>
          <a:p>
            <a:pPr indent="0" marL="0">
              <a:buNone/>
            </a:pPr>
            <a:r>
              <a:rPr lang="en-US" sz="1500" dirty="0">
                <a:solidFill>
                  <a:srgbClr val="000000"/>
                </a:solidFill>
                <a:latin typeface="Calibri" pitchFamily="34" charset="0"/>
                <a:ea typeface="Calibri" pitchFamily="34" charset="-122"/>
                <a:cs typeface="Calibri" pitchFamily="34" charset="-120"/>
              </a:rPr>
              <a:t>❌ Outputs genéricos → ajusta las instrucciones de sistema, necesitan más contexto específico</a:t>
            </a:r>
            <a:endParaRPr lang="en-US" sz="1500" dirty="0"/>
          </a:p>
          <a:p>
            <a:pPr indent="0" marL="0">
              <a:buNone/>
            </a:pPr>
            <a:r>
              <a:rPr lang="en-US" sz="1500" dirty="0">
                <a:solidFill>
                  <a:srgbClr val="000000"/>
                </a:solidFill>
                <a:latin typeface="Calibri" pitchFamily="34" charset="0"/>
                <a:ea typeface="Calibri" pitchFamily="34" charset="-122"/>
                <a:cs typeface="Calibri" pitchFamily="34" charset="-120"/>
              </a:rPr>
              <a:t>❌ Los agentes salen de su área → refuerza las restricciones en el system prompt</a:t>
            </a:r>
            <a:endParaRPr lang="en-US" sz="1500" dirty="0"/>
          </a:p>
          <a:p>
            <a:pPr indent="0" marL="0">
              <a:buNone/>
            </a:pPr>
            <a:r>
              <a:rPr lang="en-US" sz="1500" dirty="0">
                <a:solidFill>
                  <a:srgbClr val="000000"/>
                </a:solidFill>
                <a:latin typeface="Calibri" pitchFamily="34" charset="0"/>
                <a:ea typeface="Calibri" pitchFamily="34" charset="-122"/>
                <a:cs typeface="Calibri" pitchFamily="34" charset="-120"/>
              </a:rPr>
              <a:t>❌ Skills que no usas → el "cuándo usar" no está bien definido</a:t>
            </a:r>
            <a:endParaRPr lang="en-US" sz="1500" dirty="0"/>
          </a:p>
          <a:p>
            <a:pPr indent="0" marL="0">
              <a:buNone/>
            </a:pPr>
            <a:r>
              <a:rPr lang="en-US" sz="1500" dirty="0">
                <a:solidFill>
                  <a:srgbClr val="000000"/>
                </a:solidFill>
                <a:latin typeface="Calibri" pitchFamily="34" charset="0"/>
                <a:ea typeface="Calibri" pitchFamily="34" charset="-122"/>
                <a:cs typeface="Calibri" pitchFamily="34" charset="-120"/>
              </a:rPr>
              <a:t>❌ No abres Claude todos los días → define un momento fijo diario</a:t>
            </a:r>
            <a:endParaRPr lang="en-US" sz="1500" dirty="0"/>
          </a:p>
        </p:txBody>
      </p:sp>
      <p:sp>
        <p:nvSpPr>
          <p:cNvPr id="5" name="Shape 3"/>
          <p:cNvSpPr/>
          <p:nvPr/>
        </p:nvSpPr>
        <p:spPr>
          <a:xfrm>
            <a:off x="457200" y="4937760"/>
            <a:ext cx="11274552" cy="1554480"/>
          </a:xfrm>
          <a:prstGeom prst="rect">
            <a:avLst/>
          </a:prstGeom>
          <a:solidFill>
            <a:srgbClr val="EEFF89"/>
          </a:solidFill>
          <a:ln/>
        </p:spPr>
      </p:sp>
      <p:sp>
        <p:nvSpPr>
          <p:cNvPr id="6" name="Text 4"/>
          <p:cNvSpPr/>
          <p:nvPr/>
        </p:nvSpPr>
        <p:spPr>
          <a:xfrm>
            <a:off x="640080" y="5029200"/>
            <a:ext cx="10908792" cy="1371600"/>
          </a:xfrm>
          <a:prstGeom prst="rect">
            <a:avLst/>
          </a:prstGeom>
          <a:noFill/>
          <a:ln/>
        </p:spPr>
        <p:txBody>
          <a:bodyPr wrap="square" rtlCol="0" anchor="ctr"/>
          <a:lstStyle/>
          <a:p>
            <a:pPr algn="ctr" indent="0" marL="0">
              <a:buNone/>
            </a:pPr>
            <a:r>
              <a:rPr lang="en-US" sz="1500" b="1" dirty="0">
                <a:solidFill>
                  <a:srgbClr val="000000"/>
                </a:solidFill>
                <a:latin typeface="Calibri" pitchFamily="34" charset="0"/>
                <a:ea typeface="Calibri" pitchFamily="34" charset="-122"/>
                <a:cs typeface="Calibri" pitchFamily="34" charset="-120"/>
              </a:rPr>
              <a:t>El sistema no termina — evoluciona.</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FF0000"/>
          </a:solidFill>
          <a:ln/>
        </p:spPr>
      </p:sp>
      <p:sp>
        <p:nvSpPr>
          <p:cNvPr id="3" name="Shape 1"/>
          <p:cNvSpPr/>
          <p:nvPr/>
        </p:nvSpPr>
        <p:spPr>
          <a:xfrm>
            <a:off x="0" y="6693408"/>
            <a:ext cx="12188952" cy="164592"/>
          </a:xfrm>
          <a:prstGeom prst="rect">
            <a:avLst/>
          </a:prstGeom>
          <a:solidFill>
            <a:srgbClr val="FF6B00"/>
          </a:solidFill>
          <a:ln/>
        </p:spPr>
      </p:sp>
      <p:sp>
        <p:nvSpPr>
          <p:cNvPr id="4" name="Text 2"/>
          <p:cNvSpPr/>
          <p:nvPr/>
        </p:nvSpPr>
        <p:spPr>
          <a:xfrm>
            <a:off x="457200" y="457200"/>
            <a:ext cx="11274552" cy="914400"/>
          </a:xfrm>
          <a:prstGeom prst="rect">
            <a:avLst/>
          </a:prstGeom>
          <a:noFill/>
          <a:ln/>
        </p:spPr>
        <p:txBody>
          <a:bodyPr wrap="square" rtlCol="0" anchor="ctr"/>
          <a:lstStyle/>
          <a:p>
            <a:pPr algn="ctr" indent="0" marL="0">
              <a:buNone/>
            </a:pPr>
            <a:r>
              <a:rPr lang="en-US" sz="3000" b="1" dirty="0">
                <a:solidFill>
                  <a:srgbClr val="FF0000"/>
                </a:solidFill>
                <a:latin typeface="Arial Black" pitchFamily="34" charset="0"/>
                <a:ea typeface="Arial Black" pitchFamily="34" charset="-122"/>
                <a:cs typeface="Arial Black" pitchFamily="34" charset="-120"/>
              </a:rPr>
              <a:t>Lo más poderoso que vas a descubrir</a:t>
            </a:r>
            <a:endParaRPr lang="en-US" sz="3000" dirty="0"/>
          </a:p>
        </p:txBody>
      </p:sp>
      <p:sp>
        <p:nvSpPr>
          <p:cNvPr id="5" name="Shape 3"/>
          <p:cNvSpPr/>
          <p:nvPr/>
        </p:nvSpPr>
        <p:spPr>
          <a:xfrm>
            <a:off x="457200" y="1463040"/>
            <a:ext cx="11274552" cy="3291840"/>
          </a:xfrm>
          <a:prstGeom prst="rect">
            <a:avLst/>
          </a:prstGeom>
          <a:solidFill>
            <a:srgbClr val="111111"/>
          </a:solidFill>
          <a:ln/>
        </p:spPr>
      </p:sp>
      <p:sp>
        <p:nvSpPr>
          <p:cNvPr id="6" name="Text 4"/>
          <p:cNvSpPr/>
          <p:nvPr/>
        </p:nvSpPr>
        <p:spPr>
          <a:xfrm>
            <a:off x="640080" y="1554480"/>
            <a:ext cx="10908792" cy="3108960"/>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No es un prompt.</a:t>
            </a:r>
            <a:endParaRPr lang="en-US" sz="1600" dirty="0"/>
          </a:p>
          <a:p>
            <a:pPr algn="ctr" indent="0" marL="0">
              <a:buNone/>
            </a:pPr>
            <a:r>
              <a:rPr lang="en-US" sz="1600" dirty="0">
                <a:solidFill>
                  <a:srgbClr val="FFFFFF"/>
                </a:solidFill>
                <a:latin typeface="Calibri" pitchFamily="34" charset="0"/>
                <a:ea typeface="Calibri" pitchFamily="34" charset="-122"/>
                <a:cs typeface="Calibri" pitchFamily="34" charset="-120"/>
              </a:rPr>
              <a:t>No es un skill.</a:t>
            </a:r>
            <a:endParaRPr lang="en-US" sz="1600" dirty="0"/>
          </a:p>
          <a:p>
            <a:pPr algn="ctr" indent="0" marL="0">
              <a:buNone/>
            </a:pPr>
            <a:r>
              <a:rPr lang="en-US" sz="1600" dirty="0">
                <a:solidFill>
                  <a:srgbClr val="FFFFFF"/>
                </a:solidFill>
                <a:latin typeface="Calibri" pitchFamily="34" charset="0"/>
                <a:ea typeface="Calibri" pitchFamily="34" charset="-122"/>
                <a:cs typeface="Calibri" pitchFamily="34" charset="-120"/>
              </a:rPr>
              <a:t>No es un agente.</a:t>
            </a:r>
            <a:endParaRPr lang="en-US" sz="1600" dirty="0"/>
          </a:p>
          <a:p>
            <a:pPr algn="ctr" indent="0" marL="0">
              <a:buNone/>
            </a:pPr>
            <a:endParaRPr lang="en-US" sz="1600" dirty="0"/>
          </a:p>
          <a:p>
            <a:pPr algn="ctr" indent="0" marL="0">
              <a:buNone/>
            </a:pPr>
            <a:r>
              <a:rPr lang="en-US" sz="1600" dirty="0">
                <a:solidFill>
                  <a:srgbClr val="FFFFFF"/>
                </a:solidFill>
                <a:latin typeface="Calibri" pitchFamily="34" charset="0"/>
                <a:ea typeface="Calibri" pitchFamily="34" charset="-122"/>
                <a:cs typeface="Calibri" pitchFamily="34" charset="-120"/>
              </a:rPr>
              <a:t>Es que tu sistema de Growth mejora contigo.</a:t>
            </a:r>
            <a:endParaRPr lang="en-US" sz="1600" dirty="0"/>
          </a:p>
          <a:p>
            <a:pPr algn="ctr" indent="0" marL="0">
              <a:buNone/>
            </a:pPr>
            <a:r>
              <a:rPr lang="en-US" sz="1600" dirty="0">
                <a:solidFill>
                  <a:srgbClr val="FFFFFF"/>
                </a:solidFill>
                <a:latin typeface="Calibri" pitchFamily="34" charset="0"/>
                <a:ea typeface="Calibri" pitchFamily="34" charset="-122"/>
                <a:cs typeface="Calibri" pitchFamily="34" charset="-120"/>
              </a:rPr>
              <a:t>Cada semana que lo usas, Claude entiende mejor tu negocio.</a:t>
            </a:r>
            <a:endParaRPr lang="en-US" sz="1600" dirty="0"/>
          </a:p>
          <a:p>
            <a:pPr algn="ctr" indent="0" marL="0">
              <a:buNone/>
            </a:pPr>
            <a:r>
              <a:rPr lang="en-US" sz="1600" dirty="0">
                <a:solidFill>
                  <a:srgbClr val="FFFFFF"/>
                </a:solidFill>
                <a:latin typeface="Calibri" pitchFamily="34" charset="0"/>
                <a:ea typeface="Calibri" pitchFamily="34" charset="-122"/>
                <a:cs typeface="Calibri" pitchFamily="34" charset="-120"/>
              </a:rPr>
              <a:t>Cada skill que iteras, produce mejor.</a:t>
            </a:r>
            <a:endParaRPr lang="en-US" sz="1600" dirty="0"/>
          </a:p>
          <a:p>
            <a:pPr algn="ctr" indent="0" marL="0">
              <a:buNone/>
            </a:pPr>
            <a:r>
              <a:rPr lang="en-US" sz="1600" dirty="0">
                <a:solidFill>
                  <a:srgbClr val="FFFFFF"/>
                </a:solidFill>
                <a:latin typeface="Calibri" pitchFamily="34" charset="0"/>
                <a:ea typeface="Calibri" pitchFamily="34" charset="-122"/>
                <a:cs typeface="Calibri" pitchFamily="34" charset="-120"/>
              </a:rPr>
              <a:t>Cada agente que ajustas, piensa más alineado a tu estrategia.</a:t>
            </a:r>
            <a:endParaRPr lang="en-US" sz="1600" dirty="0"/>
          </a:p>
        </p:txBody>
      </p:sp>
      <p:sp>
        <p:nvSpPr>
          <p:cNvPr id="7" name="Shape 5"/>
          <p:cNvSpPr/>
          <p:nvPr/>
        </p:nvSpPr>
        <p:spPr>
          <a:xfrm>
            <a:off x="457200" y="4937760"/>
            <a:ext cx="11274552" cy="731520"/>
          </a:xfrm>
          <a:prstGeom prst="rect">
            <a:avLst/>
          </a:prstGeom>
          <a:solidFill>
            <a:srgbClr val="FF6B00"/>
          </a:solidFill>
          <a:ln/>
        </p:spPr>
      </p:sp>
      <p:sp>
        <p:nvSpPr>
          <p:cNvPr id="8" name="Text 6"/>
          <p:cNvSpPr/>
          <p:nvPr/>
        </p:nvSpPr>
        <p:spPr>
          <a:xfrm>
            <a:off x="457200" y="4937760"/>
            <a:ext cx="11274552" cy="731520"/>
          </a:xfrm>
          <a:prstGeom prst="rect">
            <a:avLst/>
          </a:prstGeom>
          <a:noFill/>
          <a:ln/>
        </p:spPr>
        <p:txBody>
          <a:bodyPr wrap="square" rtlCol="0" anchor="ctr"/>
          <a:lstStyle/>
          <a:p>
            <a:pPr algn="ctr" indent="0" marL="0">
              <a:buNone/>
            </a:pPr>
            <a:r>
              <a:rPr lang="en-US" sz="1800" b="1" dirty="0">
                <a:solidFill>
                  <a:srgbClr val="000000"/>
                </a:solidFill>
                <a:latin typeface="Arial Black" pitchFamily="34" charset="0"/>
                <a:ea typeface="Arial Black" pitchFamily="34" charset="-122"/>
                <a:cs typeface="Arial Black" pitchFamily="34" charset="-120"/>
              </a:rPr>
              <a:t>Empezaste esta semana. No pares. Nos vemos en el grupo.</a:t>
            </a:r>
            <a:endParaRPr lang="en-US" sz="1800" dirty="0"/>
          </a:p>
        </p:txBody>
      </p:sp>
      <p:sp>
        <p:nvSpPr>
          <p:cNvPr id="9" name="Text 7"/>
          <p:cNvSpPr/>
          <p:nvPr/>
        </p:nvSpPr>
        <p:spPr>
          <a:xfrm>
            <a:off x="457200" y="5943600"/>
            <a:ext cx="11274552" cy="54864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Claude para Growth — Clase 12 de 12</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2026-03-25T18:19:42Z</dcterms:created>
  <dcterms:modified xsi:type="dcterms:W3CDTF">2026-03-25T18:19:42Z</dcterms:modified>
</cp:coreProperties>
</file>