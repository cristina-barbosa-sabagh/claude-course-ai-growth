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 al curso.
Antes de explicarte qué vas a aprender, te voy a decir qué vas a dejar de hacer:
vas a dejar de perder horas generando copies que nadie aprueba,
de escribir briefs que no producen nada usable,
y de pedirle a Claude cosas genéricas y recibir outputs genéricos.
Este módulo es de fundamentos. Pero no de teoría — de configuración.
Al final de estas tres clases, Claude va a trabajar como si te conociera de años.
Esta clase es el primer paso.
Doce minutos. Sin relleno.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 a darte tres casos reales. No hipotéticos. Los tres pasan en operaciones de Growth reales hoy.
Caso 1 — Adquisición: Hoy tu equipo necesita 5 variaciones de copy para una campaña de Meta. Alguien redacta un brief. Alguien más escribe las variaciones. Hay revisiones. Tarda un día, a veces dos.
Con Claude bien configurado: pegas las métricas de tu campaña actual, el ICP y el objetivo. En 3 minutos tienes 5 variaciones con ángulos diferentes, hooks y CTAs — listas para subir.
Ese es el primer cambio de mentalidad que necesitas: Claude no es un asistente de escritura. Es una máquina de producción de Growth configurada para tu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 a darte tres casos reales. No hipotéticos. Los tres pasan en operaciones de Growth reales hoy.
Caso 2 — Retención: Hoy un usuario no completó onboarding. ¿Qué le mandas? La mayoría de equipos tiene una secuencia genérica de 3 emails que escribieron hace 8 meses. Con Claude: le describes tu producto, tu ICP, el punto exacto donde se cayó el usuario, y en 15 minutos tienes una secuencia de 5 emails personalizada al comportamiento de ese segmento. Lista para cargar en Klaviyo o Mailchimp.
Caso 3 — Revenue: Hoy ¿cuándo y cómo le ofreces un upsell a un usuario activo? La mayoría lo hace por intuición o por reglas fijas — "a los 30 días" — sin contexto. Con Claude: defines el patrón de comportamiento que indica intención de expansión, le das los datos, y Claude te da el momento exacto, el mensaje exacto y el canal correcto.
Tres áreas. El mismo patrón en todas: lo que tardaba días ahora tarda minutos. Y no porque Claude haga magia — sino porque tú vas a aprender a hablarle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áreas. El mismo patrón en todas: lo que tardaba días ahora tarda minutos. Y no porque Claude haga magia — sino porque tú vas a aprender a hablarle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primer cambio de mentalidad que necesitas. Claude no es un chatbot. Cuando está bien configurado con tu contexto, opera como un miembro senior de tu equipo que conoce tu ICP, tus métricas y tu tono.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pregunta que me hacen siempre. Y la respuesta corta es: no es una cuestión de calidad de redacción. Es una cuestión de arquitectura para el trabajo continuo.
Diferencia 1 — Memoria de contexto: ChatGPT olvida. Cada conversación empieza desde cero. Si no pegas tu ICP, tu producto y tus métricas en cada prompt, el output es genérico. Claude tiene Projects. Un Project es un espacio donde cargas el contexto de tu negocio una sola vez. Desde ese momento, Claude trabaja con ese contexto en cada conversación. No repites. No explicas. Solo pides.
Diferencia 2 — Instrucciones de sistema: Claude acepta instrucciones de sistema persistentes: un bloque de texto donde defines quién eres, cuál es tu ICP, qué métricas importan, cuál es tu tono de marca y qué NO quieres. Cada respuesta de Claude queda alineada a esas instrucciones sin que tú lo pidas cada vez.
Diferencia 3 — Razonamiento estratégico: Claude no solo genera texto. Puede razonar sobre decisiones de Growth: leer tus métricas, identificar dónde se cae el funnel, proponer el experimento correcto. No como consultor que cobra 10 mil dólares la hora. Como alguien en tu equipo que entiende tu negocio y puede pensar contigo.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tiene Projects. Un Project es un espacio donde cargas el contexto de tu negocio una sola vez. Desde ese momento, Claude trabaja con ese contexto en cada conversación. No repites. No explicas. Solo pides.
Para un Chief of Growth que opera con velocidad, esa diferencia vale horas a la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 a mostrarte exactamente lo que puedes hacer tú, hoy, en los próximos 5 minutos. Sin cuenta de pago. Sin configuración. Cero fricción.
Noto lo siguiente mientras hago esto:
— No describí mi producto en detalle
— No di contexto de mercado
— No expliqué nada que un equipo de Growth no sepa ya
Y aun así, el output es usable. No perfecto — pero usable.
Eso es lo que te da Claude sin ninguna configuración.
En la clase 3 vamos a cargarle TODO tu contexto. Cuando eso pase, el output no va a ser "usable" — va a ser "listo para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acabas de ver no es una demo de producto. Es el punto de partida de tu operación de Growth con IA.
Tu tarea para antes de la próxima clase: completa el checklist de activación que te dejamos como entregable. Diez pasos. Quince minutos. Al final de eso, Claude está listo para trabajar contigo.
No lo postergues. Hazlo ahora.
Clase 2: aprendemos a hablarle a Claude para obtener outputs de elite. El brief perfecto. Nos vemos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acabas de ver no es una demo de producto. Es el punto de partida de tu operación de Growth con IA.
Tu tarea para antes de la próxima clase: completa el checklist de activación que te dejamos como entregable. Diez pasos. Quince minutos. Al final de eso, Claude está listo para trabajar contigo.
Clase 2: aprendemos a hablarle a Claude para obtener outputs de elite. El brief perfecto. Nos vemos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Text 1"/>
          <p:cNvSpPr/>
          <p:nvPr/>
        </p:nvSpPr>
        <p:spPr>
          <a:xfrm>
            <a:off x="640080" y="502920"/>
            <a:ext cx="10972800" cy="365760"/>
          </a:xfrm>
          <a:prstGeom prst="rect">
            <a:avLst/>
          </a:prstGeom>
          <a:noFill/>
          <a:ln/>
        </p:spPr>
        <p:txBody>
          <a:bodyPr wrap="square" rtlCol="0" anchor="ctr"/>
          <a:lstStyle/>
          <a:p>
            <a:pPr algn="l" indent="0" marL="0">
              <a:buNone/>
            </a:pPr>
            <a:r>
              <a:rPr lang="en-US" sz="1300" dirty="0">
                <a:solidFill>
                  <a:srgbClr val="FF6B00"/>
                </a:solidFill>
                <a:latin typeface="Calibri" pitchFamily="34" charset="0"/>
                <a:ea typeface="Calibri" pitchFamily="34" charset="-122"/>
                <a:cs typeface="Calibri" pitchFamily="34" charset="-120"/>
              </a:rPr>
              <a:t>MÓDULO 01 · CLASE 01</a:t>
            </a:r>
            <a:endParaRPr lang="en-US" sz="1300" dirty="0"/>
          </a:p>
        </p:txBody>
      </p:sp>
      <p:sp>
        <p:nvSpPr>
          <p:cNvPr id="4" name="Text 2"/>
          <p:cNvSpPr/>
          <p:nvPr/>
        </p:nvSpPr>
        <p:spPr>
          <a:xfrm>
            <a:off x="640080" y="1188720"/>
            <a:ext cx="10881360" cy="2560320"/>
          </a:xfrm>
          <a:prstGeom prst="rect">
            <a:avLst/>
          </a:prstGeom>
          <a:noFill/>
          <a:ln/>
        </p:spPr>
        <p:txBody>
          <a:bodyPr wrap="square" rtlCol="0" anchor="t"/>
          <a:lstStyle/>
          <a:p>
            <a:pPr algn="l" indent="0" marL="0">
              <a:buNone/>
            </a:pPr>
            <a:r>
              <a:rPr lang="en-US" sz="4400" b="1" dirty="0">
                <a:solidFill>
                  <a:srgbClr val="FF0000"/>
                </a:solidFill>
                <a:latin typeface="Arial Black" pitchFamily="34" charset="0"/>
                <a:ea typeface="Arial Black" pitchFamily="34" charset="-122"/>
                <a:cs typeface="Arial Black" pitchFamily="34" charset="-120"/>
              </a:rPr>
              <a:t>Claude para Growth:</a:t>
            </a:r>
            <a:endParaRPr lang="en-US" sz="4400" dirty="0"/>
          </a:p>
          <a:p>
            <a:pPr algn="l" indent="0" marL="0">
              <a:buNone/>
            </a:pPr>
            <a:r>
              <a:rPr lang="en-US" sz="4400" b="1" dirty="0">
                <a:solidFill>
                  <a:srgbClr val="FF0000"/>
                </a:solidFill>
                <a:latin typeface="Arial Black" pitchFamily="34" charset="0"/>
                <a:ea typeface="Arial Black" pitchFamily="34" charset="-122"/>
                <a:cs typeface="Arial Black" pitchFamily="34" charset="-120"/>
              </a:rPr>
              <a:t>qué cambia y por qué importa ahora</a:t>
            </a:r>
            <a:endParaRPr lang="en-US" sz="4400" dirty="0"/>
          </a:p>
        </p:txBody>
      </p:sp>
      <p:sp>
        <p:nvSpPr>
          <p:cNvPr id="5" name="Text 3"/>
          <p:cNvSpPr/>
          <p:nvPr/>
        </p:nvSpPr>
        <p:spPr>
          <a:xfrm>
            <a:off x="640080" y="4023360"/>
            <a:ext cx="9144000" cy="1645920"/>
          </a:xfrm>
          <a:prstGeom prst="rect">
            <a:avLst/>
          </a:prstGeom>
          <a:noFill/>
          <a:ln/>
        </p:spPr>
        <p:txBody>
          <a:bodyPr wrap="square" rtlCol="0" anchor="ctr"/>
          <a:lstStyle/>
          <a:p>
            <a:pPr algn="l" indent="0" marL="0">
              <a:buNone/>
            </a:pPr>
            <a:r>
              <a:rPr lang="en-US" sz="1800" dirty="0">
                <a:solidFill>
                  <a:srgbClr val="FFFFFF"/>
                </a:solidFill>
                <a:latin typeface="Calibri" pitchFamily="34" charset="0"/>
                <a:ea typeface="Calibri" pitchFamily="34" charset="-122"/>
                <a:cs typeface="Calibri" pitchFamily="34" charset="-120"/>
              </a:rPr>
              <a:t>Instructor A · 12 minutos · De cero a tu primera máquina de producción con IA</a:t>
            </a:r>
            <a:endParaRPr lang="en-US" sz="1800" dirty="0"/>
          </a:p>
        </p:txBody>
      </p:sp>
      <p:sp>
        <p:nvSpPr>
          <p:cNvPr id="6" name="Shape 4"/>
          <p:cNvSpPr/>
          <p:nvPr/>
        </p:nvSpPr>
        <p:spPr>
          <a:xfrm>
            <a:off x="0" y="6675120"/>
            <a:ext cx="12188952" cy="182880"/>
          </a:xfrm>
          <a:prstGeom prst="rect">
            <a:avLst/>
          </a:prstGeom>
          <a:solidFill>
            <a:srgbClr val="FF6B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566160" y="640080"/>
            <a:ext cx="5029200" cy="5029200"/>
          </a:xfrm>
          <a:prstGeom prst="ellipse">
            <a:avLst/>
          </a:prstGeom>
          <a:solidFill>
            <a:srgbClr val="FF0000"/>
          </a:solidFill>
          <a:ln w="38100">
            <a:solidFill>
              <a:srgbClr val="FF6B00"/>
            </a:solidFill>
            <a:prstDash val="solid"/>
          </a:ln>
        </p:spPr>
      </p:sp>
      <p:sp>
        <p:nvSpPr>
          <p:cNvPr id="3" name="Text 1"/>
          <p:cNvSpPr/>
          <p:nvPr/>
        </p:nvSpPr>
        <p:spPr>
          <a:xfrm>
            <a:off x="1371600" y="1188720"/>
            <a:ext cx="9418320" cy="2926080"/>
          </a:xfrm>
          <a:prstGeom prst="rect">
            <a:avLst/>
          </a:prstGeom>
          <a:noFill/>
          <a:ln/>
        </p:spPr>
        <p:txBody>
          <a:bodyPr wrap="square" rtlCol="0" anchor="ctr"/>
          <a:lstStyle/>
          <a:p>
            <a:pPr algn="ctr" indent="0" marL="0">
              <a:buNone/>
            </a:pPr>
            <a:r>
              <a:rPr lang="en-US" sz="8800" b="1" dirty="0">
                <a:solidFill>
                  <a:srgbClr val="EEFF89"/>
                </a:solidFill>
                <a:latin typeface="Arial Black" pitchFamily="34" charset="0"/>
                <a:ea typeface="Arial Black" pitchFamily="34" charset="-122"/>
                <a:cs typeface="Arial Black" pitchFamily="34" charset="-120"/>
              </a:rPr>
              <a:t>3 min</a:t>
            </a:r>
            <a:endParaRPr lang="en-US" sz="8800" dirty="0"/>
          </a:p>
        </p:txBody>
      </p:sp>
      <p:sp>
        <p:nvSpPr>
          <p:cNvPr id="4" name="Text 2"/>
          <p:cNvSpPr/>
          <p:nvPr/>
        </p:nvSpPr>
        <p:spPr>
          <a:xfrm>
            <a:off x="1371600" y="3931920"/>
            <a:ext cx="9418320" cy="914400"/>
          </a:xfrm>
          <a:prstGeom prst="rect">
            <a:avLst/>
          </a:prstGeom>
          <a:noFill/>
          <a:ln/>
        </p:spPr>
        <p:txBody>
          <a:bodyPr wrap="square" rtlCol="0" anchor="ctr"/>
          <a:lstStyle/>
          <a:p>
            <a:pPr algn="ctr" indent="0" marL="0">
              <a:buNone/>
            </a:pPr>
            <a:r>
              <a:rPr lang="en-US" sz="2400" b="1" dirty="0">
                <a:solidFill>
                  <a:srgbClr val="FFFFFF"/>
                </a:solidFill>
                <a:latin typeface="Arial Black" pitchFamily="34" charset="0"/>
                <a:ea typeface="Arial Black" pitchFamily="34" charset="-122"/>
                <a:cs typeface="Arial Black" pitchFamily="34" charset="-120"/>
              </a:rPr>
              <a:t>De brief a 5 variaciones de copy listas para subir a Meta</a:t>
            </a:r>
            <a:endParaRPr lang="en-US" sz="2400" dirty="0"/>
          </a:p>
        </p:txBody>
      </p:sp>
      <p:sp>
        <p:nvSpPr>
          <p:cNvPr id="5" name="Text 3"/>
          <p:cNvSpPr/>
          <p:nvPr/>
        </p:nvSpPr>
        <p:spPr>
          <a:xfrm>
            <a:off x="1371600" y="5029200"/>
            <a:ext cx="9418320" cy="1097280"/>
          </a:xfrm>
          <a:prstGeom prst="rect">
            <a:avLst/>
          </a:prstGeom>
          <a:noFill/>
          <a:ln/>
        </p:spPr>
        <p:txBody>
          <a:bodyPr wrap="square" rtlCol="0" anchor="ctr"/>
          <a:lstStyle/>
          <a:p>
            <a:pPr algn="ctr" indent="0" marL="0">
              <a:buNone/>
            </a:pPr>
            <a:r>
              <a:rPr lang="en-US" sz="1500" dirty="0">
                <a:solidFill>
                  <a:srgbClr val="FF6B00"/>
                </a:solidFill>
                <a:latin typeface="Calibri" pitchFamily="34" charset="0"/>
                <a:ea typeface="Calibri" pitchFamily="34" charset="-122"/>
                <a:cs typeface="Calibri" pitchFamily="34" charset="-120"/>
              </a:rPr>
              <a:t>Lo que hoy tarda 1–2 días, con Claude bien configurado tarda minutos — no como punto de partida, listas para producción.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0000"/>
          </a:solidFill>
          <a:ln/>
        </p:spPr>
      </p:sp>
      <p:sp>
        <p:nvSpPr>
          <p:cNvPr id="3" name="Text 1"/>
          <p:cNvSpPr/>
          <p:nvPr/>
        </p:nvSpPr>
        <p:spPr>
          <a:xfrm>
            <a:off x="365760" y="73152"/>
            <a:ext cx="11430000" cy="804672"/>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Tres áreas, el mismo patrón: días → minutos</a:t>
            </a:r>
            <a:endParaRPr lang="en-US" sz="2600" dirty="0"/>
          </a:p>
        </p:txBody>
      </p:sp>
      <p:sp>
        <p:nvSpPr>
          <p:cNvPr id="4" name="Shape 2"/>
          <p:cNvSpPr/>
          <p:nvPr/>
        </p:nvSpPr>
        <p:spPr>
          <a:xfrm>
            <a:off x="274320" y="1097280"/>
            <a:ext cx="3474720" cy="640080"/>
          </a:xfrm>
          <a:prstGeom prst="rect">
            <a:avLst/>
          </a:prstGeom>
          <a:solidFill>
            <a:srgbClr val="FF0000"/>
          </a:solidFill>
          <a:ln/>
        </p:spPr>
      </p:sp>
      <p:sp>
        <p:nvSpPr>
          <p:cNvPr id="5" name="Text 3"/>
          <p:cNvSpPr/>
          <p:nvPr/>
        </p:nvSpPr>
        <p:spPr>
          <a:xfrm>
            <a:off x="274320" y="1097280"/>
            <a:ext cx="3474720" cy="64008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ADQUISICIÓN</a:t>
            </a:r>
            <a:endParaRPr lang="en-US" sz="1400" dirty="0"/>
          </a:p>
        </p:txBody>
      </p:sp>
      <p:sp>
        <p:nvSpPr>
          <p:cNvPr id="6" name="Shape 4"/>
          <p:cNvSpPr/>
          <p:nvPr/>
        </p:nvSpPr>
        <p:spPr>
          <a:xfrm>
            <a:off x="274320" y="1737360"/>
            <a:ext cx="3474720" cy="4846320"/>
          </a:xfrm>
          <a:prstGeom prst="rect">
            <a:avLst/>
          </a:prstGeom>
          <a:solidFill>
            <a:srgbClr val="F7F7F7"/>
          </a:solidFill>
          <a:ln/>
        </p:spPr>
      </p:sp>
      <p:sp>
        <p:nvSpPr>
          <p:cNvPr id="7" name="Text 5"/>
          <p:cNvSpPr/>
          <p:nvPr/>
        </p:nvSpPr>
        <p:spPr>
          <a:xfrm>
            <a:off x="411480" y="1874520"/>
            <a:ext cx="3200400" cy="4480560"/>
          </a:xfrm>
          <a:prstGeom prst="rect">
            <a:avLst/>
          </a:prstGeom>
          <a:noFill/>
          <a:ln/>
        </p:spPr>
        <p:txBody>
          <a:bodyPr wrap="square" rtlCol="0" anchor="t"/>
          <a:lstStyle/>
          <a:p>
            <a:pPr>
              <a:spcBef>
                <a:spcPts val="600"/>
              </a:spcBef>
            </a:pPr>
            <a:r>
              <a:rPr lang="en-US" sz="1300" dirty="0">
                <a:solidFill>
                  <a:srgbClr val="000000"/>
                </a:solidFill>
                <a:latin typeface="Calibri" pitchFamily="34" charset="0"/>
                <a:ea typeface="Calibri" pitchFamily="34" charset="-122"/>
                <a:cs typeface="Calibri" pitchFamily="34" charset="-120"/>
              </a:rPr>
              <a:t>Brief de copy para Meta</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5 variaciones: ángulos, hooks y CTAs diferentes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Hoy: 1–2 días con revisiones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Con Claude: 3 minutos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Output listo para subir — no borrador</a:t>
            </a:r>
            <a:endParaRPr lang="en-US" sz="1300" dirty="0"/>
          </a:p>
        </p:txBody>
      </p:sp>
      <p:sp>
        <p:nvSpPr>
          <p:cNvPr id="8" name="Shape 6"/>
          <p:cNvSpPr/>
          <p:nvPr/>
        </p:nvSpPr>
        <p:spPr>
          <a:xfrm>
            <a:off x="4361688" y="1097280"/>
            <a:ext cx="3474720" cy="640080"/>
          </a:xfrm>
          <a:prstGeom prst="rect">
            <a:avLst/>
          </a:prstGeom>
          <a:solidFill>
            <a:srgbClr val="FF6B00"/>
          </a:solidFill>
          <a:ln/>
        </p:spPr>
      </p:sp>
      <p:sp>
        <p:nvSpPr>
          <p:cNvPr id="9" name="Text 7"/>
          <p:cNvSpPr/>
          <p:nvPr/>
        </p:nvSpPr>
        <p:spPr>
          <a:xfrm>
            <a:off x="4361688" y="1097280"/>
            <a:ext cx="3474720" cy="64008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RETENCIÓN</a:t>
            </a:r>
            <a:endParaRPr lang="en-US" sz="1400" dirty="0"/>
          </a:p>
        </p:txBody>
      </p:sp>
      <p:sp>
        <p:nvSpPr>
          <p:cNvPr id="10" name="Shape 8"/>
          <p:cNvSpPr/>
          <p:nvPr/>
        </p:nvSpPr>
        <p:spPr>
          <a:xfrm>
            <a:off x="4361688" y="1737360"/>
            <a:ext cx="3474720" cy="4846320"/>
          </a:xfrm>
          <a:prstGeom prst="rect">
            <a:avLst/>
          </a:prstGeom>
          <a:solidFill>
            <a:srgbClr val="F7F7F7"/>
          </a:solidFill>
          <a:ln/>
        </p:spPr>
      </p:sp>
      <p:sp>
        <p:nvSpPr>
          <p:cNvPr id="11" name="Text 9"/>
          <p:cNvSpPr/>
          <p:nvPr/>
        </p:nvSpPr>
        <p:spPr>
          <a:xfrm>
            <a:off x="4498848" y="1874520"/>
            <a:ext cx="3200400" cy="4480560"/>
          </a:xfrm>
          <a:prstGeom prst="rect">
            <a:avLst/>
          </a:prstGeom>
          <a:noFill/>
          <a:ln/>
        </p:spPr>
        <p:txBody>
          <a:bodyPr wrap="square" rtlCol="0" anchor="t"/>
          <a:lstStyle/>
          <a:p>
            <a:pPr>
              <a:spcBef>
                <a:spcPts val="600"/>
              </a:spcBef>
            </a:pPr>
            <a:r>
              <a:rPr lang="en-US" sz="1300" dirty="0">
                <a:solidFill>
                  <a:srgbClr val="000000"/>
                </a:solidFill>
                <a:latin typeface="Calibri" pitchFamily="34" charset="0"/>
                <a:ea typeface="Calibri" pitchFamily="34" charset="-122"/>
                <a:cs typeface="Calibri" pitchFamily="34" charset="-120"/>
              </a:rPr>
              <a:t>Usuario no completó onboarding</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Secuencia de 5 emails personalizada</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Hoy: template genérico de hace 8 meses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Con Claude: 15 minutos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Listo para cargar en Klaviyo o Mailchimp</a:t>
            </a:r>
            <a:endParaRPr lang="en-US" sz="1300" dirty="0"/>
          </a:p>
        </p:txBody>
      </p:sp>
      <p:sp>
        <p:nvSpPr>
          <p:cNvPr id="12" name="Shape 10"/>
          <p:cNvSpPr/>
          <p:nvPr/>
        </p:nvSpPr>
        <p:spPr>
          <a:xfrm>
            <a:off x="8439912" y="1097280"/>
            <a:ext cx="3474720" cy="640080"/>
          </a:xfrm>
          <a:prstGeom prst="rect">
            <a:avLst/>
          </a:prstGeom>
          <a:solidFill>
            <a:srgbClr val="555555"/>
          </a:solidFill>
          <a:ln/>
        </p:spPr>
      </p:sp>
      <p:sp>
        <p:nvSpPr>
          <p:cNvPr id="13" name="Text 11"/>
          <p:cNvSpPr/>
          <p:nvPr/>
        </p:nvSpPr>
        <p:spPr>
          <a:xfrm>
            <a:off x="8439912" y="1097280"/>
            <a:ext cx="3474720" cy="64008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REVENUE</a:t>
            </a:r>
            <a:endParaRPr lang="en-US" sz="1400" dirty="0"/>
          </a:p>
        </p:txBody>
      </p:sp>
      <p:sp>
        <p:nvSpPr>
          <p:cNvPr id="14" name="Shape 12"/>
          <p:cNvSpPr/>
          <p:nvPr/>
        </p:nvSpPr>
        <p:spPr>
          <a:xfrm>
            <a:off x="8439912" y="1737360"/>
            <a:ext cx="3474720" cy="4846320"/>
          </a:xfrm>
          <a:prstGeom prst="rect">
            <a:avLst/>
          </a:prstGeom>
          <a:solidFill>
            <a:srgbClr val="F7F7F7"/>
          </a:solidFill>
          <a:ln/>
        </p:spPr>
      </p:sp>
      <p:sp>
        <p:nvSpPr>
          <p:cNvPr id="15" name="Text 13"/>
          <p:cNvSpPr/>
          <p:nvPr/>
        </p:nvSpPr>
        <p:spPr>
          <a:xfrm>
            <a:off x="8577072" y="1874520"/>
            <a:ext cx="3200400" cy="4480560"/>
          </a:xfrm>
          <a:prstGeom prst="rect">
            <a:avLst/>
          </a:prstGeom>
          <a:noFill/>
          <a:ln/>
        </p:spPr>
        <p:txBody>
          <a:bodyPr wrap="square" rtlCol="0" anchor="t"/>
          <a:lstStyle/>
          <a:p>
            <a:pPr>
              <a:spcBef>
                <a:spcPts val="600"/>
              </a:spcBef>
            </a:pPr>
            <a:r>
              <a:rPr lang="en-US" sz="1300" dirty="0">
                <a:solidFill>
                  <a:srgbClr val="000000"/>
                </a:solidFill>
                <a:latin typeface="Calibri" pitchFamily="34" charset="0"/>
                <a:ea typeface="Calibri" pitchFamily="34" charset="-122"/>
                <a:cs typeface="Calibri" pitchFamily="34" charset="-120"/>
              </a:rPr>
              <a:t>Upsell a usuario activo</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Momento exacto + mensaje + canal correcto</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Hoy: intuición o regla fija ("a los 30 días")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Con Claude: análisis de patrón de comportamiento</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Decisión basada en datos, no en rutina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0000"/>
          </a:solidFill>
          <a:ln/>
        </p:spPr>
      </p:sp>
      <p:sp>
        <p:nvSpPr>
          <p:cNvPr id="3" name="Text 1"/>
          <p:cNvSpPr/>
          <p:nvPr/>
        </p:nvSpPr>
        <p:spPr>
          <a:xfrm>
            <a:off x="365760" y="73152"/>
            <a:ext cx="11430000" cy="804672"/>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La realidad de tu operación de Growth: Hoy vs. Con Claude</a:t>
            </a:r>
            <a:endParaRPr lang="en-US" sz="2600" dirty="0"/>
          </a:p>
        </p:txBody>
      </p:sp>
      <p:sp>
        <p:nvSpPr>
          <p:cNvPr id="4" name="Shape 2"/>
          <p:cNvSpPr/>
          <p:nvPr/>
        </p:nvSpPr>
        <p:spPr>
          <a:xfrm>
            <a:off x="274320" y="1097280"/>
            <a:ext cx="5394960" cy="5486400"/>
          </a:xfrm>
          <a:prstGeom prst="rect">
            <a:avLst/>
          </a:prstGeom>
          <a:solidFill>
            <a:srgbClr val="1A1A1A"/>
          </a:solidFill>
          <a:ln/>
        </p:spPr>
      </p:sp>
      <p:sp>
        <p:nvSpPr>
          <p:cNvPr id="5" name="Text 3"/>
          <p:cNvSpPr/>
          <p:nvPr/>
        </p:nvSpPr>
        <p:spPr>
          <a:xfrm>
            <a:off x="274320" y="1097280"/>
            <a:ext cx="5394960" cy="54864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ANTES</a:t>
            </a:r>
            <a:endParaRPr lang="en-US" sz="1800" dirty="0"/>
          </a:p>
        </p:txBody>
      </p:sp>
      <p:sp>
        <p:nvSpPr>
          <p:cNvPr id="6" name="Shape 4"/>
          <p:cNvSpPr/>
          <p:nvPr/>
        </p:nvSpPr>
        <p:spPr>
          <a:xfrm>
            <a:off x="274320" y="1645920"/>
            <a:ext cx="5394960" cy="36576"/>
          </a:xfrm>
          <a:prstGeom prst="rect">
            <a:avLst/>
          </a:prstGeom>
          <a:solidFill>
            <a:srgbClr val="FF6B00"/>
          </a:solidFill>
          <a:ln/>
        </p:spPr>
      </p:sp>
      <p:sp>
        <p:nvSpPr>
          <p:cNvPr id="7" name="Text 5"/>
          <p:cNvSpPr/>
          <p:nvPr/>
        </p:nvSpPr>
        <p:spPr>
          <a:xfrm>
            <a:off x="457200" y="1783080"/>
            <a:ext cx="5029200" cy="4572000"/>
          </a:xfrm>
          <a:prstGeom prst="rect">
            <a:avLst/>
          </a:prstGeom>
          <a:noFill/>
          <a:ln/>
        </p:spPr>
        <p:txBody>
          <a:bodyPr wrap="square" rtlCol="0" anchor="t"/>
          <a:lstStyle/>
          <a:p>
            <a:pPr>
              <a:spcBef>
                <a:spcPts val="600"/>
              </a:spcBef>
            </a:pPr>
            <a:r>
              <a:rPr lang="en-US" sz="1300" dirty="0">
                <a:solidFill>
                  <a:srgbClr val="CCCCCC"/>
                </a:solidFill>
                <a:latin typeface="Calibri" pitchFamily="34" charset="0"/>
                <a:ea typeface="Calibri" pitchFamily="34" charset="-122"/>
                <a:cs typeface="Calibri" pitchFamily="34" charset="-120"/>
              </a:rPr>
              <a:t>Brief → revisión → redacción → aprobación: 1–2 días</a:t>
            </a:r>
            <a:endParaRPr lang="en-US" sz="1300" dirty="0"/>
          </a:p>
          <a:p>
            <a:pPr>
              <a:spcBef>
                <a:spcPts val="600"/>
              </a:spcBef>
            </a:pPr>
            <a:r>
              <a:rPr lang="en-US" sz="1300" dirty="0">
                <a:solidFill>
                  <a:srgbClr val="CCCCCC"/>
                </a:solidFill>
                <a:latin typeface="Calibri" pitchFamily="34" charset="0"/>
                <a:ea typeface="Calibri" pitchFamily="34" charset="-122"/>
                <a:cs typeface="Calibri" pitchFamily="34" charset="-120"/>
              </a:rPr>
              <a:t>Secuencias de email genéricas de hace meses</a:t>
            </a:r>
            <a:endParaRPr lang="en-US" sz="1300" dirty="0"/>
          </a:p>
          <a:p>
            <a:pPr>
              <a:spcBef>
                <a:spcPts val="600"/>
              </a:spcBef>
            </a:pPr>
            <a:r>
              <a:rPr lang="en-US" sz="1300" dirty="0">
                <a:solidFill>
                  <a:srgbClr val="CCCCCC"/>
                </a:solidFill>
                <a:latin typeface="Calibri" pitchFamily="34" charset="0"/>
                <a:ea typeface="Calibri" pitchFamily="34" charset="-122"/>
                <a:cs typeface="Calibri" pitchFamily="34" charset="-120"/>
              </a:rPr>
              <a:t>Upsell por intuición o reglas fijas sin contexto</a:t>
            </a:r>
            <a:endParaRPr lang="en-US" sz="1300" dirty="0"/>
          </a:p>
          <a:p>
            <a:pPr>
              <a:spcBef>
                <a:spcPts val="600"/>
              </a:spcBef>
            </a:pPr>
            <a:r>
              <a:rPr lang="en-US" sz="1300" dirty="0">
                <a:solidFill>
                  <a:srgbClr val="CCCCCC"/>
                </a:solidFill>
                <a:latin typeface="Calibri" pitchFamily="34" charset="0"/>
                <a:ea typeface="Calibri" pitchFamily="34" charset="-122"/>
                <a:cs typeface="Calibri" pitchFamily="34" charset="-120"/>
              </a:rPr>
              <a:t>Cada tarea requiere coordinar 2–3 personas</a:t>
            </a:r>
            <a:endParaRPr lang="en-US" sz="1300" dirty="0"/>
          </a:p>
          <a:p>
            <a:pPr>
              <a:spcBef>
                <a:spcPts val="600"/>
              </a:spcBef>
            </a:pPr>
            <a:r>
              <a:rPr lang="en-US" sz="1300" dirty="0">
                <a:solidFill>
                  <a:srgbClr val="CCCCCC"/>
                </a:solidFill>
                <a:latin typeface="Calibri" pitchFamily="34" charset="0"/>
                <a:ea typeface="Calibri" pitchFamily="34" charset="-122"/>
                <a:cs typeface="Calibri" pitchFamily="34" charset="-120"/>
              </a:rPr>
              <a:t>El output final todavía necesita edición significativa</a:t>
            </a:r>
            <a:endParaRPr lang="en-US" sz="1300" dirty="0"/>
          </a:p>
        </p:txBody>
      </p:sp>
      <p:sp>
        <p:nvSpPr>
          <p:cNvPr id="8" name="Shape 6"/>
          <p:cNvSpPr/>
          <p:nvPr/>
        </p:nvSpPr>
        <p:spPr>
          <a:xfrm>
            <a:off x="6492240" y="1097280"/>
            <a:ext cx="5394960" cy="5486400"/>
          </a:xfrm>
          <a:prstGeom prst="rect">
            <a:avLst/>
          </a:prstGeom>
          <a:solidFill>
            <a:srgbClr val="FF0000"/>
          </a:solidFill>
          <a:ln/>
        </p:spPr>
      </p:sp>
      <p:sp>
        <p:nvSpPr>
          <p:cNvPr id="9" name="Text 7"/>
          <p:cNvSpPr/>
          <p:nvPr/>
        </p:nvSpPr>
        <p:spPr>
          <a:xfrm>
            <a:off x="6492240" y="1097280"/>
            <a:ext cx="5394960" cy="54864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CON CLAUDE</a:t>
            </a:r>
            <a:endParaRPr lang="en-US" sz="1800" dirty="0"/>
          </a:p>
        </p:txBody>
      </p:sp>
      <p:sp>
        <p:nvSpPr>
          <p:cNvPr id="10" name="Shape 8"/>
          <p:cNvSpPr/>
          <p:nvPr/>
        </p:nvSpPr>
        <p:spPr>
          <a:xfrm>
            <a:off x="6492240" y="1645920"/>
            <a:ext cx="5394960" cy="36576"/>
          </a:xfrm>
          <a:prstGeom prst="rect">
            <a:avLst/>
          </a:prstGeom>
          <a:solidFill>
            <a:srgbClr val="EEFF89"/>
          </a:solidFill>
          <a:ln/>
        </p:spPr>
      </p:sp>
      <p:sp>
        <p:nvSpPr>
          <p:cNvPr id="11" name="Text 9"/>
          <p:cNvSpPr/>
          <p:nvPr/>
        </p:nvSpPr>
        <p:spPr>
          <a:xfrm>
            <a:off x="6675120" y="1783080"/>
            <a:ext cx="5029200" cy="4572000"/>
          </a:xfrm>
          <a:prstGeom prst="rect">
            <a:avLst/>
          </a:prstGeom>
          <a:noFill/>
          <a:ln/>
        </p:spPr>
        <p:txBody>
          <a:bodyPr wrap="square" rtlCol="0" anchor="t"/>
          <a:lstStyle/>
          <a:p>
            <a:pPr>
              <a:spcBef>
                <a:spcPts val="600"/>
              </a:spcBef>
            </a:pPr>
            <a:r>
              <a:rPr lang="en-US" sz="1300" dirty="0">
                <a:solidFill>
                  <a:srgbClr val="FFFFFF"/>
                </a:solidFill>
                <a:latin typeface="Calibri" pitchFamily="34" charset="0"/>
                <a:ea typeface="Calibri" pitchFamily="34" charset="-122"/>
                <a:cs typeface="Calibri" pitchFamily="34" charset="-120"/>
              </a:rPr>
              <a:t>Pega ICP + métricas + objetivo → output en 3 minutos</a:t>
            </a:r>
            <a:endParaRPr lang="en-US" sz="1300" dirty="0"/>
          </a:p>
          <a:p>
            <a:pPr>
              <a:spcBef>
                <a:spcPts val="600"/>
              </a:spcBef>
            </a:pPr>
            <a:r>
              <a:rPr lang="en-US" sz="1300" dirty="0">
                <a:solidFill>
                  <a:srgbClr val="FFFFFF"/>
                </a:solidFill>
                <a:latin typeface="Calibri" pitchFamily="34" charset="0"/>
                <a:ea typeface="Calibri" pitchFamily="34" charset="-122"/>
                <a:cs typeface="Calibri" pitchFamily="34" charset="-120"/>
              </a:rPr>
              <a:t>Secuencia personalizada al comportamiento del segmento</a:t>
            </a:r>
            <a:endParaRPr lang="en-US" sz="1300" dirty="0"/>
          </a:p>
          <a:p>
            <a:pPr>
              <a:spcBef>
                <a:spcPts val="600"/>
              </a:spcBef>
            </a:pPr>
            <a:r>
              <a:rPr lang="en-US" sz="1300" dirty="0">
                <a:solidFill>
                  <a:srgbClr val="FFFFFF"/>
                </a:solidFill>
                <a:latin typeface="Calibri" pitchFamily="34" charset="0"/>
                <a:ea typeface="Calibri" pitchFamily="34" charset="-122"/>
                <a:cs typeface="Calibri" pitchFamily="34" charset="-120"/>
              </a:rPr>
              <a:t>Timing y mensaje de upsell basados en datos reales</a:t>
            </a:r>
            <a:endParaRPr lang="en-US" sz="1300" dirty="0"/>
          </a:p>
          <a:p>
            <a:pPr>
              <a:spcBef>
                <a:spcPts val="600"/>
              </a:spcBef>
            </a:pPr>
            <a:r>
              <a:rPr lang="en-US" sz="1300" dirty="0">
                <a:solidFill>
                  <a:srgbClr val="FFFFFF"/>
                </a:solidFill>
                <a:latin typeface="Calibri" pitchFamily="34" charset="0"/>
                <a:ea typeface="Calibri" pitchFamily="34" charset="-122"/>
                <a:cs typeface="Calibri" pitchFamily="34" charset="-120"/>
              </a:rPr>
              <a:t>Una persona, una herramienta, output listo para producción</a:t>
            </a:r>
            <a:endParaRPr lang="en-US" sz="1300" dirty="0"/>
          </a:p>
          <a:p>
            <a:pPr>
              <a:spcBef>
                <a:spcPts val="600"/>
              </a:spcBef>
            </a:pPr>
            <a:r>
              <a:rPr lang="en-US" sz="1300" dirty="0">
                <a:solidFill>
                  <a:srgbClr val="FFFFFF"/>
                </a:solidFill>
                <a:latin typeface="Calibri" pitchFamily="34" charset="0"/>
                <a:ea typeface="Calibri" pitchFamily="34" charset="-122"/>
                <a:cs typeface="Calibri" pitchFamily="34" charset="-120"/>
              </a:rPr>
              <a:t>El output no es "un punto de partida" — es el producto final</a:t>
            </a:r>
            <a:endParaRPr lang="en-US" sz="1300" dirty="0"/>
          </a:p>
        </p:txBody>
      </p:sp>
      <p:sp>
        <p:nvSpPr>
          <p:cNvPr id="12" name="Shape 10"/>
          <p:cNvSpPr/>
          <p:nvPr/>
        </p:nvSpPr>
        <p:spPr>
          <a:xfrm>
            <a:off x="5870448" y="1097280"/>
            <a:ext cx="457200" cy="5486400"/>
          </a:xfrm>
          <a:prstGeom prst="rect">
            <a:avLst/>
          </a:prstGeom>
          <a:solidFill>
            <a:srgbClr val="EEFF89"/>
          </a:solidFill>
          <a:ln/>
        </p:spPr>
      </p:sp>
      <p:sp>
        <p:nvSpPr>
          <p:cNvPr id="13" name="Text 11"/>
          <p:cNvSpPr/>
          <p:nvPr/>
        </p:nvSpPr>
        <p:spPr>
          <a:xfrm>
            <a:off x="5870448" y="3383280"/>
            <a:ext cx="457200" cy="640080"/>
          </a:xfrm>
          <a:prstGeom prst="rect">
            <a:avLst/>
          </a:prstGeom>
          <a:noFill/>
          <a:ln/>
        </p:spPr>
        <p:txBody>
          <a:bodyPr wrap="square" rtlCol="0" anchor="ctr"/>
          <a:lstStyle/>
          <a:p>
            <a:pPr algn="ctr" indent="0" marL="0">
              <a:buNone/>
            </a:pPr>
            <a:r>
              <a:rPr lang="en-US" sz="1100" b="1" dirty="0">
                <a:solidFill>
                  <a:srgbClr val="000000"/>
                </a:solidFill>
                <a:latin typeface="Arial Black" pitchFamily="34" charset="0"/>
                <a:ea typeface="Arial Black" pitchFamily="34" charset="-122"/>
                <a:cs typeface="Arial Black" pitchFamily="34" charset="-120"/>
              </a:rPr>
              <a:t>VS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0" cy="6858000"/>
          </a:xfrm>
          <a:prstGeom prst="rect">
            <a:avLst/>
          </a:prstGeom>
          <a:solidFill>
            <a:srgbClr val="FF0000"/>
          </a:solidFill>
          <a:ln/>
        </p:spPr>
      </p:sp>
      <p:sp>
        <p:nvSpPr>
          <p:cNvPr id="3" name="Text 1"/>
          <p:cNvSpPr/>
          <p:nvPr/>
        </p:nvSpPr>
        <p:spPr>
          <a:xfrm>
            <a:off x="914400" y="548640"/>
            <a:ext cx="10515600" cy="457200"/>
          </a:xfrm>
          <a:prstGeom prst="rect">
            <a:avLst/>
          </a:prstGeom>
          <a:noFill/>
          <a:ln/>
        </p:spPr>
        <p:txBody>
          <a:bodyPr wrap="square" rtlCol="0" anchor="ctr"/>
          <a:lstStyle/>
          <a:p>
            <a:pPr indent="0" marL="0">
              <a:buNone/>
            </a:pPr>
            <a:r>
              <a:rPr lang="en-US" sz="1400" b="1" dirty="0">
                <a:solidFill>
                  <a:srgbClr val="FF6B00"/>
                </a:solidFill>
                <a:latin typeface="Calibri" pitchFamily="34" charset="0"/>
                <a:ea typeface="Calibri" pitchFamily="34" charset="-122"/>
                <a:cs typeface="Calibri" pitchFamily="34" charset="-120"/>
              </a:rPr>
              <a:t>CAMBIO DE MENTALIDAD NECESARIO</a:t>
            </a:r>
            <a:endParaRPr lang="en-US" sz="1400" dirty="0"/>
          </a:p>
        </p:txBody>
      </p:sp>
      <p:sp>
        <p:nvSpPr>
          <p:cNvPr id="4" name="Shape 2"/>
          <p:cNvSpPr/>
          <p:nvPr/>
        </p:nvSpPr>
        <p:spPr>
          <a:xfrm>
            <a:off x="914400" y="1188720"/>
            <a:ext cx="10241280" cy="3840480"/>
          </a:xfrm>
          <a:prstGeom prst="rect">
            <a:avLst/>
          </a:prstGeom>
          <a:solidFill>
            <a:srgbClr val="EEFF89"/>
          </a:solidFill>
          <a:ln w="25400">
            <a:solidFill>
              <a:srgbClr val="FF6B00"/>
            </a:solidFill>
            <a:prstDash val="solid"/>
          </a:ln>
        </p:spPr>
      </p:sp>
      <p:sp>
        <p:nvSpPr>
          <p:cNvPr id="5" name="Text 3"/>
          <p:cNvSpPr/>
          <p:nvPr/>
        </p:nvSpPr>
        <p:spPr>
          <a:xfrm>
            <a:off x="1280160" y="1371600"/>
            <a:ext cx="9509760" cy="3474720"/>
          </a:xfrm>
          <a:prstGeom prst="rect">
            <a:avLst/>
          </a:prstGeom>
          <a:noFill/>
          <a:ln/>
        </p:spPr>
        <p:txBody>
          <a:bodyPr wrap="square" rtlCol="0" anchor="ctr"/>
          <a:lstStyle/>
          <a:p>
            <a:pPr algn="l" indent="0" marL="0">
              <a:buNone/>
            </a:pPr>
            <a:r>
              <a:rPr lang="en-US" sz="2200" b="1" dirty="0">
                <a:solidFill>
                  <a:srgbClr val="000000"/>
                </a:solidFill>
                <a:latin typeface="Arial Black" pitchFamily="34" charset="0"/>
                <a:ea typeface="Arial Black" pitchFamily="34" charset="-122"/>
                <a:cs typeface="Arial Black" pitchFamily="34" charset="-120"/>
              </a:rPr>
              <a:t>"Claude no es un asistente de escritura. Es una máquina de producción de Growth configurada para tu negocio."</a:t>
            </a:r>
            <a:endParaRPr lang="en-US" sz="2200" dirty="0"/>
          </a:p>
        </p:txBody>
      </p:sp>
      <p:sp>
        <p:nvSpPr>
          <p:cNvPr id="6" name="Text 4"/>
          <p:cNvSpPr/>
          <p:nvPr/>
        </p:nvSpPr>
        <p:spPr>
          <a:xfrm>
            <a:off x="914400" y="5212080"/>
            <a:ext cx="10241280" cy="731520"/>
          </a:xfrm>
          <a:prstGeom prst="rect">
            <a:avLst/>
          </a:prstGeom>
          <a:noFill/>
          <a:ln/>
        </p:spPr>
        <p:txBody>
          <a:bodyPr wrap="square" rtlCol="0" anchor="ctr"/>
          <a:lstStyle/>
          <a:p>
            <a:pPr algn="r" indent="0" marL="0">
              <a:buNone/>
            </a:pPr>
            <a:r>
              <a:rPr lang="en-US" sz="1400" b="1" dirty="0">
                <a:solidFill>
                  <a:srgbClr val="FF0000"/>
                </a:solidFill>
                <a:latin typeface="Calibri" pitchFamily="34" charset="0"/>
                <a:ea typeface="Calibri" pitchFamily="34" charset="-122"/>
                <a:cs typeface="Calibri" pitchFamily="34" charset="-120"/>
              </a:rPr>
              <a:t>— Clase 01 · Módulo 01</a:t>
            </a:r>
            <a:endParaRPr lang="en-US" sz="1400" dirty="0"/>
          </a:p>
        </p:txBody>
      </p:sp>
      <p:sp>
        <p:nvSpPr>
          <p:cNvPr id="7" name="Shape 5"/>
          <p:cNvSpPr/>
          <p:nvPr/>
        </p:nvSpPr>
        <p:spPr>
          <a:xfrm>
            <a:off x="0" y="6629400"/>
            <a:ext cx="12188952" cy="228600"/>
          </a:xfrm>
          <a:prstGeom prst="rect">
            <a:avLst/>
          </a:prstGeom>
          <a:solidFill>
            <a:srgbClr val="FF6B00"/>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0000"/>
          </a:solidFill>
          <a:ln/>
        </p:spPr>
      </p:sp>
      <p:sp>
        <p:nvSpPr>
          <p:cNvPr id="3" name="Text 1"/>
          <p:cNvSpPr/>
          <p:nvPr/>
        </p:nvSpPr>
        <p:spPr>
          <a:xfrm>
            <a:off x="365760" y="73152"/>
            <a:ext cx="11430000" cy="804672"/>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Claude vs ChatGPT: Las 3 diferencias que importan para Growth</a:t>
            </a:r>
            <a:endParaRPr lang="en-US" sz="2600" dirty="0"/>
          </a:p>
        </p:txBody>
      </p:sp>
      <p:sp>
        <p:nvSpPr>
          <p:cNvPr id="4" name="Shape 2"/>
          <p:cNvSpPr/>
          <p:nvPr/>
        </p:nvSpPr>
        <p:spPr>
          <a:xfrm>
            <a:off x="274320" y="1097280"/>
            <a:ext cx="3474720" cy="640080"/>
          </a:xfrm>
          <a:prstGeom prst="rect">
            <a:avLst/>
          </a:prstGeom>
          <a:solidFill>
            <a:srgbClr val="FF0000"/>
          </a:solidFill>
          <a:ln/>
        </p:spPr>
      </p:sp>
      <p:sp>
        <p:nvSpPr>
          <p:cNvPr id="5" name="Text 3"/>
          <p:cNvSpPr/>
          <p:nvPr/>
        </p:nvSpPr>
        <p:spPr>
          <a:xfrm>
            <a:off x="274320" y="1097280"/>
            <a:ext cx="3474720" cy="64008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MEMORIA DE CONTEXTO</a:t>
            </a:r>
            <a:endParaRPr lang="en-US" sz="1400" dirty="0"/>
          </a:p>
        </p:txBody>
      </p:sp>
      <p:sp>
        <p:nvSpPr>
          <p:cNvPr id="6" name="Shape 4"/>
          <p:cNvSpPr/>
          <p:nvPr/>
        </p:nvSpPr>
        <p:spPr>
          <a:xfrm>
            <a:off x="274320" y="1737360"/>
            <a:ext cx="3474720" cy="4846320"/>
          </a:xfrm>
          <a:prstGeom prst="rect">
            <a:avLst/>
          </a:prstGeom>
          <a:solidFill>
            <a:srgbClr val="F7F7F7"/>
          </a:solidFill>
          <a:ln/>
        </p:spPr>
      </p:sp>
      <p:sp>
        <p:nvSpPr>
          <p:cNvPr id="7" name="Text 5"/>
          <p:cNvSpPr/>
          <p:nvPr/>
        </p:nvSpPr>
        <p:spPr>
          <a:xfrm>
            <a:off x="411480" y="1874520"/>
            <a:ext cx="3200400" cy="4480560"/>
          </a:xfrm>
          <a:prstGeom prst="rect">
            <a:avLst/>
          </a:prstGeom>
          <a:noFill/>
          <a:ln/>
        </p:spPr>
        <p:txBody>
          <a:bodyPr wrap="square" rtlCol="0" anchor="t"/>
          <a:lstStyle/>
          <a:p>
            <a:pPr>
              <a:spcBef>
                <a:spcPts val="600"/>
              </a:spcBef>
            </a:pPr>
            <a:r>
              <a:rPr lang="en-US" sz="1300" dirty="0">
                <a:solidFill>
                  <a:srgbClr val="000000"/>
                </a:solidFill>
                <a:latin typeface="Calibri" pitchFamily="34" charset="0"/>
                <a:ea typeface="Calibri" pitchFamily="34" charset="-122"/>
                <a:cs typeface="Calibri" pitchFamily="34" charset="-120"/>
              </a:rPr>
              <a:t>ChatGPT: cada conversación empieza desde cero</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Claude Projects: carga el contexto una sola vez</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Desde ese momento, Claude trabaja con ese contexto en cada conversación</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No repites. No explicas. Solo pides.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Para un Chief of Growth: vale horas a la semana</a:t>
            </a:r>
            <a:endParaRPr lang="en-US" sz="1300" dirty="0"/>
          </a:p>
        </p:txBody>
      </p:sp>
      <p:sp>
        <p:nvSpPr>
          <p:cNvPr id="8" name="Shape 6"/>
          <p:cNvSpPr/>
          <p:nvPr/>
        </p:nvSpPr>
        <p:spPr>
          <a:xfrm>
            <a:off x="4361688" y="1097280"/>
            <a:ext cx="3474720" cy="640080"/>
          </a:xfrm>
          <a:prstGeom prst="rect">
            <a:avLst/>
          </a:prstGeom>
          <a:solidFill>
            <a:srgbClr val="FF6B00"/>
          </a:solidFill>
          <a:ln/>
        </p:spPr>
      </p:sp>
      <p:sp>
        <p:nvSpPr>
          <p:cNvPr id="9" name="Text 7"/>
          <p:cNvSpPr/>
          <p:nvPr/>
        </p:nvSpPr>
        <p:spPr>
          <a:xfrm>
            <a:off x="4361688" y="1097280"/>
            <a:ext cx="3474720" cy="64008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INSTRUCCIONES DE SISTEMA</a:t>
            </a:r>
            <a:endParaRPr lang="en-US" sz="1400" dirty="0"/>
          </a:p>
        </p:txBody>
      </p:sp>
      <p:sp>
        <p:nvSpPr>
          <p:cNvPr id="10" name="Shape 8"/>
          <p:cNvSpPr/>
          <p:nvPr/>
        </p:nvSpPr>
        <p:spPr>
          <a:xfrm>
            <a:off x="4361688" y="1737360"/>
            <a:ext cx="3474720" cy="4846320"/>
          </a:xfrm>
          <a:prstGeom prst="rect">
            <a:avLst/>
          </a:prstGeom>
          <a:solidFill>
            <a:srgbClr val="F7F7F7"/>
          </a:solidFill>
          <a:ln/>
        </p:spPr>
      </p:sp>
      <p:sp>
        <p:nvSpPr>
          <p:cNvPr id="11" name="Text 9"/>
          <p:cNvSpPr/>
          <p:nvPr/>
        </p:nvSpPr>
        <p:spPr>
          <a:xfrm>
            <a:off x="4498848" y="1874520"/>
            <a:ext cx="3200400" cy="4480560"/>
          </a:xfrm>
          <a:prstGeom prst="rect">
            <a:avLst/>
          </a:prstGeom>
          <a:noFill/>
          <a:ln/>
        </p:spPr>
        <p:txBody>
          <a:bodyPr wrap="square" rtlCol="0" anchor="t"/>
          <a:lstStyle/>
          <a:p>
            <a:pPr>
              <a:spcBef>
                <a:spcPts val="600"/>
              </a:spcBef>
            </a:pPr>
            <a:r>
              <a:rPr lang="en-US" sz="1300" dirty="0">
                <a:solidFill>
                  <a:srgbClr val="000000"/>
                </a:solidFill>
                <a:latin typeface="Calibri" pitchFamily="34" charset="0"/>
                <a:ea typeface="Calibri" pitchFamily="34" charset="-122"/>
                <a:cs typeface="Calibri" pitchFamily="34" charset="-120"/>
              </a:rPr>
              <a:t>Bloque de texto donde defines quién eres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Tu ICP, métricas, tono de marca y qué NO quieres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Cada respuesta queda alineada sin pedirlo cada vez</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La diferencia entre instruir cada mañana vs. que ya sepa cómo operas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Se configura una vez, funciona siempre</a:t>
            </a:r>
            <a:endParaRPr lang="en-US" sz="1300" dirty="0"/>
          </a:p>
        </p:txBody>
      </p:sp>
      <p:sp>
        <p:nvSpPr>
          <p:cNvPr id="12" name="Shape 10"/>
          <p:cNvSpPr/>
          <p:nvPr/>
        </p:nvSpPr>
        <p:spPr>
          <a:xfrm>
            <a:off x="8439912" y="1097280"/>
            <a:ext cx="3474720" cy="640080"/>
          </a:xfrm>
          <a:prstGeom prst="rect">
            <a:avLst/>
          </a:prstGeom>
          <a:solidFill>
            <a:srgbClr val="555555"/>
          </a:solidFill>
          <a:ln/>
        </p:spPr>
      </p:sp>
      <p:sp>
        <p:nvSpPr>
          <p:cNvPr id="13" name="Text 11"/>
          <p:cNvSpPr/>
          <p:nvPr/>
        </p:nvSpPr>
        <p:spPr>
          <a:xfrm>
            <a:off x="8439912" y="1097280"/>
            <a:ext cx="3474720" cy="64008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RAZONAMIENTO ESTRATÉGICO</a:t>
            </a:r>
            <a:endParaRPr lang="en-US" sz="1400" dirty="0"/>
          </a:p>
        </p:txBody>
      </p:sp>
      <p:sp>
        <p:nvSpPr>
          <p:cNvPr id="14" name="Shape 12"/>
          <p:cNvSpPr/>
          <p:nvPr/>
        </p:nvSpPr>
        <p:spPr>
          <a:xfrm>
            <a:off x="8439912" y="1737360"/>
            <a:ext cx="3474720" cy="4846320"/>
          </a:xfrm>
          <a:prstGeom prst="rect">
            <a:avLst/>
          </a:prstGeom>
          <a:solidFill>
            <a:srgbClr val="F7F7F7"/>
          </a:solidFill>
          <a:ln/>
        </p:spPr>
      </p:sp>
      <p:sp>
        <p:nvSpPr>
          <p:cNvPr id="15" name="Text 13"/>
          <p:cNvSpPr/>
          <p:nvPr/>
        </p:nvSpPr>
        <p:spPr>
          <a:xfrm>
            <a:off x="8577072" y="1874520"/>
            <a:ext cx="3200400" cy="4480560"/>
          </a:xfrm>
          <a:prstGeom prst="rect">
            <a:avLst/>
          </a:prstGeom>
          <a:noFill/>
          <a:ln/>
        </p:spPr>
        <p:txBody>
          <a:bodyPr wrap="square" rtlCol="0" anchor="t"/>
          <a:lstStyle/>
          <a:p>
            <a:pPr>
              <a:spcBef>
                <a:spcPts val="600"/>
              </a:spcBef>
            </a:pPr>
            <a:r>
              <a:rPr lang="en-US" sz="1300" dirty="0">
                <a:solidFill>
                  <a:srgbClr val="000000"/>
                </a:solidFill>
                <a:latin typeface="Calibri" pitchFamily="34" charset="0"/>
                <a:ea typeface="Calibri" pitchFamily="34" charset="-122"/>
                <a:cs typeface="Calibri" pitchFamily="34" charset="-120"/>
              </a:rPr>
              <a:t>Claude no solo genera texto</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Puede razonar sobre decisiones de Growth</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Lee métricas, identifica dónde cae el funnel</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Propone el experimento correcto</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Co-piloto estratégico, no chatbot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0000"/>
          </a:solidFill>
          <a:ln/>
        </p:spPr>
      </p:sp>
      <p:sp>
        <p:nvSpPr>
          <p:cNvPr id="3" name="Text 1"/>
          <p:cNvSpPr/>
          <p:nvPr/>
        </p:nvSpPr>
        <p:spPr>
          <a:xfrm>
            <a:off x="365760" y="73152"/>
            <a:ext cx="11430000" cy="804672"/>
          </a:xfrm>
          <a:prstGeom prst="rect">
            <a:avLst/>
          </a:prstGeom>
          <a:noFill/>
          <a:ln/>
        </p:spPr>
        <p:txBody>
          <a:bodyPr wrap="square" rtlCol="0" anchor="ctr"/>
          <a:lstStyle/>
          <a:p>
            <a:pPr indent="0" marL="0">
              <a:buNone/>
            </a:pPr>
            <a:r>
              <a:rPr lang="en-US" sz="2600" b="1" dirty="0">
                <a:solidFill>
                  <a:srgbClr val="FF0000"/>
                </a:solidFill>
                <a:latin typeface="Arial Black" pitchFamily="34" charset="0"/>
                <a:ea typeface="Arial Black" pitchFamily="34" charset="-122"/>
                <a:cs typeface="Arial Black" pitchFamily="34" charset="-120"/>
              </a:rPr>
              <a:t>Claude Projects: Tu base de operaciones con IA</a:t>
            </a:r>
            <a:endParaRPr lang="en-US" sz="2600" dirty="0"/>
          </a:p>
        </p:txBody>
      </p:sp>
      <p:sp>
        <p:nvSpPr>
          <p:cNvPr id="4" name="Shape 2"/>
          <p:cNvSpPr/>
          <p:nvPr/>
        </p:nvSpPr>
        <p:spPr>
          <a:xfrm>
            <a:off x="274320" y="1097280"/>
            <a:ext cx="5394960" cy="502920"/>
          </a:xfrm>
          <a:prstGeom prst="rect">
            <a:avLst/>
          </a:prstGeom>
          <a:solidFill>
            <a:srgbClr val="FF6B00"/>
          </a:solidFill>
          <a:ln/>
        </p:spPr>
      </p:sp>
      <p:sp>
        <p:nvSpPr>
          <p:cNvPr id="5" name="Text 3"/>
          <p:cNvSpPr/>
          <p:nvPr/>
        </p:nvSpPr>
        <p:spPr>
          <a:xfrm>
            <a:off x="274320" y="1097280"/>
            <a:ext cx="539496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QUÉ ES UN PROJECT</a:t>
            </a:r>
            <a:endParaRPr lang="en-US" sz="1600" dirty="0"/>
          </a:p>
        </p:txBody>
      </p:sp>
      <p:sp>
        <p:nvSpPr>
          <p:cNvPr id="6" name="Shape 4"/>
          <p:cNvSpPr/>
          <p:nvPr/>
        </p:nvSpPr>
        <p:spPr>
          <a:xfrm>
            <a:off x="274320" y="1600200"/>
            <a:ext cx="5394960" cy="4937760"/>
          </a:xfrm>
          <a:prstGeom prst="rect">
            <a:avLst/>
          </a:prstGeom>
          <a:solidFill>
            <a:srgbClr val="F5F5F5"/>
          </a:solidFill>
          <a:ln/>
        </p:spPr>
      </p:sp>
      <p:sp>
        <p:nvSpPr>
          <p:cNvPr id="7" name="Text 5"/>
          <p:cNvSpPr/>
          <p:nvPr/>
        </p:nvSpPr>
        <p:spPr>
          <a:xfrm>
            <a:off x="457200" y="1737360"/>
            <a:ext cx="5029200" cy="4663440"/>
          </a:xfrm>
          <a:prstGeom prst="rect">
            <a:avLst/>
          </a:prstGeom>
          <a:noFill/>
          <a:ln/>
        </p:spPr>
        <p:txBody>
          <a:bodyPr wrap="square" rtlCol="0" anchor="t"/>
          <a:lstStyle/>
          <a:p>
            <a:pPr>
              <a:spcBef>
                <a:spcPts val="500"/>
              </a:spcBef>
            </a:pPr>
            <a:r>
              <a:rPr lang="en-US" sz="1400" dirty="0">
                <a:solidFill>
                  <a:srgbClr val="000000"/>
                </a:solidFill>
                <a:latin typeface="Calibri" pitchFamily="34" charset="0"/>
                <a:ea typeface="Calibri" pitchFamily="34" charset="-122"/>
                <a:cs typeface="Calibri" pitchFamily="34" charset="-120"/>
              </a:rPr>
              <a:t>Espacio de trabajo con contexto persistente</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Instrucciones de sistema que Claude lee antes de cada conversación</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Base de conocimiento: documentos de tu negocio cargados</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Historial de conversaciones organizado por proyecto</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Disponible en plan Pro ($20/mes)</a:t>
            </a:r>
            <a:endParaRPr lang="en-US" sz="1400" dirty="0"/>
          </a:p>
        </p:txBody>
      </p:sp>
      <p:sp>
        <p:nvSpPr>
          <p:cNvPr id="8" name="Shape 6"/>
          <p:cNvSpPr/>
          <p:nvPr/>
        </p:nvSpPr>
        <p:spPr>
          <a:xfrm>
            <a:off x="6492240" y="1097280"/>
            <a:ext cx="5394960" cy="502920"/>
          </a:xfrm>
          <a:prstGeom prst="rect">
            <a:avLst/>
          </a:prstGeom>
          <a:solidFill>
            <a:srgbClr val="FF0000"/>
          </a:solidFill>
          <a:ln/>
        </p:spPr>
      </p:sp>
      <p:sp>
        <p:nvSpPr>
          <p:cNvPr id="9" name="Text 7"/>
          <p:cNvSpPr/>
          <p:nvPr/>
        </p:nvSpPr>
        <p:spPr>
          <a:xfrm>
            <a:off x="6492240" y="1097280"/>
            <a:ext cx="539496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QUÉ CAMBIA CON UN PROJECT</a:t>
            </a:r>
            <a:endParaRPr lang="en-US" sz="1600" dirty="0"/>
          </a:p>
        </p:txBody>
      </p:sp>
      <p:sp>
        <p:nvSpPr>
          <p:cNvPr id="10" name="Shape 8"/>
          <p:cNvSpPr/>
          <p:nvPr/>
        </p:nvSpPr>
        <p:spPr>
          <a:xfrm>
            <a:off x="6492240" y="1600200"/>
            <a:ext cx="5394960" cy="4937760"/>
          </a:xfrm>
          <a:prstGeom prst="rect">
            <a:avLst/>
          </a:prstGeom>
          <a:solidFill>
            <a:srgbClr val="F5F5F5"/>
          </a:solidFill>
          <a:ln/>
        </p:spPr>
      </p:sp>
      <p:sp>
        <p:nvSpPr>
          <p:cNvPr id="11" name="Text 9"/>
          <p:cNvSpPr/>
          <p:nvPr/>
        </p:nvSpPr>
        <p:spPr>
          <a:xfrm>
            <a:off x="6675120" y="1737360"/>
            <a:ext cx="5029200" cy="4663440"/>
          </a:xfrm>
          <a:prstGeom prst="rect">
            <a:avLst/>
          </a:prstGeom>
          <a:noFill/>
          <a:ln/>
        </p:spPr>
        <p:txBody>
          <a:bodyPr wrap="square" rtlCol="0" anchor="t"/>
          <a:lstStyle/>
          <a:p>
            <a:pPr>
              <a:spcBef>
                <a:spcPts val="500"/>
              </a:spcBef>
            </a:pPr>
            <a:r>
              <a:rPr lang="en-US" sz="1400" dirty="0">
                <a:solidFill>
                  <a:srgbClr val="000000"/>
                </a:solidFill>
                <a:latin typeface="Calibri" pitchFamily="34" charset="0"/>
                <a:ea typeface="Calibri" pitchFamily="34" charset="-122"/>
                <a:cs typeface="Calibri" pitchFamily="34" charset="-120"/>
              </a:rPr>
              <a:t>No explicas tu producto en cada prompt</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No repites el ICP cada vez</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Cada output lleva tu tono de marca sin pedirlo</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Claude conoce tus métricas y prioridades actuales</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La diferencia entre un asistente genérico y un co-piloto estratégico</a:t>
            </a:r>
            <a:endParaRPr lang="en-US" sz="1400" dirty="0"/>
          </a:p>
        </p:txBody>
      </p:sp>
      <p:sp>
        <p:nvSpPr>
          <p:cNvPr id="12" name="Shape 10"/>
          <p:cNvSpPr/>
          <p:nvPr/>
        </p:nvSpPr>
        <p:spPr>
          <a:xfrm>
            <a:off x="5989320" y="1051560"/>
            <a:ext cx="228600" cy="5577840"/>
          </a:xfrm>
          <a:prstGeom prst="rect">
            <a:avLst/>
          </a:prstGeom>
          <a:solidFill>
            <a:srgbClr val="EEFF89"/>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0000"/>
          </a:solidFill>
          <a:ln/>
        </p:spPr>
      </p:sp>
      <p:sp>
        <p:nvSpPr>
          <p:cNvPr id="3" name="Text 1"/>
          <p:cNvSpPr/>
          <p:nvPr/>
        </p:nvSpPr>
        <p:spPr>
          <a:xfrm>
            <a:off x="365760" y="73152"/>
            <a:ext cx="11430000" cy="804672"/>
          </a:xfrm>
          <a:prstGeom prst="rect">
            <a:avLst/>
          </a:prstGeom>
          <a:noFill/>
          <a:ln/>
        </p:spPr>
        <p:txBody>
          <a:bodyPr wrap="square" rtlCol="0" anchor="ctr"/>
          <a:lstStyle/>
          <a:p>
            <a:pPr indent="0" marL="0">
              <a:buNone/>
            </a:pPr>
            <a:r>
              <a:rPr lang="en-US" sz="2600" b="1" dirty="0">
                <a:solidFill>
                  <a:srgbClr val="EEFF89"/>
                </a:solidFill>
                <a:latin typeface="Arial Black" pitchFamily="34" charset="0"/>
                <a:ea typeface="Arial Black" pitchFamily="34" charset="-122"/>
                <a:cs typeface="Arial Black" pitchFamily="34" charset="-120"/>
              </a:rPr>
              <a:t>Demo en vivo: De cero a primer output útil en 5 minutos</a:t>
            </a:r>
            <a:endParaRPr lang="en-US" sz="2600" dirty="0"/>
          </a:p>
        </p:txBody>
      </p:sp>
      <p:sp>
        <p:nvSpPr>
          <p:cNvPr id="4" name="Shape 2"/>
          <p:cNvSpPr/>
          <p:nvPr/>
        </p:nvSpPr>
        <p:spPr>
          <a:xfrm>
            <a:off x="274320" y="1143000"/>
            <a:ext cx="685800" cy="685800"/>
          </a:xfrm>
          <a:prstGeom prst="ellipse">
            <a:avLst/>
          </a:prstGeom>
          <a:solidFill>
            <a:srgbClr val="FF0000"/>
          </a:solidFill>
          <a:ln/>
        </p:spPr>
      </p:sp>
      <p:sp>
        <p:nvSpPr>
          <p:cNvPr id="5" name="Text 3"/>
          <p:cNvSpPr/>
          <p:nvPr/>
        </p:nvSpPr>
        <p:spPr>
          <a:xfrm>
            <a:off x="274320" y="1143000"/>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6" name="Text 4"/>
          <p:cNvSpPr/>
          <p:nvPr/>
        </p:nvSpPr>
        <p:spPr>
          <a:xfrm>
            <a:off x="1188720" y="1115568"/>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Abre claude.ai</a:t>
            </a:r>
            <a:endParaRPr lang="en-US" sz="1500" dirty="0"/>
          </a:p>
        </p:txBody>
      </p:sp>
      <p:sp>
        <p:nvSpPr>
          <p:cNvPr id="7" name="Text 5"/>
          <p:cNvSpPr/>
          <p:nvPr/>
        </p:nvSpPr>
        <p:spPr>
          <a:xfrm>
            <a:off x="1188720" y="1517904"/>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Sin cuenta de pago. Sin configuración. Cero fricción. Empieza desde una conversación nueva.</a:t>
            </a:r>
            <a:endParaRPr lang="en-US" sz="1300" dirty="0"/>
          </a:p>
        </p:txBody>
      </p:sp>
      <p:sp>
        <p:nvSpPr>
          <p:cNvPr id="8" name="Shape 6"/>
          <p:cNvSpPr/>
          <p:nvPr/>
        </p:nvSpPr>
        <p:spPr>
          <a:xfrm>
            <a:off x="274320" y="2221992"/>
            <a:ext cx="685800" cy="685800"/>
          </a:xfrm>
          <a:prstGeom prst="ellipse">
            <a:avLst/>
          </a:prstGeom>
          <a:solidFill>
            <a:srgbClr val="FF6B00"/>
          </a:solidFill>
          <a:ln/>
        </p:spPr>
      </p:sp>
      <p:sp>
        <p:nvSpPr>
          <p:cNvPr id="9" name="Text 7"/>
          <p:cNvSpPr/>
          <p:nvPr/>
        </p:nvSpPr>
        <p:spPr>
          <a:xfrm>
            <a:off x="274320" y="2221992"/>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0" name="Text 8"/>
          <p:cNvSpPr/>
          <p:nvPr/>
        </p:nvSpPr>
        <p:spPr>
          <a:xfrm>
            <a:off x="1188720" y="2194560"/>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Describe tu contexto mínimo</a:t>
            </a:r>
            <a:endParaRPr lang="en-US" sz="1500" dirty="0"/>
          </a:p>
        </p:txBody>
      </p:sp>
      <p:sp>
        <p:nvSpPr>
          <p:cNvPr id="11" name="Text 9"/>
          <p:cNvSpPr/>
          <p:nvPr/>
        </p:nvSpPr>
        <p:spPr>
          <a:xfrm>
            <a:off x="1188720" y="2596896"/>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Producto + ICP + objetivo. Sin detallar. Sin instrucciones largas. Lo mínimo para que Claude no invente.</a:t>
            </a:r>
            <a:endParaRPr lang="en-US" sz="1300" dirty="0"/>
          </a:p>
        </p:txBody>
      </p:sp>
      <p:sp>
        <p:nvSpPr>
          <p:cNvPr id="12" name="Shape 10"/>
          <p:cNvSpPr/>
          <p:nvPr/>
        </p:nvSpPr>
        <p:spPr>
          <a:xfrm>
            <a:off x="274320" y="3300984"/>
            <a:ext cx="685800" cy="685800"/>
          </a:xfrm>
          <a:prstGeom prst="ellipse">
            <a:avLst/>
          </a:prstGeom>
          <a:solidFill>
            <a:srgbClr val="FF0000"/>
          </a:solidFill>
          <a:ln/>
        </p:spPr>
      </p:sp>
      <p:sp>
        <p:nvSpPr>
          <p:cNvPr id="13" name="Text 11"/>
          <p:cNvSpPr/>
          <p:nvPr/>
        </p:nvSpPr>
        <p:spPr>
          <a:xfrm>
            <a:off x="274320" y="3300984"/>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4" name="Text 12"/>
          <p:cNvSpPr/>
          <p:nvPr/>
        </p:nvSpPr>
        <p:spPr>
          <a:xfrm>
            <a:off x="1188720" y="3273552"/>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Pide el output específico</a:t>
            </a:r>
            <a:endParaRPr lang="en-US" sz="1500" dirty="0"/>
          </a:p>
        </p:txBody>
      </p:sp>
      <p:sp>
        <p:nvSpPr>
          <p:cNvPr id="15" name="Text 13"/>
          <p:cNvSpPr/>
          <p:nvPr/>
        </p:nvSpPr>
        <p:spPr>
          <a:xfrm>
            <a:off x="1188720" y="3675888"/>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Un verbo de acción + qué + para quién. Ejemplo: "Genera 3 variaciones de copy para Meta dirigidas a [ICP]. Objetivo: prueba gratuita."</a:t>
            </a:r>
            <a:endParaRPr lang="en-US" sz="1300" dirty="0"/>
          </a:p>
        </p:txBody>
      </p:sp>
      <p:sp>
        <p:nvSpPr>
          <p:cNvPr id="16" name="Shape 14"/>
          <p:cNvSpPr/>
          <p:nvPr/>
        </p:nvSpPr>
        <p:spPr>
          <a:xfrm>
            <a:off x="274320" y="4379976"/>
            <a:ext cx="685800" cy="685800"/>
          </a:xfrm>
          <a:prstGeom prst="ellipse">
            <a:avLst/>
          </a:prstGeom>
          <a:solidFill>
            <a:srgbClr val="FF6B00"/>
          </a:solidFill>
          <a:ln/>
        </p:spPr>
      </p:sp>
      <p:sp>
        <p:nvSpPr>
          <p:cNvPr id="17" name="Text 15"/>
          <p:cNvSpPr/>
          <p:nvPr/>
        </p:nvSpPr>
        <p:spPr>
          <a:xfrm>
            <a:off x="274320" y="4379976"/>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4</a:t>
            </a:r>
            <a:endParaRPr lang="en-US" sz="2000" dirty="0"/>
          </a:p>
        </p:txBody>
      </p:sp>
      <p:sp>
        <p:nvSpPr>
          <p:cNvPr id="18" name="Text 16"/>
          <p:cNvSpPr/>
          <p:nvPr/>
        </p:nvSpPr>
        <p:spPr>
          <a:xfrm>
            <a:off x="1188720" y="4352544"/>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Evalúa el output</a:t>
            </a:r>
            <a:endParaRPr lang="en-US" sz="1500" dirty="0"/>
          </a:p>
        </p:txBody>
      </p:sp>
      <p:sp>
        <p:nvSpPr>
          <p:cNvPr id="19" name="Text 17"/>
          <p:cNvSpPr/>
          <p:nvPr/>
        </p:nvSpPr>
        <p:spPr>
          <a:xfrm>
            <a:off x="1188720" y="4754880"/>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¿Puedes usarlo esta semana? Si la respuesta es "casi" — itera. Si es "no" — el contexto era insuficiente.</a:t>
            </a:r>
            <a:endParaRPr lang="en-US" sz="1300" dirty="0"/>
          </a:p>
        </p:txBody>
      </p:sp>
      <p:sp>
        <p:nvSpPr>
          <p:cNvPr id="20" name="Shape 18"/>
          <p:cNvSpPr/>
          <p:nvPr/>
        </p:nvSpPr>
        <p:spPr>
          <a:xfrm>
            <a:off x="274320" y="5458968"/>
            <a:ext cx="685800" cy="685800"/>
          </a:xfrm>
          <a:prstGeom prst="ellipse">
            <a:avLst/>
          </a:prstGeom>
          <a:solidFill>
            <a:srgbClr val="FF0000"/>
          </a:solidFill>
          <a:ln/>
        </p:spPr>
      </p:sp>
      <p:sp>
        <p:nvSpPr>
          <p:cNvPr id="21" name="Text 19"/>
          <p:cNvSpPr/>
          <p:nvPr/>
        </p:nvSpPr>
        <p:spPr>
          <a:xfrm>
            <a:off x="274320" y="5458968"/>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5</a:t>
            </a:r>
            <a:endParaRPr lang="en-US" sz="2000" dirty="0"/>
          </a:p>
        </p:txBody>
      </p:sp>
      <p:sp>
        <p:nvSpPr>
          <p:cNvPr id="22" name="Text 20"/>
          <p:cNvSpPr/>
          <p:nvPr/>
        </p:nvSpPr>
        <p:spPr>
          <a:xfrm>
            <a:off x="1188720" y="5431536"/>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Nota lo que falta</a:t>
            </a:r>
            <a:endParaRPr lang="en-US" sz="1500" dirty="0"/>
          </a:p>
        </p:txBody>
      </p:sp>
      <p:sp>
        <p:nvSpPr>
          <p:cNvPr id="23" name="Text 21"/>
          <p:cNvSpPr/>
          <p:nvPr/>
        </p:nvSpPr>
        <p:spPr>
          <a:xfrm>
            <a:off x="1188720" y="5833872"/>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El output sin configuración es "usable". Con contexto completo cargado (Clase 3) será "listo para producción".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FF0000"/>
          </a:solidFill>
          <a:ln/>
        </p:spPr>
      </p:sp>
      <p:sp>
        <p:nvSpPr>
          <p:cNvPr id="3" name="Text 1"/>
          <p:cNvSpPr/>
          <p:nvPr/>
        </p:nvSpPr>
        <p:spPr>
          <a:xfrm>
            <a:off x="365760" y="91440"/>
            <a:ext cx="11430000" cy="86868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Entregable: Checklist de Activación (10 pasos · 15 minutos)</a:t>
            </a:r>
            <a:endParaRPr lang="en-US" sz="2800" dirty="0"/>
          </a:p>
        </p:txBody>
      </p:sp>
      <p:sp>
        <p:nvSpPr>
          <p:cNvPr id="4" name="Shape 2"/>
          <p:cNvSpPr/>
          <p:nvPr/>
        </p:nvSpPr>
        <p:spPr>
          <a:xfrm>
            <a:off x="0" y="1051560"/>
            <a:ext cx="164592" cy="5806440"/>
          </a:xfrm>
          <a:prstGeom prst="rect">
            <a:avLst/>
          </a:prstGeom>
          <a:solidFill>
            <a:srgbClr val="FF6B00"/>
          </a:solidFill>
          <a:ln/>
        </p:spPr>
      </p:sp>
      <p:sp>
        <p:nvSpPr>
          <p:cNvPr id="5" name="Text 3"/>
          <p:cNvSpPr/>
          <p:nvPr/>
        </p:nvSpPr>
        <p:spPr>
          <a:xfrm>
            <a:off x="457200" y="1188720"/>
            <a:ext cx="11430000" cy="5394960"/>
          </a:xfrm>
          <a:prstGeom prst="rect">
            <a:avLst/>
          </a:prstGeom>
          <a:noFill/>
          <a:ln/>
        </p:spPr>
        <p:txBody>
          <a:bodyPr wrap="square" rtlCol="0" anchor="t"/>
          <a:lstStyle/>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Pasos 1–3: Infraestructura</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Crear cuenta Pro en Claude.ai (necesitas Projects)</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Crear tu primer Project de Growth con nombre y descripción</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Explorar las 3 áreas clave: Instructions, Knowledge, Chat</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Pasos 4–5: Primera configuración</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Escribir instrucción de sistema versión mínima (plantilla incluida)</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Hacer prueba de alineación: ¿Claude entiende tu negocio?</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Pasos 6–7: Velocidad de acceso</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Instalar app de escritorio (Mac/Windows)</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Crear acceso rápido a tu Project en Dock o barra de favoritos</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Pasos 8–10: Primer uso real</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Generar tu primer output de Growth real con el prompt plantilla</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Identificar tu caso de uso de mayor impacto inmediato</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Definir tu rutina mínima diaria con Claude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Text 1"/>
          <p:cNvSpPr/>
          <p:nvPr/>
        </p:nvSpPr>
        <p:spPr>
          <a:xfrm>
            <a:off x="640080" y="457200"/>
            <a:ext cx="10881360" cy="1280160"/>
          </a:xfrm>
          <a:prstGeom prst="rect">
            <a:avLst/>
          </a:prstGeom>
          <a:noFill/>
          <a:ln/>
        </p:spPr>
        <p:txBody>
          <a:bodyPr wrap="square" rtlCol="0" anchor="ctr"/>
          <a:lstStyle/>
          <a:p>
            <a:pPr indent="0" marL="0">
              <a:buNone/>
            </a:pPr>
            <a:r>
              <a:rPr lang="en-US" sz="3600" b="1" dirty="0">
                <a:solidFill>
                  <a:srgbClr val="FF0000"/>
                </a:solidFill>
                <a:latin typeface="Arial Black" pitchFamily="34" charset="0"/>
                <a:ea typeface="Arial Black" pitchFamily="34" charset="-122"/>
                <a:cs typeface="Arial Black" pitchFamily="34" charset="-120"/>
              </a:rPr>
              <a:t>Claude está listo.</a:t>
            </a:r>
            <a:endParaRPr lang="en-US" sz="3600" dirty="0"/>
          </a:p>
          <a:p>
            <a:pPr indent="0" marL="0">
              <a:buNone/>
            </a:pPr>
            <a:r>
              <a:rPr lang="en-US" sz="3600" b="1" dirty="0">
                <a:solidFill>
                  <a:srgbClr val="FF0000"/>
                </a:solidFill>
                <a:latin typeface="Arial Black" pitchFamily="34" charset="0"/>
                <a:ea typeface="Arial Black" pitchFamily="34" charset="-122"/>
                <a:cs typeface="Arial Black" pitchFamily="34" charset="-120"/>
              </a:rPr>
              <a:t>¿Lo estás tú?</a:t>
            </a:r>
            <a:endParaRPr lang="en-US" sz="3600" dirty="0"/>
          </a:p>
        </p:txBody>
      </p:sp>
      <p:sp>
        <p:nvSpPr>
          <p:cNvPr id="4" name="Text 2"/>
          <p:cNvSpPr/>
          <p:nvPr/>
        </p:nvSpPr>
        <p:spPr>
          <a:xfrm>
            <a:off x="640080" y="1828800"/>
            <a:ext cx="10881360" cy="548640"/>
          </a:xfrm>
          <a:prstGeom prst="rect">
            <a:avLst/>
          </a:prstGeom>
          <a:noFill/>
          <a:ln/>
        </p:spPr>
        <p:txBody>
          <a:bodyPr wrap="square" rtlCol="0" anchor="ctr"/>
          <a:lstStyle/>
          <a:p>
            <a:pPr indent="0" marL="0">
              <a:buNone/>
            </a:pPr>
            <a:r>
              <a:rPr lang="en-US" sz="1700" b="1" dirty="0">
                <a:solidFill>
                  <a:srgbClr val="FF6B00"/>
                </a:solidFill>
                <a:latin typeface="Calibri" pitchFamily="34" charset="0"/>
                <a:ea typeface="Calibri" pitchFamily="34" charset="-122"/>
                <a:cs typeface="Calibri" pitchFamily="34" charset="-120"/>
              </a:rPr>
              <a:t>Antes de la Clase 2 — completa el Checklist de Activación</a:t>
            </a:r>
            <a:endParaRPr lang="en-US" sz="1700" dirty="0"/>
          </a:p>
        </p:txBody>
      </p:sp>
      <p:sp>
        <p:nvSpPr>
          <p:cNvPr id="5" name="Text 3"/>
          <p:cNvSpPr/>
          <p:nvPr/>
        </p:nvSpPr>
        <p:spPr>
          <a:xfrm>
            <a:off x="640080" y="2468880"/>
            <a:ext cx="10515600" cy="3749040"/>
          </a:xfrm>
          <a:prstGeom prst="rect">
            <a:avLst/>
          </a:prstGeom>
          <a:noFill/>
          <a:ln/>
        </p:spPr>
        <p:txBody>
          <a:bodyPr wrap="square" rtlCol="0" anchor="t"/>
          <a:lstStyle/>
          <a:p>
            <a:pPr>
              <a:spcBef>
                <a:spcPts val="500"/>
              </a:spcBef>
            </a:pPr>
            <a:r>
              <a:rPr lang="en-US" sz="1400" dirty="0">
                <a:solidFill>
                  <a:srgbClr val="FFFFFF"/>
                </a:solidFill>
                <a:latin typeface="Calibri" pitchFamily="34" charset="0"/>
                <a:ea typeface="Calibri" pitchFamily="34" charset="-122"/>
                <a:cs typeface="Calibri" pitchFamily="34" charset="-120"/>
              </a:rPr>
              <a:t>Cuenta Pro creada y Project de Growth configurado</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Instrucciones de sistema mínimas cargadas</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Primera prueba de alineación completada</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Primer output de Growth real generado</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Caso de uso de mayor impacto identificado</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Rutina mínima definida</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Clase 2: El brief perfecto — cómo hablarle a Claude para outputs de elite</a:t>
            </a:r>
            <a:endParaRPr lang="en-US" sz="1400" dirty="0"/>
          </a:p>
        </p:txBody>
      </p:sp>
      <p:sp>
        <p:nvSpPr>
          <p:cNvPr id="6" name="Shape 4"/>
          <p:cNvSpPr/>
          <p:nvPr/>
        </p:nvSpPr>
        <p:spPr>
          <a:xfrm>
            <a:off x="640080" y="6035040"/>
            <a:ext cx="3657600" cy="502920"/>
          </a:xfrm>
          <a:prstGeom prst="rect">
            <a:avLst/>
          </a:prstGeom>
          <a:solidFill>
            <a:srgbClr val="FF6B00"/>
          </a:solidFill>
          <a:ln/>
        </p:spPr>
      </p:sp>
      <p:sp>
        <p:nvSpPr>
          <p:cNvPr id="7" name="Text 5"/>
          <p:cNvSpPr/>
          <p:nvPr/>
        </p:nvSpPr>
        <p:spPr>
          <a:xfrm>
            <a:off x="640080" y="6035040"/>
            <a:ext cx="36576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PRÓXIMA CLASE →</a:t>
            </a:r>
            <a:endParaRPr lang="en-US" sz="1300" dirty="0"/>
          </a:p>
        </p:txBody>
      </p:sp>
      <p:sp>
        <p:nvSpPr>
          <p:cNvPr id="8" name="Shape 6"/>
          <p:cNvSpPr/>
          <p:nvPr/>
        </p:nvSpPr>
        <p:spPr>
          <a:xfrm>
            <a:off x="0" y="6675120"/>
            <a:ext cx="12188952" cy="182880"/>
          </a:xfrm>
          <a:prstGeom prst="rect">
            <a:avLst/>
          </a:prstGeom>
          <a:solidFill>
            <a:srgbClr val="FF6B0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2026-03-25T18:19:46Z</dcterms:created>
  <dcterms:modified xsi:type="dcterms:W3CDTF">2026-03-25T18:19:46Z</dcterms:modified>
</cp:coreProperties>
</file>