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[0:00–1:00]
Esta clase es sobre velocidad. No sobre cómo escribir mejor copy. Sobre cómo producir en minutos lo que hoy tarda días.
Si tienes campañas activas en Meta o Google — y casi seguro que sí — al final de estos 16 minutos vas a tener un flujo que puedes aplicar esta semana. No la próxima. Esta.
Vamos directo al grano.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DESARROLLO 1 [1:00–6:00]
Cuántos equipos de Growth conozco que tienen el presupuesto de Meta desbloqueado pero no escalan porque no tienen suficientes variaciones creativas para testear. El algoritmo las quema en 3 días. El equipo tarda una semana en producir las siguientes.
Eso es lo que rompemos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flujo tiene tres pasos. Son siempre los mismos.
Paso 1: No necesitas todas las métricas. Necesitas las que importan: CTR, CPC, costo por resultado, copy ganador.
Paso 2: Los 5 elementos de contexto que nunca pueden faltar: ICP, objetivo, canal, restricciones, qué está ganando ahora.
Paso 3: El error que comete el 80% de los equipos — le piden "ideas" sin especificar el formato de entrega. La regla: si sabes cómo se ve el output correcto, descríbelo.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cinco elementos que nunca pueden faltar. Los marcamos con pausa porque son el corazón del sistema.
Recuerden: Claude lo sabe sobre los canales, pero TÚ debes especificárselo. No asumas que Claude sabe cuál es tu canal objetivo.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principio que lo cambia todo [final de DESARROLLO 1]:
Antes: el equipo creativo trabajaba con un brief estático que describía el ICP desde hace 6 meses.
Ahora: Claude ve las métricas de esta semana y genera la siguiente iteración basada en lo que realmente está funcionando.
Eso no es automatización. Es inteligencia de mercado aplicada a velocidad de ejecución.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DESARROLLO 2 [6:00–11:00]
La pregunta que debes hacerle a Claude ANTES de pedir variaciones:
"Antes de generar copy nuevo, analiza los datos que te compartí... ¿Qué patrón tienen los anuncios con mejor CTR? ¿Qué ángulo está resonando más? ¿Qué cambiarías del anuncio con peor performance?"
En vez de pedirle que genere en el vacío, lo estás convirtiendo en analista.
Cuatro momentos. En Meta puede tomar 10 minutos. En Google, igual. En email, igual. El canal cambia. La lógica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 ADS: El hook visual es el 70% del trabajo, pero el texto de los primeros 2 líneas decide si leen el resto. Los mejores anuncios en Meta abren con el dolor o con una afirmación provocadora.
GOOGLE SEARCH: Aquí el usuario ya tiene intención. Los titulares de Google tienen 30 caracteres por campo — si no le dices esto, Claude genera titulares que no entran.
EMAIL: El asunto y el preheader son el 80% de la apertura. Claude puede generar 10 variaciones de asunto en un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[11:00–15:00]
Voy a tomar una campaña real — datos anonimizados — y vamos a hacer exactamente lo que acabo de describir.
Métricas pegadas. Análisis. Hipótesis. Cinco variaciones por canal. En pantalla. En tiempo real.
Fíjate en el tiempo. Este análisis con un equipo humano tomaría una reunión de 45 minutos. Claude lo hace en 90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diferencia no es solo velocidad. Es que la consistencia es lo que separa los equipos que escalan de los que corren sin sistema.
Este flujo + el entregable de la clase = la máquina de adquisición que van a llevar esta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[15:00–16:00]
Tu tarea es una sola: Abre el entregable de esta clase. Llena los campos con tu campaña actual. Pega el prompt en Claude y trae el output a la siguiente sesión.
No lo analices demasiado. No esperes tener los datos perfectos. Usa lo que tienes ahora.
El siguiente paso del módulo es retención. Cómo convertir a los usuarios que ya adquiriste en revenue recurrente. Te espero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Shape 1"/>
          <p:cNvSpPr/>
          <p:nvPr/>
        </p:nvSpPr>
        <p:spPr>
          <a:xfrm>
            <a:off x="548640" y="502920"/>
            <a:ext cx="2560320" cy="384048"/>
          </a:xfrm>
          <a:prstGeom prst="rect">
            <a:avLst/>
          </a:prstGeom>
          <a:solidFill>
            <a:srgbClr val="FF0000"/>
          </a:solidFill>
          <a:ln w="12700">
            <a:solidFill>
              <a:srgbClr val="FF0000"/>
            </a:solidFill>
            <a:prstDash val="solid"/>
          </a:ln>
        </p:spPr>
      </p:sp>
      <p:sp>
        <p:nvSpPr>
          <p:cNvPr id="4" name="Text 2"/>
          <p:cNvSpPr/>
          <p:nvPr/>
        </p:nvSpPr>
        <p:spPr>
          <a:xfrm>
            <a:off x="548640" y="502920"/>
            <a:ext cx="256032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MÓDULO 02</a:t>
            </a:r>
            <a:endParaRPr lang="en-US" sz="1300" dirty="0"/>
          </a:p>
        </p:txBody>
      </p:sp>
      <p:sp>
        <p:nvSpPr>
          <p:cNvPr id="5" name="Text 3"/>
          <p:cNvSpPr/>
          <p:nvPr/>
        </p:nvSpPr>
        <p:spPr>
          <a:xfrm>
            <a:off x="548640" y="1188720"/>
            <a:ext cx="11064240" cy="3108960"/>
          </a:xfrm>
          <a:prstGeom prst="rect">
            <a:avLst/>
          </a:prstGeom>
          <a:noFill/>
          <a:ln/>
        </p:spPr>
        <p:txBody>
          <a:bodyPr wrap="square" rtlCol="0" anchor="t"/>
          <a:lstStyle/>
          <a:p>
            <a:pPr algn="l" indent="0" marL="0">
              <a:buNone/>
            </a:pPr>
            <a:r>
              <a:rPr lang="en-US" sz="4200" b="1" dirty="0">
                <a:solidFill>
                  <a:srgbClr val="FFFFFF"/>
                </a:solidFill>
                <a:latin typeface="Arial Black" pitchFamily="34" charset="0"/>
                <a:ea typeface="Arial Black" pitchFamily="34" charset="-122"/>
                <a:cs typeface="Arial Black" pitchFamily="34" charset="-120"/>
              </a:rPr>
              <a:t>Máquina de adquisición:</a:t>
            </a:r>
            <a:endParaRPr lang="en-US" sz="4200" dirty="0"/>
          </a:p>
          <a:p>
            <a:pPr algn="l" indent="0" marL="0">
              <a:buNone/>
            </a:pPr>
            <a:r>
              <a:rPr lang="en-US" sz="4200" b="1" dirty="0">
                <a:solidFill>
                  <a:srgbClr val="FFFFFF"/>
                </a:solidFill>
                <a:latin typeface="Arial Black" pitchFamily="34" charset="0"/>
                <a:ea typeface="Arial Black" pitchFamily="34" charset="-122"/>
                <a:cs typeface="Arial Black" pitchFamily="34" charset="-120"/>
              </a:rPr>
              <a:t>copies de Meta, Google</a:t>
            </a:r>
            <a:endParaRPr lang="en-US" sz="4200" dirty="0"/>
          </a:p>
          <a:p>
            <a:pPr algn="l" indent="0" marL="0">
              <a:buNone/>
            </a:pPr>
            <a:r>
              <a:rPr lang="en-US" sz="4200" b="1" dirty="0">
                <a:solidFill>
                  <a:srgbClr val="FFFFFF"/>
                </a:solidFill>
                <a:latin typeface="Arial Black" pitchFamily="34" charset="0"/>
                <a:ea typeface="Arial Black" pitchFamily="34" charset="-122"/>
                <a:cs typeface="Arial Black" pitchFamily="34" charset="-120"/>
              </a:rPr>
              <a:t>y email en minutos</a:t>
            </a:r>
            <a:endParaRPr lang="en-US" sz="4200" dirty="0"/>
          </a:p>
        </p:txBody>
      </p:sp>
      <p:sp>
        <p:nvSpPr>
          <p:cNvPr id="6" name="Shape 4"/>
          <p:cNvSpPr/>
          <p:nvPr/>
        </p:nvSpPr>
        <p:spPr>
          <a:xfrm>
            <a:off x="548640" y="4434840"/>
            <a:ext cx="3200400" cy="73152"/>
          </a:xfrm>
          <a:prstGeom prst="rect">
            <a:avLst/>
          </a:prstGeom>
          <a:solidFill>
            <a:srgbClr val="FF6B00"/>
          </a:solidFill>
          <a:ln/>
        </p:spPr>
      </p:sp>
      <p:sp>
        <p:nvSpPr>
          <p:cNvPr id="7" name="Text 5"/>
          <p:cNvSpPr/>
          <p:nvPr/>
        </p:nvSpPr>
        <p:spPr>
          <a:xfrm>
            <a:off x="548640" y="4617720"/>
            <a:ext cx="10058400" cy="1097280"/>
          </a:xfrm>
          <a:prstGeom prst="rect">
            <a:avLst/>
          </a:prstGeom>
          <a:noFill/>
          <a:ln/>
        </p:spPr>
        <p:txBody>
          <a:bodyPr wrap="square" rtlCol="0" anchor="t"/>
          <a:lstStyle/>
          <a:p>
            <a:pPr algn="l" indent="0" marL="0">
              <a:buNone/>
            </a:pPr>
            <a:r>
              <a:rPr lang="en-US" sz="1800" dirty="0">
                <a:solidFill>
                  <a:srgbClr val="EEFF89"/>
                </a:solidFill>
                <a:latin typeface="Calibri" pitchFamily="34" charset="0"/>
                <a:ea typeface="Calibri" pitchFamily="34" charset="-122"/>
                <a:cs typeface="Calibri" pitchFamily="34" charset="-120"/>
              </a:rPr>
              <a:t>Módulo 02 · Clase 04 · Instructor B</a:t>
            </a:r>
            <a:endParaRPr lang="en-US" sz="1800" dirty="0"/>
          </a:p>
        </p:txBody>
      </p:sp>
      <p:sp>
        <p:nvSpPr>
          <p:cNvPr id="8" name="Shape 6"/>
          <p:cNvSpPr/>
          <p:nvPr/>
        </p:nvSpPr>
        <p:spPr>
          <a:xfrm>
            <a:off x="9601200" y="6126480"/>
            <a:ext cx="2011680" cy="457200"/>
          </a:xfrm>
          <a:prstGeom prst="rect">
            <a:avLst/>
          </a:prstGeom>
          <a:solidFill>
            <a:srgbClr val="FF6B00"/>
          </a:solidFill>
          <a:ln/>
        </p:spPr>
      </p:sp>
      <p:sp>
        <p:nvSpPr>
          <p:cNvPr id="9" name="Text 7"/>
          <p:cNvSpPr/>
          <p:nvPr/>
        </p:nvSpPr>
        <p:spPr>
          <a:xfrm>
            <a:off x="9601200" y="6126480"/>
            <a:ext cx="2011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 minutos</a:t>
            </a:r>
            <a:endParaRPr lang="en-US" sz="1400" dirty="0"/>
          </a:p>
        </p:txBody>
      </p:sp>
      <p:sp>
        <p:nvSpPr>
          <p:cNvPr id="10" name="Shape 8"/>
          <p:cNvSpPr/>
          <p:nvPr/>
        </p:nvSpPr>
        <p:spPr>
          <a:xfrm>
            <a:off x="0" y="6748272"/>
            <a:ext cx="12188952" cy="109728"/>
          </a:xfrm>
          <a:prstGeom prst="rect">
            <a:avLst/>
          </a:prstGeom>
          <a:solidFill>
            <a:srgbClr val="FF00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FF0000"/>
          </a:solidFill>
          <a:ln/>
        </p:spPr>
      </p:sp>
      <p:sp>
        <p:nvSpPr>
          <p:cNvPr id="3" name="Text 1"/>
          <p:cNvSpPr/>
          <p:nvPr/>
        </p:nvSpPr>
        <p:spPr>
          <a:xfrm>
            <a:off x="914400" y="365760"/>
            <a:ext cx="10360152" cy="457200"/>
          </a:xfrm>
          <a:prstGeom prst="rect">
            <a:avLst/>
          </a:prstGeom>
          <a:noFill/>
          <a:ln/>
        </p:spPr>
        <p:txBody>
          <a:bodyPr wrap="square" rtlCol="0" anchor="ctr"/>
          <a:lstStyle/>
          <a:p>
            <a:pPr algn="ctr" indent="0" marL="0">
              <a:buNone/>
            </a:pPr>
            <a:r>
              <a:rPr lang="en-US" sz="1600" b="1" dirty="0">
                <a:solidFill>
                  <a:srgbClr val="FF6B00"/>
                </a:solidFill>
                <a:latin typeface="Calibri" pitchFamily="34" charset="0"/>
                <a:ea typeface="Calibri" pitchFamily="34" charset="-122"/>
                <a:cs typeface="Calibri" pitchFamily="34" charset="-120"/>
              </a:rPr>
              <a:t>EL PROBLEMA REAL</a:t>
            </a:r>
            <a:endParaRPr lang="en-US" sz="1600" dirty="0"/>
          </a:p>
        </p:txBody>
      </p:sp>
      <p:sp>
        <p:nvSpPr>
          <p:cNvPr id="4" name="Text 2"/>
          <p:cNvSpPr/>
          <p:nvPr/>
        </p:nvSpPr>
        <p:spPr>
          <a:xfrm>
            <a:off x="457200" y="1097280"/>
            <a:ext cx="11274552" cy="2560320"/>
          </a:xfrm>
          <a:prstGeom prst="rect">
            <a:avLst/>
          </a:prstGeom>
          <a:noFill/>
          <a:ln/>
        </p:spPr>
        <p:txBody>
          <a:bodyPr wrap="square" rtlCol="0" anchor="ctr"/>
          <a:lstStyle/>
          <a:p>
            <a:pPr algn="ctr" indent="0" marL="0">
              <a:buNone/>
            </a:pPr>
            <a:r>
              <a:rPr lang="en-US" sz="9600" b="1" dirty="0">
                <a:solidFill>
                  <a:srgbClr val="EEFF89"/>
                </a:solidFill>
                <a:latin typeface="Arial Black" pitchFamily="34" charset="0"/>
                <a:ea typeface="Arial Black" pitchFamily="34" charset="-122"/>
                <a:cs typeface="Arial Black" pitchFamily="34" charset="-120"/>
              </a:rPr>
              <a:t>3 días</a:t>
            </a:r>
            <a:endParaRPr lang="en-US" sz="9600" dirty="0"/>
          </a:p>
        </p:txBody>
      </p:sp>
      <p:sp>
        <p:nvSpPr>
          <p:cNvPr id="5" name="Shape 3"/>
          <p:cNvSpPr/>
          <p:nvPr/>
        </p:nvSpPr>
        <p:spPr>
          <a:xfrm>
            <a:off x="2743200" y="3749040"/>
            <a:ext cx="6702552" cy="73152"/>
          </a:xfrm>
          <a:prstGeom prst="rect">
            <a:avLst/>
          </a:prstGeom>
          <a:solidFill>
            <a:srgbClr val="FF6B00"/>
          </a:solidFill>
          <a:ln/>
        </p:spPr>
      </p:sp>
      <p:sp>
        <p:nvSpPr>
          <p:cNvPr id="6" name="Text 4"/>
          <p:cNvSpPr/>
          <p:nvPr/>
        </p:nvSpPr>
        <p:spPr>
          <a:xfrm>
            <a:off x="914400" y="3886200"/>
            <a:ext cx="10360152"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es lo que tarda el algoritmo en quemar tus creativos</a:t>
            </a:r>
            <a:endParaRPr lang="en-US" sz="2200" dirty="0"/>
          </a:p>
        </p:txBody>
      </p:sp>
      <p:sp>
        <p:nvSpPr>
          <p:cNvPr id="7" name="Text 5"/>
          <p:cNvSpPr/>
          <p:nvPr/>
        </p:nvSpPr>
        <p:spPr>
          <a:xfrm>
            <a:off x="1371600" y="4754880"/>
            <a:ext cx="9445752" cy="1645920"/>
          </a:xfrm>
          <a:prstGeom prst="rect">
            <a:avLst/>
          </a:prstGeom>
          <a:noFill/>
          <a:ln/>
        </p:spPr>
        <p:txBody>
          <a:bodyPr wrap="square" rtlCol="0" anchor="ctr"/>
          <a:lstStyle/>
          <a:p>
            <a:pPr algn="ctr" indent="0" marL="0">
              <a:buNone/>
            </a:pPr>
            <a:r>
              <a:rPr lang="en-US" sz="1600" dirty="0">
                <a:solidFill>
                  <a:srgbClr val="CCCCCC"/>
                </a:solidFill>
                <a:latin typeface="Calibri" pitchFamily="34" charset="0"/>
                <a:ea typeface="Calibri" pitchFamily="34" charset="-122"/>
                <a:cs typeface="Calibri" pitchFamily="34" charset="-120"/>
              </a:rPr>
              <a:t>Tu equipo tarda una semana en producir las variaciones siguientes. Eso es el cuello de botella. No el presupuesto.</a:t>
            </a:r>
            <a:endParaRPr lang="en-US" sz="1600" dirty="0"/>
          </a:p>
        </p:txBody>
      </p:sp>
      <p:sp>
        <p:nvSpPr>
          <p:cNvPr id="8" name="Shape 6"/>
          <p:cNvSpPr/>
          <p:nvPr/>
        </p:nvSpPr>
        <p:spPr>
          <a:xfrm>
            <a:off x="0" y="6748272"/>
            <a:ext cx="12188952" cy="109728"/>
          </a:xfrm>
          <a:prstGeom prst="rect">
            <a:avLst/>
          </a:prstGeom>
          <a:solidFill>
            <a:srgbClr val="FF000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00000"/>
          </a:solidFill>
          <a:ln/>
        </p:spPr>
      </p:sp>
      <p:sp>
        <p:nvSpPr>
          <p:cNvPr id="3" name="Text 1"/>
          <p:cNvSpPr/>
          <p:nvPr/>
        </p:nvSpPr>
        <p:spPr>
          <a:xfrm>
            <a:off x="365760" y="0"/>
            <a:ext cx="11430000" cy="1005840"/>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El flujo de producción de copies en 3 pasos</a:t>
            </a:r>
            <a:endParaRPr lang="en-US" sz="2600" dirty="0"/>
          </a:p>
        </p:txBody>
      </p:sp>
      <p:sp>
        <p:nvSpPr>
          <p:cNvPr id="4" name="Shape 2"/>
          <p:cNvSpPr/>
          <p:nvPr/>
        </p:nvSpPr>
        <p:spPr>
          <a:xfrm>
            <a:off x="0" y="987552"/>
            <a:ext cx="12188952" cy="64008"/>
          </a:xfrm>
          <a:prstGeom prst="rect">
            <a:avLst/>
          </a:prstGeom>
          <a:solidFill>
            <a:srgbClr val="EEFF89"/>
          </a:solidFill>
          <a:ln/>
        </p:spPr>
      </p:sp>
      <p:sp>
        <p:nvSpPr>
          <p:cNvPr id="5" name="Shape 3"/>
          <p:cNvSpPr/>
          <p:nvPr/>
        </p:nvSpPr>
        <p:spPr>
          <a:xfrm>
            <a:off x="320040" y="1325880"/>
            <a:ext cx="640080" cy="640080"/>
          </a:xfrm>
          <a:prstGeom prst="ellipse">
            <a:avLst/>
          </a:prstGeom>
          <a:solidFill>
            <a:srgbClr val="FF0000"/>
          </a:solidFill>
          <a:ln/>
        </p:spPr>
      </p:sp>
      <p:sp>
        <p:nvSpPr>
          <p:cNvPr id="6" name="Text 4"/>
          <p:cNvSpPr/>
          <p:nvPr/>
        </p:nvSpPr>
        <p:spPr>
          <a:xfrm>
            <a:off x="320040" y="1325880"/>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7" name="Shape 5"/>
          <p:cNvSpPr/>
          <p:nvPr/>
        </p:nvSpPr>
        <p:spPr>
          <a:xfrm>
            <a:off x="621792" y="1965960"/>
            <a:ext cx="36576" cy="320040"/>
          </a:xfrm>
          <a:prstGeom prst="rect">
            <a:avLst/>
          </a:prstGeom>
          <a:solidFill>
            <a:srgbClr val="DDDDDD"/>
          </a:solidFill>
          <a:ln/>
        </p:spPr>
      </p:sp>
      <p:sp>
        <p:nvSpPr>
          <p:cNvPr id="8" name="Shape 6"/>
          <p:cNvSpPr/>
          <p:nvPr/>
        </p:nvSpPr>
        <p:spPr>
          <a:xfrm>
            <a:off x="1143000" y="1280160"/>
            <a:ext cx="10607040" cy="749808"/>
          </a:xfrm>
          <a:prstGeom prst="rect">
            <a:avLst/>
          </a:prstGeom>
          <a:solidFill>
            <a:srgbClr val="F5F5F5"/>
          </a:solidFill>
          <a:ln w="12700">
            <a:solidFill>
              <a:srgbClr val="FF0000"/>
            </a:solidFill>
            <a:prstDash val="solid"/>
          </a:ln>
        </p:spPr>
      </p:sp>
      <p:sp>
        <p:nvSpPr>
          <p:cNvPr id="9" name="Text 7"/>
          <p:cNvSpPr/>
          <p:nvPr/>
        </p:nvSpPr>
        <p:spPr>
          <a:xfrm>
            <a:off x="1325880" y="1280160"/>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PASO 1: Pega tus métricas — CTR por campaña, CPC, costo por resultado, copy ganador actual. Exporta de Meta Ads Manager o Google Ads (últimos 7 días).</a:t>
            </a:r>
            <a:endParaRPr lang="en-US" sz="1400" dirty="0"/>
          </a:p>
        </p:txBody>
      </p:sp>
      <p:sp>
        <p:nvSpPr>
          <p:cNvPr id="10" name="Shape 8"/>
          <p:cNvSpPr/>
          <p:nvPr/>
        </p:nvSpPr>
        <p:spPr>
          <a:xfrm>
            <a:off x="320040" y="2258568"/>
            <a:ext cx="640080" cy="640080"/>
          </a:xfrm>
          <a:prstGeom prst="ellipse">
            <a:avLst/>
          </a:prstGeom>
          <a:solidFill>
            <a:srgbClr val="FF6B00"/>
          </a:solidFill>
          <a:ln/>
        </p:spPr>
      </p:sp>
      <p:sp>
        <p:nvSpPr>
          <p:cNvPr id="11" name="Text 9"/>
          <p:cNvSpPr/>
          <p:nvPr/>
        </p:nvSpPr>
        <p:spPr>
          <a:xfrm>
            <a:off x="320040" y="2258568"/>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2" name="Shape 10"/>
          <p:cNvSpPr/>
          <p:nvPr/>
        </p:nvSpPr>
        <p:spPr>
          <a:xfrm>
            <a:off x="621792" y="2898648"/>
            <a:ext cx="36576" cy="320040"/>
          </a:xfrm>
          <a:prstGeom prst="rect">
            <a:avLst/>
          </a:prstGeom>
          <a:solidFill>
            <a:srgbClr val="DDDDDD"/>
          </a:solidFill>
          <a:ln/>
        </p:spPr>
      </p:sp>
      <p:sp>
        <p:nvSpPr>
          <p:cNvPr id="13" name="Shape 11"/>
          <p:cNvSpPr/>
          <p:nvPr/>
        </p:nvSpPr>
        <p:spPr>
          <a:xfrm>
            <a:off x="1143000" y="2212848"/>
            <a:ext cx="10607040" cy="749808"/>
          </a:xfrm>
          <a:prstGeom prst="rect">
            <a:avLst/>
          </a:prstGeom>
          <a:solidFill>
            <a:srgbClr val="F5F5F5"/>
          </a:solidFill>
          <a:ln w="12700">
            <a:solidFill>
              <a:srgbClr val="FF6B00"/>
            </a:solidFill>
            <a:prstDash val="solid"/>
          </a:ln>
        </p:spPr>
      </p:sp>
      <p:sp>
        <p:nvSpPr>
          <p:cNvPr id="14" name="Text 12"/>
          <p:cNvSpPr/>
          <p:nvPr/>
        </p:nvSpPr>
        <p:spPr>
          <a:xfrm>
            <a:off x="1325880" y="2212848"/>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PASO 2: Entrega el contexto que Claude no tiene — ICP específico, objetivo de campaña (número concreto), canal exacto, restricciones de plataforma, qué está ganando ahora y por qué.</a:t>
            </a:r>
            <a:endParaRPr lang="en-US" sz="1400" dirty="0"/>
          </a:p>
        </p:txBody>
      </p:sp>
      <p:sp>
        <p:nvSpPr>
          <p:cNvPr id="15" name="Shape 13"/>
          <p:cNvSpPr/>
          <p:nvPr/>
        </p:nvSpPr>
        <p:spPr>
          <a:xfrm>
            <a:off x="320040" y="3191256"/>
            <a:ext cx="640080" cy="640080"/>
          </a:xfrm>
          <a:prstGeom prst="ellipse">
            <a:avLst/>
          </a:prstGeom>
          <a:solidFill>
            <a:srgbClr val="000000"/>
          </a:solidFill>
          <a:ln/>
        </p:spPr>
      </p:sp>
      <p:sp>
        <p:nvSpPr>
          <p:cNvPr id="16" name="Text 14"/>
          <p:cNvSpPr/>
          <p:nvPr/>
        </p:nvSpPr>
        <p:spPr>
          <a:xfrm>
            <a:off x="320040" y="3191256"/>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7" name="Shape 15"/>
          <p:cNvSpPr/>
          <p:nvPr/>
        </p:nvSpPr>
        <p:spPr>
          <a:xfrm>
            <a:off x="1143000" y="3145536"/>
            <a:ext cx="10607040" cy="749808"/>
          </a:xfrm>
          <a:prstGeom prst="rect">
            <a:avLst/>
          </a:prstGeom>
          <a:solidFill>
            <a:srgbClr val="F5F5F5"/>
          </a:solidFill>
          <a:ln w="12700">
            <a:solidFill>
              <a:srgbClr val="000000"/>
            </a:solidFill>
            <a:prstDash val="solid"/>
          </a:ln>
        </p:spPr>
      </p:sp>
      <p:sp>
        <p:nvSpPr>
          <p:cNvPr id="18" name="Text 16"/>
          <p:cNvSpPr/>
          <p:nvPr/>
        </p:nvSpPr>
        <p:spPr>
          <a:xfrm>
            <a:off x="1325880" y="3145536"/>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PASO 3: Pide variaciones con formato exacto — Headline de 7 palabras máximo, texto de 125 caracteres, CTA de 3 palabras. Claude trabaja con ese molde.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6B00"/>
          </a:solidFill>
          <a:ln/>
        </p:spPr>
      </p:sp>
      <p:sp>
        <p:nvSpPr>
          <p:cNvPr id="3" name="Shape 1"/>
          <p:cNvSpPr/>
          <p:nvPr/>
        </p:nvSpPr>
        <p:spPr>
          <a:xfrm>
            <a:off x="164592" y="0"/>
            <a:ext cx="12024360" cy="1143000"/>
          </a:xfrm>
          <a:prstGeom prst="rect">
            <a:avLst/>
          </a:prstGeom>
          <a:solidFill>
            <a:srgbClr val="000000"/>
          </a:solidFill>
          <a:ln/>
        </p:spPr>
      </p:sp>
      <p:sp>
        <p:nvSpPr>
          <p:cNvPr id="4" name="Text 2"/>
          <p:cNvSpPr/>
          <p:nvPr/>
        </p:nvSpPr>
        <p:spPr>
          <a:xfrm>
            <a:off x="457200" y="0"/>
            <a:ext cx="11430000" cy="1143000"/>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Los 5 elementos de contexto que nunca pueden faltar</a:t>
            </a:r>
            <a:endParaRPr lang="en-US" sz="2600" dirty="0"/>
          </a:p>
        </p:txBody>
      </p:sp>
      <p:sp>
        <p:nvSpPr>
          <p:cNvPr id="5" name="Shape 3"/>
          <p:cNvSpPr/>
          <p:nvPr/>
        </p:nvSpPr>
        <p:spPr>
          <a:xfrm>
            <a:off x="164592" y="1124712"/>
            <a:ext cx="12024360" cy="73152"/>
          </a:xfrm>
          <a:prstGeom prst="rect">
            <a:avLst/>
          </a:prstGeom>
          <a:solidFill>
            <a:srgbClr val="EEFF89"/>
          </a:solidFill>
          <a:ln/>
        </p:spPr>
      </p:sp>
      <p:sp>
        <p:nvSpPr>
          <p:cNvPr id="6" name="Shape 4"/>
          <p:cNvSpPr/>
          <p:nvPr/>
        </p:nvSpPr>
        <p:spPr>
          <a:xfrm>
            <a:off x="457200" y="1490472"/>
            <a:ext cx="384048" cy="384048"/>
          </a:xfrm>
          <a:prstGeom prst="rect">
            <a:avLst/>
          </a:prstGeom>
          <a:solidFill>
            <a:srgbClr val="FF6B00"/>
          </a:solidFill>
          <a:ln/>
        </p:spPr>
      </p:sp>
      <p:sp>
        <p:nvSpPr>
          <p:cNvPr id="7" name="Text 5"/>
          <p:cNvSpPr/>
          <p:nvPr/>
        </p:nvSpPr>
        <p:spPr>
          <a:xfrm>
            <a:off x="457200" y="149047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005840" y="141732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ICP específico — No "emprendedores". "Fundadores de SaaS B2B en etapa seed con 2 a 10 personas en el equipo".</a:t>
            </a:r>
            <a:endParaRPr lang="en-US" sz="1500" dirty="0"/>
          </a:p>
        </p:txBody>
      </p:sp>
      <p:sp>
        <p:nvSpPr>
          <p:cNvPr id="9" name="Shape 7"/>
          <p:cNvSpPr/>
          <p:nvPr/>
        </p:nvSpPr>
        <p:spPr>
          <a:xfrm>
            <a:off x="457200" y="2221992"/>
            <a:ext cx="384048" cy="384048"/>
          </a:xfrm>
          <a:prstGeom prst="rect">
            <a:avLst/>
          </a:prstGeom>
          <a:solidFill>
            <a:srgbClr val="FF6B00"/>
          </a:solidFill>
          <a:ln/>
        </p:spPr>
      </p:sp>
      <p:sp>
        <p:nvSpPr>
          <p:cNvPr id="10" name="Text 8"/>
          <p:cNvSpPr/>
          <p:nvPr/>
        </p:nvSpPr>
        <p:spPr>
          <a:xfrm>
            <a:off x="457200" y="222199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005840" y="214884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Objetivo de campaña — Clicks, conversiones, ROAS, costo por lead. Un número concreto.</a:t>
            </a:r>
            <a:endParaRPr lang="en-US" sz="1500" dirty="0"/>
          </a:p>
        </p:txBody>
      </p:sp>
      <p:sp>
        <p:nvSpPr>
          <p:cNvPr id="12" name="Shape 10"/>
          <p:cNvSpPr/>
          <p:nvPr/>
        </p:nvSpPr>
        <p:spPr>
          <a:xfrm>
            <a:off x="457200" y="2953512"/>
            <a:ext cx="384048" cy="384048"/>
          </a:xfrm>
          <a:prstGeom prst="rect">
            <a:avLst/>
          </a:prstGeom>
          <a:solidFill>
            <a:srgbClr val="FF6B00"/>
          </a:solidFill>
          <a:ln/>
        </p:spPr>
      </p:sp>
      <p:sp>
        <p:nvSpPr>
          <p:cNvPr id="13" name="Text 11"/>
          <p:cNvSpPr/>
          <p:nvPr/>
        </p:nvSpPr>
        <p:spPr>
          <a:xfrm>
            <a:off x="457200" y="295351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005840" y="288036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El canal — Meta, Google Search, Google Display, email frío. Cada uno tiene su gramática.</a:t>
            </a:r>
            <a:endParaRPr lang="en-US" sz="1500" dirty="0"/>
          </a:p>
        </p:txBody>
      </p:sp>
      <p:sp>
        <p:nvSpPr>
          <p:cNvPr id="15" name="Shape 13"/>
          <p:cNvSpPr/>
          <p:nvPr/>
        </p:nvSpPr>
        <p:spPr>
          <a:xfrm>
            <a:off x="457200" y="3685032"/>
            <a:ext cx="384048" cy="384048"/>
          </a:xfrm>
          <a:prstGeom prst="rect">
            <a:avLst/>
          </a:prstGeom>
          <a:solidFill>
            <a:srgbClr val="FF6B00"/>
          </a:solidFill>
          <a:ln/>
        </p:spPr>
      </p:sp>
      <p:sp>
        <p:nvSpPr>
          <p:cNvPr id="16" name="Text 14"/>
          <p:cNvSpPr/>
          <p:nvPr/>
        </p:nvSpPr>
        <p:spPr>
          <a:xfrm>
            <a:off x="457200" y="368503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005840" y="361188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Las restricciones — Límite de caracteres, palabras prohibidas, oferta activa, precio que no quieres mencionar.</a:t>
            </a:r>
            <a:endParaRPr lang="en-US" sz="1500" dirty="0"/>
          </a:p>
        </p:txBody>
      </p:sp>
      <p:sp>
        <p:nvSpPr>
          <p:cNvPr id="18" name="Shape 16"/>
          <p:cNvSpPr/>
          <p:nvPr/>
        </p:nvSpPr>
        <p:spPr>
          <a:xfrm>
            <a:off x="457200" y="4416552"/>
            <a:ext cx="384048" cy="384048"/>
          </a:xfrm>
          <a:prstGeom prst="rect">
            <a:avLst/>
          </a:prstGeom>
          <a:solidFill>
            <a:srgbClr val="FF6B00"/>
          </a:solidFill>
          <a:ln/>
        </p:spPr>
      </p:sp>
      <p:sp>
        <p:nvSpPr>
          <p:cNvPr id="19" name="Text 17"/>
          <p:cNvSpPr/>
          <p:nvPr/>
        </p:nvSpPr>
        <p:spPr>
          <a:xfrm>
            <a:off x="457200" y="441655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0" name="Text 18"/>
          <p:cNvSpPr/>
          <p:nvPr/>
        </p:nvSpPr>
        <p:spPr>
          <a:xfrm>
            <a:off x="1005840" y="4343400"/>
            <a:ext cx="10789920" cy="640080"/>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Qué está ganando ahora y por qué — Si sabes por qué funciona, se lo dices. Si no, se lo preguntas primero.</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Text 1"/>
          <p:cNvSpPr/>
          <p:nvPr/>
        </p:nvSpPr>
        <p:spPr>
          <a:xfrm>
            <a:off x="457200" y="457200"/>
            <a:ext cx="1828800" cy="1828800"/>
          </a:xfrm>
          <a:prstGeom prst="rect">
            <a:avLst/>
          </a:prstGeom>
          <a:noFill/>
          <a:ln/>
        </p:spPr>
        <p:txBody>
          <a:bodyPr wrap="square" rtlCol="0" anchor="t"/>
          <a:lstStyle/>
          <a:p>
            <a:pPr algn="l" indent="0" marL="0">
              <a:buNone/>
            </a:pPr>
            <a:r>
              <a:rPr lang="en-US" sz="9600" dirty="0">
                <a:solidFill>
                  <a:srgbClr val="FF0000"/>
                </a:solidFill>
                <a:latin typeface="Arial Black" pitchFamily="34" charset="0"/>
                <a:ea typeface="Arial Black" pitchFamily="34" charset="-122"/>
                <a:cs typeface="Arial Black" pitchFamily="34" charset="-120"/>
              </a:rPr>
              <a:t>“</a:t>
            </a:r>
            <a:endParaRPr lang="en-US" sz="9600" dirty="0"/>
          </a:p>
        </p:txBody>
      </p:sp>
      <p:sp>
        <p:nvSpPr>
          <p:cNvPr id="4" name="Text 2"/>
          <p:cNvSpPr/>
          <p:nvPr/>
        </p:nvSpPr>
        <p:spPr>
          <a:xfrm>
            <a:off x="1371600" y="1097280"/>
            <a:ext cx="9418320" cy="4114800"/>
          </a:xfrm>
          <a:prstGeom prst="rect">
            <a:avLst/>
          </a:prstGeom>
          <a:noFill/>
          <a:ln/>
        </p:spPr>
        <p:txBody>
          <a:bodyPr wrap="square" rtlCol="0" anchor="ctr"/>
          <a:lstStyle/>
          <a:p>
            <a:pPr algn="ctr" indent="0" marL="0">
              <a:buNone/>
            </a:pPr>
            <a:r>
              <a:rPr lang="en-US" sz="2200" i="1" dirty="0">
                <a:solidFill>
                  <a:srgbClr val="FFFFFF"/>
                </a:solidFill>
                <a:latin typeface="Calibri" pitchFamily="34" charset="0"/>
                <a:ea typeface="Calibri" pitchFamily="34" charset="-122"/>
                <a:cs typeface="Calibri" pitchFamily="34" charset="-120"/>
              </a:rPr>
              <a:t>Lo que hace que este flujo funcione no es Claude.</a:t>
            </a:r>
            <a:endParaRPr lang="en-US" sz="2200" dirty="0"/>
          </a:p>
          <a:p>
            <a:pPr algn="ctr" indent="0" marL="0">
              <a:buNone/>
            </a:pPr>
            <a:r>
              <a:rPr lang="en-US" sz="2200" i="1" dirty="0">
                <a:solidFill>
                  <a:srgbClr val="FFFFFF"/>
                </a:solidFill>
                <a:latin typeface="Calibri" pitchFamily="34" charset="0"/>
                <a:ea typeface="Calibri" pitchFamily="34" charset="-122"/>
                <a:cs typeface="Calibri" pitchFamily="34" charset="-120"/>
              </a:rPr>
              <a:t>Es que por primera vez estás alimentando el proceso creativo</a:t>
            </a:r>
            <a:endParaRPr lang="en-US" sz="2200" dirty="0"/>
          </a:p>
          <a:p>
            <a:pPr algn="ctr" indent="0" marL="0">
              <a:buNone/>
            </a:pPr>
            <a:r>
              <a:rPr lang="en-US" sz="2200" i="1" dirty="0">
                <a:solidFill>
                  <a:srgbClr val="FFFFFF"/>
                </a:solidFill>
                <a:latin typeface="Calibri" pitchFamily="34" charset="0"/>
                <a:ea typeface="Calibri" pitchFamily="34" charset="-122"/>
                <a:cs typeface="Calibri" pitchFamily="34" charset="-120"/>
              </a:rPr>
              <a:t>con datos reales en tiempo real.</a:t>
            </a:r>
            <a:endParaRPr lang="en-US" sz="2200" dirty="0"/>
          </a:p>
        </p:txBody>
      </p:sp>
      <p:sp>
        <p:nvSpPr>
          <p:cNvPr id="5" name="Shape 3"/>
          <p:cNvSpPr/>
          <p:nvPr/>
        </p:nvSpPr>
        <p:spPr>
          <a:xfrm>
            <a:off x="3657600" y="5394960"/>
            <a:ext cx="4873752" cy="73152"/>
          </a:xfrm>
          <a:prstGeom prst="rect">
            <a:avLst/>
          </a:prstGeom>
          <a:solidFill>
            <a:srgbClr val="FF0000"/>
          </a:solidFill>
          <a:ln/>
        </p:spPr>
      </p:sp>
      <p:sp>
        <p:nvSpPr>
          <p:cNvPr id="6" name="Text 4"/>
          <p:cNvSpPr/>
          <p:nvPr/>
        </p:nvSpPr>
        <p:spPr>
          <a:xfrm>
            <a:off x="1371600" y="5577840"/>
            <a:ext cx="9418320" cy="640080"/>
          </a:xfrm>
          <a:prstGeom prst="rect">
            <a:avLst/>
          </a:prstGeom>
          <a:noFill/>
          <a:ln/>
        </p:spPr>
        <p:txBody>
          <a:bodyPr wrap="square" rtlCol="0" anchor="ctr"/>
          <a:lstStyle/>
          <a:p>
            <a:pPr algn="ctr" indent="0" marL="0">
              <a:buNone/>
            </a:pPr>
            <a:r>
              <a:rPr lang="en-US" sz="1500" b="1" dirty="0">
                <a:solidFill>
                  <a:srgbClr val="EEFF89"/>
                </a:solidFill>
                <a:latin typeface="Calibri" pitchFamily="34" charset="0"/>
                <a:ea typeface="Calibri" pitchFamily="34" charset="-122"/>
                <a:cs typeface="Calibri" pitchFamily="34" charset="-120"/>
              </a:rPr>
              <a:t>Inteligencia de mercado aplicada a velocidad de ejecución</a:t>
            </a:r>
            <a:endParaRPr lang="en-US" sz="1500" dirty="0"/>
          </a:p>
        </p:txBody>
      </p:sp>
      <p:sp>
        <p:nvSpPr>
          <p:cNvPr id="7" name="Shape 5"/>
          <p:cNvSpPr/>
          <p:nvPr/>
        </p:nvSpPr>
        <p:spPr>
          <a:xfrm>
            <a:off x="0" y="6748272"/>
            <a:ext cx="12188952" cy="109728"/>
          </a:xfrm>
          <a:prstGeom prst="rect">
            <a:avLst/>
          </a:prstGeom>
          <a:solidFill>
            <a:srgbClr val="FF0000"/>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00000"/>
          </a:solidFill>
          <a:ln/>
        </p:spPr>
      </p:sp>
      <p:sp>
        <p:nvSpPr>
          <p:cNvPr id="3" name="Text 1"/>
          <p:cNvSpPr/>
          <p:nvPr/>
        </p:nvSpPr>
        <p:spPr>
          <a:xfrm>
            <a:off x="365760" y="0"/>
            <a:ext cx="11430000" cy="1005840"/>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La secuencia completa: 4 momentos para escalar lo que funciona</a:t>
            </a:r>
            <a:endParaRPr lang="en-US" sz="2600" dirty="0"/>
          </a:p>
        </p:txBody>
      </p:sp>
      <p:sp>
        <p:nvSpPr>
          <p:cNvPr id="4" name="Shape 2"/>
          <p:cNvSpPr/>
          <p:nvPr/>
        </p:nvSpPr>
        <p:spPr>
          <a:xfrm>
            <a:off x="0" y="987552"/>
            <a:ext cx="12188952" cy="64008"/>
          </a:xfrm>
          <a:prstGeom prst="rect">
            <a:avLst/>
          </a:prstGeom>
          <a:solidFill>
            <a:srgbClr val="EEFF89"/>
          </a:solidFill>
          <a:ln/>
        </p:spPr>
      </p:sp>
      <p:sp>
        <p:nvSpPr>
          <p:cNvPr id="5" name="Shape 3"/>
          <p:cNvSpPr/>
          <p:nvPr/>
        </p:nvSpPr>
        <p:spPr>
          <a:xfrm>
            <a:off x="320040" y="1325880"/>
            <a:ext cx="640080" cy="640080"/>
          </a:xfrm>
          <a:prstGeom prst="ellipse">
            <a:avLst/>
          </a:prstGeom>
          <a:solidFill>
            <a:srgbClr val="FF0000"/>
          </a:solidFill>
          <a:ln/>
        </p:spPr>
      </p:sp>
      <p:sp>
        <p:nvSpPr>
          <p:cNvPr id="6" name="Text 4"/>
          <p:cNvSpPr/>
          <p:nvPr/>
        </p:nvSpPr>
        <p:spPr>
          <a:xfrm>
            <a:off x="320040" y="1325880"/>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7" name="Shape 5"/>
          <p:cNvSpPr/>
          <p:nvPr/>
        </p:nvSpPr>
        <p:spPr>
          <a:xfrm>
            <a:off x="621792" y="1965960"/>
            <a:ext cx="36576" cy="320040"/>
          </a:xfrm>
          <a:prstGeom prst="rect">
            <a:avLst/>
          </a:prstGeom>
          <a:solidFill>
            <a:srgbClr val="DDDDDD"/>
          </a:solidFill>
          <a:ln/>
        </p:spPr>
      </p:sp>
      <p:sp>
        <p:nvSpPr>
          <p:cNvPr id="8" name="Shape 6"/>
          <p:cNvSpPr/>
          <p:nvPr/>
        </p:nvSpPr>
        <p:spPr>
          <a:xfrm>
            <a:off x="1143000" y="1280160"/>
            <a:ext cx="10607040" cy="749808"/>
          </a:xfrm>
          <a:prstGeom prst="rect">
            <a:avLst/>
          </a:prstGeom>
          <a:solidFill>
            <a:srgbClr val="F5F5F5"/>
          </a:solidFill>
          <a:ln w="12700">
            <a:solidFill>
              <a:srgbClr val="FF0000"/>
            </a:solidFill>
            <a:prstDash val="solid"/>
          </a:ln>
        </p:spPr>
      </p:sp>
      <p:sp>
        <p:nvSpPr>
          <p:cNvPr id="9" name="Text 7"/>
          <p:cNvSpPr/>
          <p:nvPr/>
        </p:nvSpPr>
        <p:spPr>
          <a:xfrm>
            <a:off x="1325880" y="1280160"/>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MOMENTO 1 — Análisis: "¿Qué está ganando y por qué?" → Claude identifica patrones de CTR, ángulos ganadores, estructuras que convierten.</a:t>
            </a:r>
            <a:endParaRPr lang="en-US" sz="1400" dirty="0"/>
          </a:p>
        </p:txBody>
      </p:sp>
      <p:sp>
        <p:nvSpPr>
          <p:cNvPr id="10" name="Shape 8"/>
          <p:cNvSpPr/>
          <p:nvPr/>
        </p:nvSpPr>
        <p:spPr>
          <a:xfrm>
            <a:off x="320040" y="2258568"/>
            <a:ext cx="640080" cy="640080"/>
          </a:xfrm>
          <a:prstGeom prst="ellipse">
            <a:avLst/>
          </a:prstGeom>
          <a:solidFill>
            <a:srgbClr val="FF6B00"/>
          </a:solidFill>
          <a:ln/>
        </p:spPr>
      </p:sp>
      <p:sp>
        <p:nvSpPr>
          <p:cNvPr id="11" name="Text 9"/>
          <p:cNvSpPr/>
          <p:nvPr/>
        </p:nvSpPr>
        <p:spPr>
          <a:xfrm>
            <a:off x="320040" y="2258568"/>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2" name="Shape 10"/>
          <p:cNvSpPr/>
          <p:nvPr/>
        </p:nvSpPr>
        <p:spPr>
          <a:xfrm>
            <a:off x="621792" y="2898648"/>
            <a:ext cx="36576" cy="320040"/>
          </a:xfrm>
          <a:prstGeom prst="rect">
            <a:avLst/>
          </a:prstGeom>
          <a:solidFill>
            <a:srgbClr val="DDDDDD"/>
          </a:solidFill>
          <a:ln/>
        </p:spPr>
      </p:sp>
      <p:sp>
        <p:nvSpPr>
          <p:cNvPr id="13" name="Shape 11"/>
          <p:cNvSpPr/>
          <p:nvPr/>
        </p:nvSpPr>
        <p:spPr>
          <a:xfrm>
            <a:off x="1143000" y="2212848"/>
            <a:ext cx="10607040" cy="749808"/>
          </a:xfrm>
          <a:prstGeom prst="rect">
            <a:avLst/>
          </a:prstGeom>
          <a:solidFill>
            <a:srgbClr val="F5F5F5"/>
          </a:solidFill>
          <a:ln w="12700">
            <a:solidFill>
              <a:srgbClr val="FF6B00"/>
            </a:solidFill>
            <a:prstDash val="solid"/>
          </a:ln>
        </p:spPr>
      </p:sp>
      <p:sp>
        <p:nvSpPr>
          <p:cNvPr id="14" name="Text 12"/>
          <p:cNvSpPr/>
          <p:nvPr/>
        </p:nvSpPr>
        <p:spPr>
          <a:xfrm>
            <a:off x="1325880" y="2212848"/>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MOMENTO 2 — Hipótesis: "¿Cuál es el siguiente ángulo a probar?" → De la evidencia real a la próxima apuesta creativa.</a:t>
            </a:r>
            <a:endParaRPr lang="en-US" sz="1400" dirty="0"/>
          </a:p>
        </p:txBody>
      </p:sp>
      <p:sp>
        <p:nvSpPr>
          <p:cNvPr id="15" name="Shape 13"/>
          <p:cNvSpPr/>
          <p:nvPr/>
        </p:nvSpPr>
        <p:spPr>
          <a:xfrm>
            <a:off x="320040" y="3191256"/>
            <a:ext cx="640080" cy="640080"/>
          </a:xfrm>
          <a:prstGeom prst="ellipse">
            <a:avLst/>
          </a:prstGeom>
          <a:solidFill>
            <a:srgbClr val="000000"/>
          </a:solidFill>
          <a:ln/>
        </p:spPr>
      </p:sp>
      <p:sp>
        <p:nvSpPr>
          <p:cNvPr id="16" name="Text 14"/>
          <p:cNvSpPr/>
          <p:nvPr/>
        </p:nvSpPr>
        <p:spPr>
          <a:xfrm>
            <a:off x="320040" y="3191256"/>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7" name="Shape 15"/>
          <p:cNvSpPr/>
          <p:nvPr/>
        </p:nvSpPr>
        <p:spPr>
          <a:xfrm>
            <a:off x="621792" y="3831336"/>
            <a:ext cx="36576" cy="320040"/>
          </a:xfrm>
          <a:prstGeom prst="rect">
            <a:avLst/>
          </a:prstGeom>
          <a:solidFill>
            <a:srgbClr val="DDDDDD"/>
          </a:solidFill>
          <a:ln/>
        </p:spPr>
      </p:sp>
      <p:sp>
        <p:nvSpPr>
          <p:cNvPr id="18" name="Shape 16"/>
          <p:cNvSpPr/>
          <p:nvPr/>
        </p:nvSpPr>
        <p:spPr>
          <a:xfrm>
            <a:off x="1143000" y="3145536"/>
            <a:ext cx="10607040" cy="749808"/>
          </a:xfrm>
          <a:prstGeom prst="rect">
            <a:avLst/>
          </a:prstGeom>
          <a:solidFill>
            <a:srgbClr val="F5F5F5"/>
          </a:solidFill>
          <a:ln w="12700">
            <a:solidFill>
              <a:srgbClr val="000000"/>
            </a:solidFill>
            <a:prstDash val="solid"/>
          </a:ln>
        </p:spPr>
      </p:sp>
      <p:sp>
        <p:nvSpPr>
          <p:cNvPr id="19" name="Text 17"/>
          <p:cNvSpPr/>
          <p:nvPr/>
        </p:nvSpPr>
        <p:spPr>
          <a:xfrm>
            <a:off x="1325880" y="3145536"/>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MOMENTO 3 — Generación: "Dame 5 variaciones con ese ángulo, en este formato" → Output directo listo para subir.</a:t>
            </a:r>
            <a:endParaRPr lang="en-US" sz="1400" dirty="0"/>
          </a:p>
        </p:txBody>
      </p:sp>
      <p:sp>
        <p:nvSpPr>
          <p:cNvPr id="20" name="Shape 18"/>
          <p:cNvSpPr/>
          <p:nvPr/>
        </p:nvSpPr>
        <p:spPr>
          <a:xfrm>
            <a:off x="320040" y="4123944"/>
            <a:ext cx="640080" cy="640080"/>
          </a:xfrm>
          <a:prstGeom prst="ellipse">
            <a:avLst/>
          </a:prstGeom>
          <a:solidFill>
            <a:srgbClr val="FF0000"/>
          </a:solidFill>
          <a:ln/>
        </p:spPr>
      </p:sp>
      <p:sp>
        <p:nvSpPr>
          <p:cNvPr id="21" name="Text 19"/>
          <p:cNvSpPr/>
          <p:nvPr/>
        </p:nvSpPr>
        <p:spPr>
          <a:xfrm>
            <a:off x="320040" y="4123944"/>
            <a:ext cx="640080" cy="64008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4</a:t>
            </a:r>
            <a:endParaRPr lang="en-US" sz="2000" dirty="0"/>
          </a:p>
        </p:txBody>
      </p:sp>
      <p:sp>
        <p:nvSpPr>
          <p:cNvPr id="22" name="Shape 20"/>
          <p:cNvSpPr/>
          <p:nvPr/>
        </p:nvSpPr>
        <p:spPr>
          <a:xfrm>
            <a:off x="1143000" y="4078224"/>
            <a:ext cx="10607040" cy="749808"/>
          </a:xfrm>
          <a:prstGeom prst="rect">
            <a:avLst/>
          </a:prstGeom>
          <a:solidFill>
            <a:srgbClr val="F5F5F5"/>
          </a:solidFill>
          <a:ln w="12700">
            <a:solidFill>
              <a:srgbClr val="FF0000"/>
            </a:solidFill>
            <a:prstDash val="solid"/>
          </a:ln>
        </p:spPr>
      </p:sp>
      <p:sp>
        <p:nvSpPr>
          <p:cNvPr id="23" name="Text 21"/>
          <p:cNvSpPr/>
          <p:nvPr/>
        </p:nvSpPr>
        <p:spPr>
          <a:xfrm>
            <a:off x="1325880" y="4078224"/>
            <a:ext cx="10241280" cy="749808"/>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MOMENTO 4 — Refinamiento: "La variación 3 está bien pero el hook es genérico — reescríbelo con el dolor más específico."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FF0000"/>
          </a:solidFill>
          <a:ln/>
        </p:spPr>
      </p:sp>
      <p:sp>
        <p:nvSpPr>
          <p:cNvPr id="3" name="Text 1"/>
          <p:cNvSpPr/>
          <p:nvPr/>
        </p:nvSpPr>
        <p:spPr>
          <a:xfrm>
            <a:off x="365760" y="0"/>
            <a:ext cx="11430000" cy="1005840"/>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Diferencias por canal — lo que debes confirmarle a Claude</a:t>
            </a:r>
            <a:endParaRPr lang="en-US" sz="2600" dirty="0"/>
          </a:p>
        </p:txBody>
      </p:sp>
      <p:sp>
        <p:nvSpPr>
          <p:cNvPr id="4" name="Shape 2"/>
          <p:cNvSpPr/>
          <p:nvPr/>
        </p:nvSpPr>
        <p:spPr>
          <a:xfrm>
            <a:off x="320040" y="1188720"/>
            <a:ext cx="3657600" cy="548640"/>
          </a:xfrm>
          <a:prstGeom prst="rect">
            <a:avLst/>
          </a:prstGeom>
          <a:solidFill>
            <a:srgbClr val="FF0000"/>
          </a:solidFill>
          <a:ln/>
        </p:spPr>
      </p:sp>
      <p:sp>
        <p:nvSpPr>
          <p:cNvPr id="5" name="Text 3"/>
          <p:cNvSpPr/>
          <p:nvPr/>
        </p:nvSpPr>
        <p:spPr>
          <a:xfrm>
            <a:off x="320040" y="1188720"/>
            <a:ext cx="365760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META ADS</a:t>
            </a:r>
            <a:endParaRPr lang="en-US" sz="1500" dirty="0"/>
          </a:p>
        </p:txBody>
      </p:sp>
      <p:sp>
        <p:nvSpPr>
          <p:cNvPr id="6" name="Shape 4"/>
          <p:cNvSpPr/>
          <p:nvPr/>
        </p:nvSpPr>
        <p:spPr>
          <a:xfrm>
            <a:off x="320040" y="1737360"/>
            <a:ext cx="3657600" cy="4846320"/>
          </a:xfrm>
          <a:prstGeom prst="rect">
            <a:avLst/>
          </a:prstGeom>
          <a:solidFill>
            <a:srgbClr val="FAFAFA"/>
          </a:solidFill>
          <a:ln w="12700">
            <a:solidFill>
              <a:srgbClr val="DDDDDD"/>
            </a:solidFill>
            <a:prstDash val="solid"/>
          </a:ln>
        </p:spPr>
      </p:sp>
      <p:sp>
        <p:nvSpPr>
          <p:cNvPr id="7" name="Shape 5"/>
          <p:cNvSpPr/>
          <p:nvPr/>
        </p:nvSpPr>
        <p:spPr>
          <a:xfrm>
            <a:off x="429768" y="1920240"/>
            <a:ext cx="54864" cy="475488"/>
          </a:xfrm>
          <a:prstGeom prst="rect">
            <a:avLst/>
          </a:prstGeom>
          <a:solidFill>
            <a:srgbClr val="FF0000"/>
          </a:solidFill>
          <a:ln/>
        </p:spPr>
      </p:sp>
      <p:sp>
        <p:nvSpPr>
          <p:cNvPr id="8" name="Text 6"/>
          <p:cNvSpPr/>
          <p:nvPr/>
        </p:nvSpPr>
        <p:spPr>
          <a:xfrm>
            <a:off x="594360" y="1901952"/>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El hook visual es el 70% del trabajo</a:t>
            </a:r>
            <a:endParaRPr lang="en-US" sz="1300" dirty="0"/>
          </a:p>
        </p:txBody>
      </p:sp>
      <p:sp>
        <p:nvSpPr>
          <p:cNvPr id="9" name="Shape 7"/>
          <p:cNvSpPr/>
          <p:nvPr/>
        </p:nvSpPr>
        <p:spPr>
          <a:xfrm>
            <a:off x="429768" y="2724912"/>
            <a:ext cx="54864" cy="475488"/>
          </a:xfrm>
          <a:prstGeom prst="rect">
            <a:avLst/>
          </a:prstGeom>
          <a:solidFill>
            <a:srgbClr val="FF0000"/>
          </a:solidFill>
          <a:ln/>
        </p:spPr>
      </p:sp>
      <p:sp>
        <p:nvSpPr>
          <p:cNvPr id="10" name="Text 8"/>
          <p:cNvSpPr/>
          <p:nvPr/>
        </p:nvSpPr>
        <p:spPr>
          <a:xfrm>
            <a:off x="594360" y="2706624"/>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Las primeras 2 líneas deciden si leen el resto</a:t>
            </a:r>
            <a:endParaRPr lang="en-US" sz="1300" dirty="0"/>
          </a:p>
        </p:txBody>
      </p:sp>
      <p:sp>
        <p:nvSpPr>
          <p:cNvPr id="11" name="Shape 9"/>
          <p:cNvSpPr/>
          <p:nvPr/>
        </p:nvSpPr>
        <p:spPr>
          <a:xfrm>
            <a:off x="429768" y="3529584"/>
            <a:ext cx="54864" cy="475488"/>
          </a:xfrm>
          <a:prstGeom prst="rect">
            <a:avLst/>
          </a:prstGeom>
          <a:solidFill>
            <a:srgbClr val="FF0000"/>
          </a:solidFill>
          <a:ln/>
        </p:spPr>
      </p:sp>
      <p:sp>
        <p:nvSpPr>
          <p:cNvPr id="12" name="Text 10"/>
          <p:cNvSpPr/>
          <p:nvPr/>
        </p:nvSpPr>
        <p:spPr>
          <a:xfrm>
            <a:off x="594360" y="3511296"/>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Abre con dolor o afirmación provocadora</a:t>
            </a:r>
            <a:endParaRPr lang="en-US" sz="1300" dirty="0"/>
          </a:p>
        </p:txBody>
      </p:sp>
      <p:sp>
        <p:nvSpPr>
          <p:cNvPr id="13" name="Shape 11"/>
          <p:cNvSpPr/>
          <p:nvPr/>
        </p:nvSpPr>
        <p:spPr>
          <a:xfrm>
            <a:off x="429768" y="4334256"/>
            <a:ext cx="54864" cy="475488"/>
          </a:xfrm>
          <a:prstGeom prst="rect">
            <a:avLst/>
          </a:prstGeom>
          <a:solidFill>
            <a:srgbClr val="FF0000"/>
          </a:solidFill>
          <a:ln/>
        </p:spPr>
      </p:sp>
      <p:sp>
        <p:nvSpPr>
          <p:cNvPr id="14" name="Text 12"/>
          <p:cNvSpPr/>
          <p:nvPr/>
        </p:nvSpPr>
        <p:spPr>
          <a:xfrm>
            <a:off x="594360" y="4315968"/>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Especifica: awareness, consideración o conversión</a:t>
            </a:r>
            <a:endParaRPr lang="en-US" sz="1300" dirty="0"/>
          </a:p>
        </p:txBody>
      </p:sp>
      <p:sp>
        <p:nvSpPr>
          <p:cNvPr id="15" name="Shape 13"/>
          <p:cNvSpPr/>
          <p:nvPr/>
        </p:nvSpPr>
        <p:spPr>
          <a:xfrm>
            <a:off x="4343400" y="1188720"/>
            <a:ext cx="3657600" cy="548640"/>
          </a:xfrm>
          <a:prstGeom prst="rect">
            <a:avLst/>
          </a:prstGeom>
          <a:solidFill>
            <a:srgbClr val="FF6B00"/>
          </a:solidFill>
          <a:ln/>
        </p:spPr>
      </p:sp>
      <p:sp>
        <p:nvSpPr>
          <p:cNvPr id="16" name="Text 14"/>
          <p:cNvSpPr/>
          <p:nvPr/>
        </p:nvSpPr>
        <p:spPr>
          <a:xfrm>
            <a:off x="4343400" y="1188720"/>
            <a:ext cx="365760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GOOGLE SEARCH</a:t>
            </a:r>
            <a:endParaRPr lang="en-US" sz="1500" dirty="0"/>
          </a:p>
        </p:txBody>
      </p:sp>
      <p:sp>
        <p:nvSpPr>
          <p:cNvPr id="17" name="Shape 15"/>
          <p:cNvSpPr/>
          <p:nvPr/>
        </p:nvSpPr>
        <p:spPr>
          <a:xfrm>
            <a:off x="4343400" y="1737360"/>
            <a:ext cx="3657600" cy="4846320"/>
          </a:xfrm>
          <a:prstGeom prst="rect">
            <a:avLst/>
          </a:prstGeom>
          <a:solidFill>
            <a:srgbClr val="FAFAFA"/>
          </a:solidFill>
          <a:ln w="12700">
            <a:solidFill>
              <a:srgbClr val="DDDDDD"/>
            </a:solidFill>
            <a:prstDash val="solid"/>
          </a:ln>
        </p:spPr>
      </p:sp>
      <p:sp>
        <p:nvSpPr>
          <p:cNvPr id="18" name="Shape 16"/>
          <p:cNvSpPr/>
          <p:nvPr/>
        </p:nvSpPr>
        <p:spPr>
          <a:xfrm>
            <a:off x="4453128" y="1920240"/>
            <a:ext cx="54864" cy="475488"/>
          </a:xfrm>
          <a:prstGeom prst="rect">
            <a:avLst/>
          </a:prstGeom>
          <a:solidFill>
            <a:srgbClr val="FF6B00"/>
          </a:solidFill>
          <a:ln/>
        </p:spPr>
      </p:sp>
      <p:sp>
        <p:nvSpPr>
          <p:cNvPr id="19" name="Text 17"/>
          <p:cNvSpPr/>
          <p:nvPr/>
        </p:nvSpPr>
        <p:spPr>
          <a:xfrm>
            <a:off x="4617720" y="1901952"/>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El usuario ya tiene intención de compra</a:t>
            </a:r>
            <a:endParaRPr lang="en-US" sz="1300" dirty="0"/>
          </a:p>
        </p:txBody>
      </p:sp>
      <p:sp>
        <p:nvSpPr>
          <p:cNvPr id="20" name="Shape 18"/>
          <p:cNvSpPr/>
          <p:nvPr/>
        </p:nvSpPr>
        <p:spPr>
          <a:xfrm>
            <a:off x="4453128" y="2724912"/>
            <a:ext cx="54864" cy="475488"/>
          </a:xfrm>
          <a:prstGeom prst="rect">
            <a:avLst/>
          </a:prstGeom>
          <a:solidFill>
            <a:srgbClr val="FF6B00"/>
          </a:solidFill>
          <a:ln/>
        </p:spPr>
      </p:sp>
      <p:sp>
        <p:nvSpPr>
          <p:cNvPr id="21" name="Text 19"/>
          <p:cNvSpPr/>
          <p:nvPr/>
        </p:nvSpPr>
        <p:spPr>
          <a:xfrm>
            <a:off x="4617720" y="2706624"/>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Titulares de 30 caracteres por campo máximo</a:t>
            </a:r>
            <a:endParaRPr lang="en-US" sz="1300" dirty="0"/>
          </a:p>
        </p:txBody>
      </p:sp>
      <p:sp>
        <p:nvSpPr>
          <p:cNvPr id="22" name="Shape 20"/>
          <p:cNvSpPr/>
          <p:nvPr/>
        </p:nvSpPr>
        <p:spPr>
          <a:xfrm>
            <a:off x="4453128" y="3529584"/>
            <a:ext cx="54864" cy="475488"/>
          </a:xfrm>
          <a:prstGeom prst="rect">
            <a:avLst/>
          </a:prstGeom>
          <a:solidFill>
            <a:srgbClr val="FF6B00"/>
          </a:solidFill>
          <a:ln/>
        </p:spPr>
      </p:sp>
      <p:sp>
        <p:nvSpPr>
          <p:cNvPr id="23" name="Text 21"/>
          <p:cNvSpPr/>
          <p:nvPr/>
        </p:nvSpPr>
        <p:spPr>
          <a:xfrm>
            <a:off x="4617720" y="3511296"/>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Compite con 3 anuncios más en el mismo instante</a:t>
            </a:r>
            <a:endParaRPr lang="en-US" sz="1300" dirty="0"/>
          </a:p>
        </p:txBody>
      </p:sp>
      <p:sp>
        <p:nvSpPr>
          <p:cNvPr id="24" name="Shape 22"/>
          <p:cNvSpPr/>
          <p:nvPr/>
        </p:nvSpPr>
        <p:spPr>
          <a:xfrm>
            <a:off x="4453128" y="4334256"/>
            <a:ext cx="54864" cy="475488"/>
          </a:xfrm>
          <a:prstGeom prst="rect">
            <a:avLst/>
          </a:prstGeom>
          <a:solidFill>
            <a:srgbClr val="FF6B00"/>
          </a:solidFill>
          <a:ln/>
        </p:spPr>
      </p:sp>
      <p:sp>
        <p:nvSpPr>
          <p:cNvPr id="25" name="Text 23"/>
          <p:cNvSpPr/>
          <p:nvPr/>
        </p:nvSpPr>
        <p:spPr>
          <a:xfrm>
            <a:off x="4617720" y="4315968"/>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Incluir palabras clave sin sonar robótico</a:t>
            </a:r>
            <a:endParaRPr lang="en-US" sz="1300" dirty="0"/>
          </a:p>
        </p:txBody>
      </p:sp>
      <p:sp>
        <p:nvSpPr>
          <p:cNvPr id="26" name="Shape 24"/>
          <p:cNvSpPr/>
          <p:nvPr/>
        </p:nvSpPr>
        <p:spPr>
          <a:xfrm>
            <a:off x="8366760" y="1188720"/>
            <a:ext cx="3657600" cy="548640"/>
          </a:xfrm>
          <a:prstGeom prst="rect">
            <a:avLst/>
          </a:prstGeom>
          <a:solidFill>
            <a:srgbClr val="000000"/>
          </a:solidFill>
          <a:ln/>
        </p:spPr>
      </p:sp>
      <p:sp>
        <p:nvSpPr>
          <p:cNvPr id="27" name="Text 25"/>
          <p:cNvSpPr/>
          <p:nvPr/>
        </p:nvSpPr>
        <p:spPr>
          <a:xfrm>
            <a:off x="8366760" y="1188720"/>
            <a:ext cx="3657600" cy="5486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EMAIL ADQUISICIÓN</a:t>
            </a:r>
            <a:endParaRPr lang="en-US" sz="1500" dirty="0"/>
          </a:p>
        </p:txBody>
      </p:sp>
      <p:sp>
        <p:nvSpPr>
          <p:cNvPr id="28" name="Shape 26"/>
          <p:cNvSpPr/>
          <p:nvPr/>
        </p:nvSpPr>
        <p:spPr>
          <a:xfrm>
            <a:off x="8366760" y="1737360"/>
            <a:ext cx="3657600" cy="4846320"/>
          </a:xfrm>
          <a:prstGeom prst="rect">
            <a:avLst/>
          </a:prstGeom>
          <a:solidFill>
            <a:srgbClr val="FAFAFA"/>
          </a:solidFill>
          <a:ln w="12700">
            <a:solidFill>
              <a:srgbClr val="DDDDDD"/>
            </a:solidFill>
            <a:prstDash val="solid"/>
          </a:ln>
        </p:spPr>
      </p:sp>
      <p:sp>
        <p:nvSpPr>
          <p:cNvPr id="29" name="Shape 27"/>
          <p:cNvSpPr/>
          <p:nvPr/>
        </p:nvSpPr>
        <p:spPr>
          <a:xfrm>
            <a:off x="8476488" y="1920240"/>
            <a:ext cx="54864" cy="475488"/>
          </a:xfrm>
          <a:prstGeom prst="rect">
            <a:avLst/>
          </a:prstGeom>
          <a:solidFill>
            <a:srgbClr val="000000"/>
          </a:solidFill>
          <a:ln/>
        </p:spPr>
      </p:sp>
      <p:sp>
        <p:nvSpPr>
          <p:cNvPr id="30" name="Text 28"/>
          <p:cNvSpPr/>
          <p:nvPr/>
        </p:nvSpPr>
        <p:spPr>
          <a:xfrm>
            <a:off x="8641080" y="1901952"/>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Asunto + preheader = 80% de la apertura</a:t>
            </a:r>
            <a:endParaRPr lang="en-US" sz="1300" dirty="0"/>
          </a:p>
        </p:txBody>
      </p:sp>
      <p:sp>
        <p:nvSpPr>
          <p:cNvPr id="31" name="Shape 29"/>
          <p:cNvSpPr/>
          <p:nvPr/>
        </p:nvSpPr>
        <p:spPr>
          <a:xfrm>
            <a:off x="8476488" y="2724912"/>
            <a:ext cx="54864" cy="475488"/>
          </a:xfrm>
          <a:prstGeom prst="rect">
            <a:avLst/>
          </a:prstGeom>
          <a:solidFill>
            <a:srgbClr val="000000"/>
          </a:solidFill>
          <a:ln/>
        </p:spPr>
      </p:sp>
      <p:sp>
        <p:nvSpPr>
          <p:cNvPr id="32" name="Text 30"/>
          <p:cNvSpPr/>
          <p:nvPr/>
        </p:nvSpPr>
        <p:spPr>
          <a:xfrm>
            <a:off x="8641080" y="2706624"/>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10 variaciones de asunto en un minuto</a:t>
            </a:r>
            <a:endParaRPr lang="en-US" sz="1300" dirty="0"/>
          </a:p>
        </p:txBody>
      </p:sp>
      <p:sp>
        <p:nvSpPr>
          <p:cNvPr id="33" name="Shape 31"/>
          <p:cNvSpPr/>
          <p:nvPr/>
        </p:nvSpPr>
        <p:spPr>
          <a:xfrm>
            <a:off x="8476488" y="3529584"/>
            <a:ext cx="54864" cy="475488"/>
          </a:xfrm>
          <a:prstGeom prst="rect">
            <a:avLst/>
          </a:prstGeom>
          <a:solidFill>
            <a:srgbClr val="000000"/>
          </a:solidFill>
          <a:ln/>
        </p:spPr>
      </p:sp>
      <p:sp>
        <p:nvSpPr>
          <p:cNvPr id="34" name="Text 32"/>
          <p:cNvSpPr/>
          <p:nvPr/>
        </p:nvSpPr>
        <p:spPr>
          <a:xfrm>
            <a:off x="8641080" y="3511296"/>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Con/sin emojis, con/sin personalización</a:t>
            </a:r>
            <a:endParaRPr lang="en-US" sz="1300" dirty="0"/>
          </a:p>
        </p:txBody>
      </p:sp>
      <p:sp>
        <p:nvSpPr>
          <p:cNvPr id="35" name="Shape 33"/>
          <p:cNvSpPr/>
          <p:nvPr/>
        </p:nvSpPr>
        <p:spPr>
          <a:xfrm>
            <a:off x="8476488" y="4334256"/>
            <a:ext cx="54864" cy="475488"/>
          </a:xfrm>
          <a:prstGeom prst="rect">
            <a:avLst/>
          </a:prstGeom>
          <a:solidFill>
            <a:srgbClr val="000000"/>
          </a:solidFill>
          <a:ln/>
        </p:spPr>
      </p:sp>
      <p:sp>
        <p:nvSpPr>
          <p:cNvPr id="36" name="Text 34"/>
          <p:cNvSpPr/>
          <p:nvPr/>
        </p:nvSpPr>
        <p:spPr>
          <a:xfrm>
            <a:off x="8641080" y="4315968"/>
            <a:ext cx="3291840" cy="658368"/>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Estructura de 4 párrafos que Claude domina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0000"/>
          </a:solidFill>
          <a:ln/>
        </p:spPr>
      </p:sp>
      <p:sp>
        <p:nvSpPr>
          <p:cNvPr id="3" name="Text 1"/>
          <p:cNvSpPr/>
          <p:nvPr/>
        </p:nvSpPr>
        <p:spPr>
          <a:xfrm>
            <a:off x="365760" y="0"/>
            <a:ext cx="11430000" cy="960120"/>
          </a:xfrm>
          <a:prstGeom prst="rect">
            <a:avLst/>
          </a:prstGeom>
          <a:noFill/>
          <a:ln/>
        </p:spPr>
        <p:txBody>
          <a:bodyPr wrap="square" rtlCol="0" anchor="ctr"/>
          <a:lstStyle/>
          <a:p>
            <a:pPr indent="0" marL="0">
              <a:buNone/>
            </a:pPr>
            <a:r>
              <a:rPr lang="en-US" sz="2400" b="1" dirty="0">
                <a:solidFill>
                  <a:srgbClr val="FFFFFF"/>
                </a:solidFill>
                <a:latin typeface="Arial Black" pitchFamily="34" charset="0"/>
                <a:ea typeface="Arial Black" pitchFamily="34" charset="-122"/>
                <a:cs typeface="Arial Black" pitchFamily="34" charset="-120"/>
              </a:rPr>
              <a:t>El prompt de análisis que lo cambia todo</a:t>
            </a:r>
            <a:endParaRPr lang="en-US" sz="2400" dirty="0"/>
          </a:p>
        </p:txBody>
      </p:sp>
      <p:sp>
        <p:nvSpPr>
          <p:cNvPr id="4" name="Shape 2"/>
          <p:cNvSpPr/>
          <p:nvPr/>
        </p:nvSpPr>
        <p:spPr>
          <a:xfrm>
            <a:off x="0" y="941832"/>
            <a:ext cx="12188952" cy="54864"/>
          </a:xfrm>
          <a:prstGeom prst="rect">
            <a:avLst/>
          </a:prstGeom>
          <a:solidFill>
            <a:srgbClr val="FF6B00"/>
          </a:solidFill>
          <a:ln/>
        </p:spPr>
      </p:sp>
      <p:sp>
        <p:nvSpPr>
          <p:cNvPr id="5" name="Shape 3"/>
          <p:cNvSpPr/>
          <p:nvPr/>
        </p:nvSpPr>
        <p:spPr>
          <a:xfrm>
            <a:off x="365760" y="1170432"/>
            <a:ext cx="11430000" cy="4389120"/>
          </a:xfrm>
          <a:prstGeom prst="rect">
            <a:avLst/>
          </a:prstGeom>
          <a:solidFill>
            <a:srgbClr val="1E1E1E"/>
          </a:solidFill>
          <a:ln/>
        </p:spPr>
      </p:sp>
      <p:sp>
        <p:nvSpPr>
          <p:cNvPr id="6" name="Shape 4"/>
          <p:cNvSpPr/>
          <p:nvPr/>
        </p:nvSpPr>
        <p:spPr>
          <a:xfrm>
            <a:off x="365760" y="1170432"/>
            <a:ext cx="1828800" cy="347472"/>
          </a:xfrm>
          <a:prstGeom prst="rect">
            <a:avLst/>
          </a:prstGeom>
          <a:solidFill>
            <a:srgbClr val="FF6B00"/>
          </a:solidFill>
          <a:ln/>
        </p:spPr>
      </p:sp>
      <p:sp>
        <p:nvSpPr>
          <p:cNvPr id="7" name="Text 5"/>
          <p:cNvSpPr/>
          <p:nvPr/>
        </p:nvSpPr>
        <p:spPr>
          <a:xfrm>
            <a:off x="365760" y="1170432"/>
            <a:ext cx="182880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PROMPT</a:t>
            </a:r>
            <a:endParaRPr lang="en-US" sz="1100" dirty="0"/>
          </a:p>
        </p:txBody>
      </p:sp>
      <p:sp>
        <p:nvSpPr>
          <p:cNvPr id="8" name="Text 6"/>
          <p:cNvSpPr/>
          <p:nvPr/>
        </p:nvSpPr>
        <p:spPr>
          <a:xfrm>
            <a:off x="548640" y="1600200"/>
            <a:ext cx="11064240" cy="3749040"/>
          </a:xfrm>
          <a:prstGeom prst="rect">
            <a:avLst/>
          </a:prstGeom>
          <a:noFill/>
          <a:ln/>
        </p:spPr>
        <p:txBody>
          <a:bodyPr wrap="square" rtlCol="0" anchor="t"/>
          <a:lstStyle/>
          <a:p>
            <a:pPr indent="0" marL="0">
              <a:buNone/>
            </a:pPr>
            <a:r>
              <a:rPr lang="en-US" sz="1300" dirty="0">
                <a:solidFill>
                  <a:srgbClr val="EEFF89"/>
                </a:solidFill>
                <a:latin typeface="Courier New" pitchFamily="34" charset="0"/>
                <a:ea typeface="Courier New" pitchFamily="34" charset="-122"/>
                <a:cs typeface="Courier New" pitchFamily="34" charset="-120"/>
              </a:rPr>
              <a:t>Tengo estos datos de mis últimas campañas en Meta:</a:t>
            </a:r>
            <a:endParaRPr lang="en-US" sz="1300" dirty="0"/>
          </a:p>
          <a:p>
            <a:pPr indent="0" marL="0">
              <a:buNone/>
            </a:pP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[pega aquí: nombre de campaña, CTR, CPC, copy de los anuncios]</a:t>
            </a:r>
            <a:endParaRPr lang="en-US" sz="1300" dirty="0"/>
          </a:p>
          <a:p>
            <a:pPr indent="0" marL="0">
              <a:buNone/>
            </a:pP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Antes de generar variaciones nuevas, dime:</a:t>
            </a: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1. ¿Qué patrón tienen las campañas con mejor CTR?</a:t>
            </a: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2. ¿Qué ángulo o hook está resonando más?</a:t>
            </a: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3. ¿Qué cambiarías del anuncio con peor performance?</a:t>
            </a: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4. ¿Cuál es el siguiente ángulo a testear y por qué?</a:t>
            </a:r>
            <a:endParaRPr lang="en-US" sz="1300" dirty="0"/>
          </a:p>
          <a:p>
            <a:pPr indent="0" marL="0">
              <a:buNone/>
            </a:pPr>
            <a:endParaRPr lang="en-US" sz="1300" dirty="0"/>
          </a:p>
          <a:p>
            <a:pPr indent="0" marL="0">
              <a:buNone/>
            </a:pPr>
            <a:r>
              <a:rPr lang="en-US" sz="1300" dirty="0">
                <a:solidFill>
                  <a:srgbClr val="EEFF89"/>
                </a:solidFill>
                <a:latin typeface="Courier New" pitchFamily="34" charset="0"/>
                <a:ea typeface="Courier New" pitchFamily="34" charset="-122"/>
                <a:cs typeface="Courier New" pitchFamily="34" charset="-120"/>
              </a:rPr>
              <a:t>Sé específico. Usa los datos que te doy.</a:t>
            </a:r>
            <a:endParaRPr lang="en-US" sz="1300" dirty="0"/>
          </a:p>
        </p:txBody>
      </p:sp>
      <p:sp>
        <p:nvSpPr>
          <p:cNvPr id="9" name="Text 7"/>
          <p:cNvSpPr/>
          <p:nvPr/>
        </p:nvSpPr>
        <p:spPr>
          <a:xfrm>
            <a:off x="365760" y="5669280"/>
            <a:ext cx="11430000" cy="914400"/>
          </a:xfrm>
          <a:prstGeom prst="rect">
            <a:avLst/>
          </a:prstGeom>
          <a:noFill/>
          <a:ln/>
        </p:spPr>
        <p:txBody>
          <a:bodyPr wrap="square" rtlCol="0" anchor="ctr"/>
          <a:lstStyle/>
          <a:p>
            <a:pPr indent="0" marL="0">
              <a:buNone/>
            </a:pPr>
            <a:r>
              <a:rPr lang="en-US" sz="1300" i="1" dirty="0">
                <a:solidFill>
                  <a:srgbClr val="000000"/>
                </a:solidFill>
                <a:latin typeface="Calibri" pitchFamily="34" charset="0"/>
                <a:ea typeface="Calibri" pitchFamily="34" charset="-122"/>
                <a:cs typeface="Calibri" pitchFamily="34" charset="-120"/>
              </a:rPr>
              <a:t>Esta pregunta convierte a Claude en analista — razona sobre evidencia real ANTES de crear. Úsalo siempre como Paso 0.</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00000"/>
          </a:solidFill>
          <a:ln/>
        </p:spPr>
      </p:sp>
      <p:sp>
        <p:nvSpPr>
          <p:cNvPr id="3" name="Text 1"/>
          <p:cNvSpPr/>
          <p:nvPr/>
        </p:nvSpPr>
        <p:spPr>
          <a:xfrm>
            <a:off x="365760" y="0"/>
            <a:ext cx="11430000" cy="914400"/>
          </a:xfrm>
          <a:prstGeom prst="rect">
            <a:avLst/>
          </a:prstGeom>
          <a:noFill/>
          <a:ln/>
        </p:spPr>
        <p:txBody>
          <a:bodyPr wrap="square" rtlCol="0" anchor="ctr"/>
          <a:lstStyle/>
          <a:p>
            <a:pPr indent="0" marL="0">
              <a:buNone/>
            </a:pPr>
            <a:r>
              <a:rPr lang="en-US" sz="2400" b="1" dirty="0">
                <a:solidFill>
                  <a:srgbClr val="FFFFFF"/>
                </a:solidFill>
                <a:latin typeface="Arial Black" pitchFamily="34" charset="0"/>
                <a:ea typeface="Arial Black" pitchFamily="34" charset="-122"/>
                <a:cs typeface="Arial Black" pitchFamily="34" charset="-120"/>
              </a:rPr>
              <a:t>Antes vs. Ahora: cómo produce copy tu equipo</a:t>
            </a:r>
            <a:endParaRPr lang="en-US" sz="2400" dirty="0"/>
          </a:p>
        </p:txBody>
      </p:sp>
      <p:sp>
        <p:nvSpPr>
          <p:cNvPr id="4" name="Shape 2"/>
          <p:cNvSpPr/>
          <p:nvPr/>
        </p:nvSpPr>
        <p:spPr>
          <a:xfrm>
            <a:off x="0" y="914400"/>
            <a:ext cx="5760720" cy="5943600"/>
          </a:xfrm>
          <a:prstGeom prst="rect">
            <a:avLst/>
          </a:prstGeom>
          <a:solidFill>
            <a:srgbClr val="1A1A1A"/>
          </a:solidFill>
          <a:ln/>
        </p:spPr>
      </p:sp>
      <p:sp>
        <p:nvSpPr>
          <p:cNvPr id="5" name="Shape 3"/>
          <p:cNvSpPr/>
          <p:nvPr/>
        </p:nvSpPr>
        <p:spPr>
          <a:xfrm>
            <a:off x="274320" y="1078992"/>
            <a:ext cx="2194560" cy="457200"/>
          </a:xfrm>
          <a:prstGeom prst="rect">
            <a:avLst/>
          </a:prstGeom>
          <a:solidFill>
            <a:srgbClr val="FF4444"/>
          </a:solidFill>
          <a:ln/>
        </p:spPr>
      </p:sp>
      <p:sp>
        <p:nvSpPr>
          <p:cNvPr id="6" name="Text 4"/>
          <p:cNvSpPr/>
          <p:nvPr/>
        </p:nvSpPr>
        <p:spPr>
          <a:xfrm>
            <a:off x="274320" y="1078992"/>
            <a:ext cx="219456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ANTES</a:t>
            </a:r>
            <a:endParaRPr lang="en-US" sz="1400" dirty="0"/>
          </a:p>
        </p:txBody>
      </p:sp>
      <p:sp>
        <p:nvSpPr>
          <p:cNvPr id="7" name="Text 5"/>
          <p:cNvSpPr/>
          <p:nvPr/>
        </p:nvSpPr>
        <p:spPr>
          <a:xfrm>
            <a:off x="365760" y="1719072"/>
            <a:ext cx="5120640" cy="713232"/>
          </a:xfrm>
          <a:prstGeom prst="rect">
            <a:avLst/>
          </a:prstGeom>
          <a:noFill/>
          <a:ln/>
        </p:spPr>
        <p:txBody>
          <a:bodyPr wrap="square" rtlCol="0" anchor="ctr"/>
          <a:lstStyle/>
          <a:p>
            <a:pPr indent="0" marL="0">
              <a:buNone/>
            </a:pPr>
            <a:r>
              <a:rPr lang="en-US" sz="1300" dirty="0">
                <a:solidFill>
                  <a:srgbClr val="FF8888"/>
                </a:solidFill>
                <a:latin typeface="Calibri" pitchFamily="34" charset="0"/>
                <a:ea typeface="Calibri" pitchFamily="34" charset="-122"/>
                <a:cs typeface="Calibri" pitchFamily="34" charset="-120"/>
              </a:rPr>
              <a:t>✕  Brief estático de hace 6 meses</a:t>
            </a:r>
            <a:endParaRPr lang="en-US" sz="1300" dirty="0"/>
          </a:p>
        </p:txBody>
      </p:sp>
      <p:sp>
        <p:nvSpPr>
          <p:cNvPr id="8" name="Text 6"/>
          <p:cNvSpPr/>
          <p:nvPr/>
        </p:nvSpPr>
        <p:spPr>
          <a:xfrm>
            <a:off x="365760" y="2542032"/>
            <a:ext cx="5120640" cy="713232"/>
          </a:xfrm>
          <a:prstGeom prst="rect">
            <a:avLst/>
          </a:prstGeom>
          <a:noFill/>
          <a:ln/>
        </p:spPr>
        <p:txBody>
          <a:bodyPr wrap="square" rtlCol="0" anchor="ctr"/>
          <a:lstStyle/>
          <a:p>
            <a:pPr indent="0" marL="0">
              <a:buNone/>
            </a:pPr>
            <a:r>
              <a:rPr lang="en-US" sz="1300" dirty="0">
                <a:solidFill>
                  <a:srgbClr val="FF8888"/>
                </a:solidFill>
                <a:latin typeface="Calibri" pitchFamily="34" charset="0"/>
                <a:ea typeface="Calibri" pitchFamily="34" charset="-122"/>
                <a:cs typeface="Calibri" pitchFamily="34" charset="-120"/>
              </a:rPr>
              <a:t>✕  Una semana para producir variaciones</a:t>
            </a:r>
            <a:endParaRPr lang="en-US" sz="1300" dirty="0"/>
          </a:p>
        </p:txBody>
      </p:sp>
      <p:sp>
        <p:nvSpPr>
          <p:cNvPr id="9" name="Text 7"/>
          <p:cNvSpPr/>
          <p:nvPr/>
        </p:nvSpPr>
        <p:spPr>
          <a:xfrm>
            <a:off x="365760" y="3364992"/>
            <a:ext cx="5120640" cy="713232"/>
          </a:xfrm>
          <a:prstGeom prst="rect">
            <a:avLst/>
          </a:prstGeom>
          <a:noFill/>
          <a:ln/>
        </p:spPr>
        <p:txBody>
          <a:bodyPr wrap="square" rtlCol="0" anchor="ctr"/>
          <a:lstStyle/>
          <a:p>
            <a:pPr indent="0" marL="0">
              <a:buNone/>
            </a:pPr>
            <a:r>
              <a:rPr lang="en-US" sz="1300" dirty="0">
                <a:solidFill>
                  <a:srgbClr val="FF8888"/>
                </a:solidFill>
                <a:latin typeface="Calibri" pitchFamily="34" charset="0"/>
                <a:ea typeface="Calibri" pitchFamily="34" charset="-122"/>
                <a:cs typeface="Calibri" pitchFamily="34" charset="-120"/>
              </a:rPr>
              <a:t>✕  Sin datos de performance como input</a:t>
            </a:r>
            <a:endParaRPr lang="en-US" sz="1300" dirty="0"/>
          </a:p>
        </p:txBody>
      </p:sp>
      <p:sp>
        <p:nvSpPr>
          <p:cNvPr id="10" name="Text 8"/>
          <p:cNvSpPr/>
          <p:nvPr/>
        </p:nvSpPr>
        <p:spPr>
          <a:xfrm>
            <a:off x="365760" y="4187952"/>
            <a:ext cx="5120640" cy="713232"/>
          </a:xfrm>
          <a:prstGeom prst="rect">
            <a:avLst/>
          </a:prstGeom>
          <a:noFill/>
          <a:ln/>
        </p:spPr>
        <p:txBody>
          <a:bodyPr wrap="square" rtlCol="0" anchor="ctr"/>
          <a:lstStyle/>
          <a:p>
            <a:pPr indent="0" marL="0">
              <a:buNone/>
            </a:pPr>
            <a:r>
              <a:rPr lang="en-US" sz="1300" dirty="0">
                <a:solidFill>
                  <a:srgbClr val="FF8888"/>
                </a:solidFill>
                <a:latin typeface="Calibri" pitchFamily="34" charset="0"/>
                <a:ea typeface="Calibri" pitchFamily="34" charset="-122"/>
                <a:cs typeface="Calibri" pitchFamily="34" charset="-120"/>
              </a:rPr>
              <a:t>✕  Opiniones subjetivas sobre qué funciona</a:t>
            </a:r>
            <a:endParaRPr lang="en-US" sz="1300" dirty="0"/>
          </a:p>
        </p:txBody>
      </p:sp>
      <p:sp>
        <p:nvSpPr>
          <p:cNvPr id="11" name="Text 9"/>
          <p:cNvSpPr/>
          <p:nvPr/>
        </p:nvSpPr>
        <p:spPr>
          <a:xfrm>
            <a:off x="365760" y="5010912"/>
            <a:ext cx="5120640" cy="713232"/>
          </a:xfrm>
          <a:prstGeom prst="rect">
            <a:avLst/>
          </a:prstGeom>
          <a:noFill/>
          <a:ln/>
        </p:spPr>
        <p:txBody>
          <a:bodyPr wrap="square" rtlCol="0" anchor="ctr"/>
          <a:lstStyle/>
          <a:p>
            <a:pPr indent="0" marL="0">
              <a:buNone/>
            </a:pPr>
            <a:r>
              <a:rPr lang="en-US" sz="1300" dirty="0">
                <a:solidFill>
                  <a:srgbClr val="FF8888"/>
                </a:solidFill>
                <a:latin typeface="Calibri" pitchFamily="34" charset="0"/>
                <a:ea typeface="Calibri" pitchFamily="34" charset="-122"/>
                <a:cs typeface="Calibri" pitchFamily="34" charset="-120"/>
              </a:rPr>
              <a:t>✕  El algoritmo quema los creativos antes de iterar</a:t>
            </a:r>
            <a:endParaRPr lang="en-US" sz="1300" dirty="0"/>
          </a:p>
        </p:txBody>
      </p:sp>
      <p:sp>
        <p:nvSpPr>
          <p:cNvPr id="12" name="Shape 10"/>
          <p:cNvSpPr/>
          <p:nvPr/>
        </p:nvSpPr>
        <p:spPr>
          <a:xfrm>
            <a:off x="5715000" y="914400"/>
            <a:ext cx="777240" cy="5943600"/>
          </a:xfrm>
          <a:prstGeom prst="rect">
            <a:avLst/>
          </a:prstGeom>
          <a:solidFill>
            <a:srgbClr val="FF6B00"/>
          </a:solidFill>
          <a:ln/>
        </p:spPr>
      </p:sp>
      <p:sp>
        <p:nvSpPr>
          <p:cNvPr id="13" name="Text 11"/>
          <p:cNvSpPr/>
          <p:nvPr/>
        </p:nvSpPr>
        <p:spPr>
          <a:xfrm>
            <a:off x="5715000" y="3474720"/>
            <a:ext cx="777240" cy="82296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VS</a:t>
            </a:r>
            <a:endParaRPr lang="en-US" sz="2000" dirty="0"/>
          </a:p>
        </p:txBody>
      </p:sp>
      <p:sp>
        <p:nvSpPr>
          <p:cNvPr id="14" name="Shape 12"/>
          <p:cNvSpPr/>
          <p:nvPr/>
        </p:nvSpPr>
        <p:spPr>
          <a:xfrm>
            <a:off x="6492240" y="914400"/>
            <a:ext cx="5696712" cy="5943600"/>
          </a:xfrm>
          <a:prstGeom prst="rect">
            <a:avLst/>
          </a:prstGeom>
          <a:solidFill>
            <a:srgbClr val="F0FFF0"/>
          </a:solidFill>
          <a:ln/>
        </p:spPr>
      </p:sp>
      <p:sp>
        <p:nvSpPr>
          <p:cNvPr id="15" name="Shape 13"/>
          <p:cNvSpPr/>
          <p:nvPr/>
        </p:nvSpPr>
        <p:spPr>
          <a:xfrm>
            <a:off x="6766560" y="1078992"/>
            <a:ext cx="2286000" cy="457200"/>
          </a:xfrm>
          <a:prstGeom prst="rect">
            <a:avLst/>
          </a:prstGeom>
          <a:solidFill>
            <a:srgbClr val="FF0000"/>
          </a:solidFill>
          <a:ln/>
        </p:spPr>
      </p:sp>
      <p:sp>
        <p:nvSpPr>
          <p:cNvPr id="16" name="Text 14"/>
          <p:cNvSpPr/>
          <p:nvPr/>
        </p:nvSpPr>
        <p:spPr>
          <a:xfrm>
            <a:off x="6766560" y="1078992"/>
            <a:ext cx="22860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 CLAUDE</a:t>
            </a:r>
            <a:endParaRPr lang="en-US" sz="1400" dirty="0"/>
          </a:p>
        </p:txBody>
      </p:sp>
      <p:sp>
        <p:nvSpPr>
          <p:cNvPr id="17" name="Text 15"/>
          <p:cNvSpPr/>
          <p:nvPr/>
        </p:nvSpPr>
        <p:spPr>
          <a:xfrm>
            <a:off x="6675120" y="1719072"/>
            <a:ext cx="5303520" cy="713232"/>
          </a:xfrm>
          <a:prstGeom prst="rect">
            <a:avLst/>
          </a:prstGeom>
          <a:noFill/>
          <a:ln/>
        </p:spPr>
        <p:txBody>
          <a:bodyPr wrap="square" rtlCol="0" anchor="ctr"/>
          <a:lstStyle/>
          <a:p>
            <a:pPr indent="0" marL="0">
              <a:buNone/>
            </a:pPr>
            <a:r>
              <a:rPr lang="en-US" sz="1300" dirty="0">
                <a:solidFill>
                  <a:srgbClr val="1A6B1A"/>
                </a:solidFill>
                <a:latin typeface="Calibri" pitchFamily="34" charset="0"/>
                <a:ea typeface="Calibri" pitchFamily="34" charset="-122"/>
                <a:cs typeface="Calibri" pitchFamily="34" charset="-120"/>
              </a:rPr>
              <a:t>✓  Métricas de esta semana como input</a:t>
            </a:r>
            <a:endParaRPr lang="en-US" sz="1300" dirty="0"/>
          </a:p>
        </p:txBody>
      </p:sp>
      <p:sp>
        <p:nvSpPr>
          <p:cNvPr id="18" name="Text 16"/>
          <p:cNvSpPr/>
          <p:nvPr/>
        </p:nvSpPr>
        <p:spPr>
          <a:xfrm>
            <a:off x="6675120" y="2542032"/>
            <a:ext cx="5303520" cy="713232"/>
          </a:xfrm>
          <a:prstGeom prst="rect">
            <a:avLst/>
          </a:prstGeom>
          <a:noFill/>
          <a:ln/>
        </p:spPr>
        <p:txBody>
          <a:bodyPr wrap="square" rtlCol="0" anchor="ctr"/>
          <a:lstStyle/>
          <a:p>
            <a:pPr indent="0" marL="0">
              <a:buNone/>
            </a:pPr>
            <a:r>
              <a:rPr lang="en-US" sz="1300" dirty="0">
                <a:solidFill>
                  <a:srgbClr val="1A6B1A"/>
                </a:solidFill>
                <a:latin typeface="Calibri" pitchFamily="34" charset="0"/>
                <a:ea typeface="Calibri" pitchFamily="34" charset="-122"/>
                <a:cs typeface="Calibri" pitchFamily="34" charset="-120"/>
              </a:rPr>
              <a:t>✓  5 variaciones por canal en 10 minutos</a:t>
            </a:r>
            <a:endParaRPr lang="en-US" sz="1300" dirty="0"/>
          </a:p>
        </p:txBody>
      </p:sp>
      <p:sp>
        <p:nvSpPr>
          <p:cNvPr id="19" name="Text 17"/>
          <p:cNvSpPr/>
          <p:nvPr/>
        </p:nvSpPr>
        <p:spPr>
          <a:xfrm>
            <a:off x="6675120" y="3364992"/>
            <a:ext cx="5303520" cy="713232"/>
          </a:xfrm>
          <a:prstGeom prst="rect">
            <a:avLst/>
          </a:prstGeom>
          <a:noFill/>
          <a:ln/>
        </p:spPr>
        <p:txBody>
          <a:bodyPr wrap="square" rtlCol="0" anchor="ctr"/>
          <a:lstStyle/>
          <a:p>
            <a:pPr indent="0" marL="0">
              <a:buNone/>
            </a:pPr>
            <a:r>
              <a:rPr lang="en-US" sz="1300" dirty="0">
                <a:solidFill>
                  <a:srgbClr val="1A6B1A"/>
                </a:solidFill>
                <a:latin typeface="Calibri" pitchFamily="34" charset="0"/>
                <a:ea typeface="Calibri" pitchFamily="34" charset="-122"/>
                <a:cs typeface="Calibri" pitchFamily="34" charset="-120"/>
              </a:rPr>
              <a:t>✓  Análisis de patrones ganadores primero</a:t>
            </a:r>
            <a:endParaRPr lang="en-US" sz="1300" dirty="0"/>
          </a:p>
        </p:txBody>
      </p:sp>
      <p:sp>
        <p:nvSpPr>
          <p:cNvPr id="20" name="Text 18"/>
          <p:cNvSpPr/>
          <p:nvPr/>
        </p:nvSpPr>
        <p:spPr>
          <a:xfrm>
            <a:off x="6675120" y="4187952"/>
            <a:ext cx="5303520" cy="713232"/>
          </a:xfrm>
          <a:prstGeom prst="rect">
            <a:avLst/>
          </a:prstGeom>
          <a:noFill/>
          <a:ln/>
        </p:spPr>
        <p:txBody>
          <a:bodyPr wrap="square" rtlCol="0" anchor="ctr"/>
          <a:lstStyle/>
          <a:p>
            <a:pPr indent="0" marL="0">
              <a:buNone/>
            </a:pPr>
            <a:r>
              <a:rPr lang="en-US" sz="1300" dirty="0">
                <a:solidFill>
                  <a:srgbClr val="1A6B1A"/>
                </a:solidFill>
                <a:latin typeface="Calibri" pitchFamily="34" charset="0"/>
                <a:ea typeface="Calibri" pitchFamily="34" charset="-122"/>
                <a:cs typeface="Calibri" pitchFamily="34" charset="-120"/>
              </a:rPr>
              <a:t>✓  Hipótesis accionables basadas en datos</a:t>
            </a:r>
            <a:endParaRPr lang="en-US" sz="1300" dirty="0"/>
          </a:p>
        </p:txBody>
      </p:sp>
      <p:sp>
        <p:nvSpPr>
          <p:cNvPr id="21" name="Text 19"/>
          <p:cNvSpPr/>
          <p:nvPr/>
        </p:nvSpPr>
        <p:spPr>
          <a:xfrm>
            <a:off x="6675120" y="5010912"/>
            <a:ext cx="5303520" cy="713232"/>
          </a:xfrm>
          <a:prstGeom prst="rect">
            <a:avLst/>
          </a:prstGeom>
          <a:noFill/>
          <a:ln/>
        </p:spPr>
        <p:txBody>
          <a:bodyPr wrap="square" rtlCol="0" anchor="ctr"/>
          <a:lstStyle/>
          <a:p>
            <a:pPr indent="0" marL="0">
              <a:buNone/>
            </a:pPr>
            <a:r>
              <a:rPr lang="en-US" sz="1300" dirty="0">
                <a:solidFill>
                  <a:srgbClr val="1A6B1A"/>
                </a:solidFill>
                <a:latin typeface="Calibri" pitchFamily="34" charset="0"/>
                <a:ea typeface="Calibri" pitchFamily="34" charset="-122"/>
                <a:cs typeface="Calibri" pitchFamily="34" charset="-120"/>
              </a:rPr>
              <a:t>✓  4 iteraciones al mes vs. 1 sin sistema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Shape 1"/>
          <p:cNvSpPr/>
          <p:nvPr/>
        </p:nvSpPr>
        <p:spPr>
          <a:xfrm>
            <a:off x="548640" y="457200"/>
            <a:ext cx="2743200" cy="457200"/>
          </a:xfrm>
          <a:prstGeom prst="rect">
            <a:avLst/>
          </a:prstGeom>
          <a:solidFill>
            <a:srgbClr val="FF6B00"/>
          </a:solidFill>
          <a:ln/>
        </p:spPr>
      </p:sp>
      <p:sp>
        <p:nvSpPr>
          <p:cNvPr id="4" name="Text 2"/>
          <p:cNvSpPr/>
          <p:nvPr/>
        </p:nvSpPr>
        <p:spPr>
          <a:xfrm>
            <a:off x="548640" y="457200"/>
            <a:ext cx="27432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ENTREGABLE DE LA CLASE</a:t>
            </a:r>
            <a:endParaRPr lang="en-US" sz="1100" dirty="0"/>
          </a:p>
        </p:txBody>
      </p:sp>
      <p:sp>
        <p:nvSpPr>
          <p:cNvPr id="5" name="Text 3"/>
          <p:cNvSpPr/>
          <p:nvPr/>
        </p:nvSpPr>
        <p:spPr>
          <a:xfrm>
            <a:off x="548640" y="1097280"/>
            <a:ext cx="11064240" cy="2194560"/>
          </a:xfrm>
          <a:prstGeom prst="rect">
            <a:avLst/>
          </a:prstGeom>
          <a:noFill/>
          <a:ln/>
        </p:spPr>
        <p:txBody>
          <a:bodyPr wrap="square" rtlCol="0" anchor="t"/>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Sistema de producción de copy</a:t>
            </a:r>
            <a:endParaRPr lang="en-US" sz="3200" dirty="0"/>
          </a:p>
          <a:p>
            <a:pPr algn="l" indent="0" marL="0">
              <a:buNone/>
            </a:pPr>
            <a:r>
              <a:rPr lang="en-US" sz="3200" b="1" dirty="0">
                <a:solidFill>
                  <a:srgbClr val="FFFFFF"/>
                </a:solidFill>
                <a:latin typeface="Arial Black" pitchFamily="34" charset="0"/>
                <a:ea typeface="Arial Black" pitchFamily="34" charset="-122"/>
                <a:cs typeface="Arial Black" pitchFamily="34" charset="-120"/>
              </a:rPr>
              <a:t>con Claude — el entregable</a:t>
            </a:r>
            <a:endParaRPr lang="en-US" sz="3200" dirty="0"/>
          </a:p>
        </p:txBody>
      </p:sp>
      <p:sp>
        <p:nvSpPr>
          <p:cNvPr id="6" name="Shape 4"/>
          <p:cNvSpPr/>
          <p:nvPr/>
        </p:nvSpPr>
        <p:spPr>
          <a:xfrm>
            <a:off x="548640" y="3474720"/>
            <a:ext cx="11064240" cy="1645920"/>
          </a:xfrm>
          <a:prstGeom prst="rect">
            <a:avLst/>
          </a:prstGeom>
          <a:solidFill>
            <a:srgbClr val="FF0000"/>
          </a:solidFill>
          <a:ln/>
        </p:spPr>
      </p:sp>
      <p:sp>
        <p:nvSpPr>
          <p:cNvPr id="7" name="Text 5"/>
          <p:cNvSpPr/>
          <p:nvPr/>
        </p:nvSpPr>
        <p:spPr>
          <a:xfrm>
            <a:off x="731520" y="3520440"/>
            <a:ext cx="10698480" cy="1554480"/>
          </a:xfrm>
          <a:prstGeom prst="rect">
            <a:avLst/>
          </a:prstGeom>
          <a:noFill/>
          <a:ln/>
        </p:spPr>
        <p:txBody>
          <a:bodyPr wrap="square" rtlCol="0" anchor="ctr"/>
          <a:lstStyle/>
          <a:p>
            <a:pPr algn="l" indent="0" marL="0">
              <a:buNone/>
            </a:pPr>
            <a:r>
              <a:rPr lang="en-US" sz="1700" dirty="0">
                <a:solidFill>
                  <a:srgbClr val="FFFFFF"/>
                </a:solidFill>
                <a:latin typeface="Calibri" pitchFamily="34" charset="0"/>
                <a:ea typeface="Calibri" pitchFamily="34" charset="-122"/>
                <a:cs typeface="Calibri" pitchFamily="34" charset="-120"/>
              </a:rPr>
              <a:t>Tu tarea: Abre el entregable de esta clase. Llena los campos con tu campaña actual — la que más te importa esta semana. Ejecuta el Prompt A (análisis) primero, luego elige tu canal y genera las 5 variaciones. Trae el output a la siguiente sesión.</a:t>
            </a:r>
            <a:endParaRPr lang="en-US" sz="1700" dirty="0"/>
          </a:p>
          <a:p>
            <a:pPr algn="l" indent="0" marL="0">
              <a:buNone/>
            </a:pPr>
            <a:endParaRPr lang="en-US" sz="1700" dirty="0"/>
          </a:p>
          <a:p>
            <a:pPr algn="l" indent="0" marL="0">
              <a:buNone/>
            </a:pPr>
            <a:r>
              <a:rPr lang="en-US" sz="1700" dirty="0">
                <a:solidFill>
                  <a:srgbClr val="FFFFFF"/>
                </a:solidFill>
                <a:latin typeface="Calibri" pitchFamily="34" charset="0"/>
                <a:ea typeface="Calibri" pitchFamily="34" charset="-122"/>
                <a:cs typeface="Calibri" pitchFamily="34" charset="-120"/>
              </a:rPr>
              <a:t>No esperes tener los datos perfectos. Usa lo que tienes ahora.</a:t>
            </a:r>
            <a:endParaRPr lang="en-US" sz="1700" dirty="0"/>
          </a:p>
        </p:txBody>
      </p:sp>
      <p:sp>
        <p:nvSpPr>
          <p:cNvPr id="8" name="Shape 6"/>
          <p:cNvSpPr/>
          <p:nvPr/>
        </p:nvSpPr>
        <p:spPr>
          <a:xfrm>
            <a:off x="548640" y="5257800"/>
            <a:ext cx="11064240" cy="54864"/>
          </a:xfrm>
          <a:prstGeom prst="rect">
            <a:avLst/>
          </a:prstGeom>
          <a:solidFill>
            <a:srgbClr val="EEFF89"/>
          </a:solidFill>
          <a:ln/>
        </p:spPr>
      </p:sp>
      <p:sp>
        <p:nvSpPr>
          <p:cNvPr id="9" name="Text 7"/>
          <p:cNvSpPr/>
          <p:nvPr/>
        </p:nvSpPr>
        <p:spPr>
          <a:xfrm>
            <a:off x="548640" y="5440680"/>
            <a:ext cx="11064240" cy="731520"/>
          </a:xfrm>
          <a:prstGeom prst="rect">
            <a:avLst/>
          </a:prstGeom>
          <a:noFill/>
          <a:ln/>
        </p:spPr>
        <p:txBody>
          <a:bodyPr wrap="square" rtlCol="0" anchor="ctr"/>
          <a:lstStyle/>
          <a:p>
            <a:pPr algn="l" indent="0" marL="0">
              <a:buNone/>
            </a:pPr>
            <a:r>
              <a:rPr lang="en-US" sz="1500" i="1" dirty="0">
                <a:solidFill>
                  <a:srgbClr val="EEFF89"/>
                </a:solidFill>
                <a:latin typeface="Calibri" pitchFamily="34" charset="0"/>
                <a:ea typeface="Calibri" pitchFamily="34" charset="-122"/>
                <a:cs typeface="Calibri" pitchFamily="34" charset="-120"/>
              </a:rPr>
              <a:t>Siguiente clase: Motor de retención — onboarding, reactivación y upsell con Claude.</a:t>
            </a:r>
            <a:endParaRPr lang="en-US" sz="1500" dirty="0"/>
          </a:p>
        </p:txBody>
      </p:sp>
      <p:sp>
        <p:nvSpPr>
          <p:cNvPr id="10" name="Shape 8"/>
          <p:cNvSpPr/>
          <p:nvPr/>
        </p:nvSpPr>
        <p:spPr>
          <a:xfrm>
            <a:off x="0" y="6748272"/>
            <a:ext cx="12188952" cy="109728"/>
          </a:xfrm>
          <a:prstGeom prst="rect">
            <a:avLst/>
          </a:prstGeom>
          <a:solidFill>
            <a:srgbClr val="FF000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04 — Máquina de adquisición</dc:title>
  <dc:subject>PptxGenJS Presentation</dc:subject>
  <dc:creator>Claude para Growth</dc:creator>
  <cp:lastModifiedBy>Claude para Growth</cp:lastModifiedBy>
  <cp:revision>1</cp:revision>
  <dcterms:created xsi:type="dcterms:W3CDTF">2026-03-25T18:19:35Z</dcterms:created>
  <dcterms:modified xsi:type="dcterms:W3CDTF">2026-03-25T18:19:35Z</dcterms:modified>
</cp:coreProperties>
</file>