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equipo de Growth de elite tiene especialistas. Alguien que piensa solo en adquisición. Alguien que piensa solo en retención. Alguien en los datos. Alguien en revenue. Pero la mayoría de equipos de Growth tiene una, dos, quizás tres personas intentando cubrir los cuatro frentes. La solución no es contratar más gente. Es crear más especialistas.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agente en Claude Projects es un Project configurado con instrucciones de sistema específicas para un rol y una misión. No es un chat de propósito general. Es un especialista. La diferencia está en cómo lo configuras. Un Project genérico responde a cualquier cosa con contexto general. Un agente responde desde un rol específico, con prioridades específicas, y se niega a salirse de su especialidad. Esa negativa es una feature, no un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Hoy te voy a mostrar cómo construir cuatro agentes de Growth en Claude Projects: cada uno con su rol, su contexto y sus restricciones. Cada uno especializado. Trabajando en paralelo.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agente con restricciones claras produce mejor que uno sin restricciones. Cuando Claude no tiene límites, tiende a dar respuestas completas pero superficiales. Cuando tiene límites, profundiza en su área. En el entregable tienes los system prompts completos — listos para pegar en Claude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 única pregunta es: ¿cómo traemos más usuarios calificados al menor costo posible? Lo que NO hace: no habla de retención ni de onboarding, no propone cambios de producto, no analiza revenue de usuarios existentes. Un agente con restricciones claras produce mejor que uno sin restricciones.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tablero de Notion resuelve el problema de tener cuatro agentes sin sistema de coordinación. No es un repositorio de outputs. Es una sala de guerra donde los cuatro agentes convergen. Cinco secciones. Un tablero. La coordinación de cuatro agentes especializados sin una sola reunión de sincronización.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 a mostrarte un caso real: el equipo acaba de aprobar una nueva feature. Normalmente: dos días de trabajo distribuido. Con los 4 agentes: 20 minutos. El Agente de Adquisición se enfocó en el mensaje. No me dio recomendaciones de onboarding, no me habló de churn. Solo copies. Ese foco es el punto.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Configura los 4 Claude Projects esta semana. No esperes tener el contexto perfecto para empezar. Empieza con lo que tienes y afina las instrucciones en el uso.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flujo semanal de operación del tablero toma aproximadamente 40 minutos. Lunes en la mañana: actualizar Brief de la Semana (5 min), alimentar el brief a cada agente y guardar sus outputs (15 min), completar Decisiones de la Semana (10 min). Viernes en la tarde: alimentar métricas al Agente de Análisis (5 min), generar reporte con Skill 05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 entregable de esta clase son los system prompts de los 4 agentes y la plantilla del tablero de coordinación en Notion. Configura los 4 Claude Projects esta semana. No esperes tener el contexto perfecto para empezar. Empieza con lo que tienes y afina las instrucciones en el uso. El sistema mejora cuando lo usas, no cuando lo piensas.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F0000"/>
          </a:solidFill>
          <a:ln/>
        </p:spPr>
      </p:sp>
      <p:sp>
        <p:nvSpPr>
          <p:cNvPr id="3" name="Shape 1"/>
          <p:cNvSpPr/>
          <p:nvPr/>
        </p:nvSpPr>
        <p:spPr>
          <a:xfrm>
            <a:off x="0" y="6693408"/>
            <a:ext cx="12188952" cy="164592"/>
          </a:xfrm>
          <a:prstGeom prst="rect">
            <a:avLst/>
          </a:prstGeom>
          <a:solidFill>
            <a:srgbClr val="FF6B00"/>
          </a:solidFill>
          <a:ln/>
        </p:spPr>
      </p:sp>
      <p:sp>
        <p:nvSpPr>
          <p:cNvPr id="4" name="Text 2"/>
          <p:cNvSpPr/>
          <p:nvPr/>
        </p:nvSpPr>
        <p:spPr>
          <a:xfrm>
            <a:off x="548640" y="1645920"/>
            <a:ext cx="11064240" cy="2194560"/>
          </a:xfrm>
          <a:prstGeom prst="rect">
            <a:avLst/>
          </a:prstGeom>
          <a:noFill/>
          <a:ln/>
        </p:spPr>
        <p:txBody>
          <a:bodyPr wrap="square" rtlCol="0" anchor="ctr"/>
          <a:lstStyle/>
          <a:p>
            <a:pPr algn="ctr" indent="0" marL="0">
              <a:buNone/>
            </a:pPr>
            <a:r>
              <a:rPr lang="en-US" sz="4400" b="1" dirty="0">
                <a:solidFill>
                  <a:srgbClr val="FFFFFF"/>
                </a:solidFill>
                <a:latin typeface="Arial Black" pitchFamily="34" charset="0"/>
                <a:ea typeface="Arial Black" pitchFamily="34" charset="-122"/>
                <a:cs typeface="Arial Black" pitchFamily="34" charset="-120"/>
              </a:rPr>
              <a:t>Tu Equipo de Agentes</a:t>
            </a:r>
            <a:endParaRPr lang="en-US" sz="4400" dirty="0"/>
          </a:p>
        </p:txBody>
      </p:sp>
      <p:sp>
        <p:nvSpPr>
          <p:cNvPr id="5" name="Shape 3"/>
          <p:cNvSpPr/>
          <p:nvPr/>
        </p:nvSpPr>
        <p:spPr>
          <a:xfrm>
            <a:off x="4114800" y="4023360"/>
            <a:ext cx="3959352" cy="54864"/>
          </a:xfrm>
          <a:prstGeom prst="rect">
            <a:avLst/>
          </a:prstGeom>
          <a:solidFill>
            <a:srgbClr val="FF0000"/>
          </a:solidFill>
          <a:ln/>
        </p:spPr>
      </p:sp>
      <p:sp>
        <p:nvSpPr>
          <p:cNvPr id="6" name="Text 4"/>
          <p:cNvSpPr/>
          <p:nvPr/>
        </p:nvSpPr>
        <p:spPr>
          <a:xfrm>
            <a:off x="548640" y="4206240"/>
            <a:ext cx="11064240" cy="1097280"/>
          </a:xfrm>
          <a:prstGeom prst="rect">
            <a:avLst/>
          </a:prstGeom>
          <a:noFill/>
          <a:ln/>
        </p:spPr>
        <p:txBody>
          <a:bodyPr wrap="square" rtlCol="0" anchor="ctr"/>
          <a:lstStyle/>
          <a:p>
            <a:pPr algn="ctr" indent="0" marL="0">
              <a:buNone/>
            </a:pPr>
            <a:r>
              <a:rPr lang="en-US" sz="1800" dirty="0">
                <a:solidFill>
                  <a:srgbClr val="FF6B00"/>
                </a:solidFill>
                <a:latin typeface="Calibri" pitchFamily="34" charset="0"/>
                <a:ea typeface="Calibri" pitchFamily="34" charset="-122"/>
                <a:cs typeface="Calibri" pitchFamily="34" charset="-120"/>
              </a:rPr>
              <a:t>Roles especializados que trabajan en paralelo</a:t>
            </a:r>
            <a:endParaRPr lang="en-US" sz="1800" dirty="0"/>
          </a:p>
          <a:p>
            <a:pPr algn="ctr" indent="0" marL="0">
              <a:buNone/>
            </a:pPr>
            <a:r>
              <a:rPr lang="en-US" sz="1800" dirty="0">
                <a:solidFill>
                  <a:srgbClr val="FF6B00"/>
                </a:solidFill>
                <a:latin typeface="Calibri" pitchFamily="34" charset="0"/>
                <a:ea typeface="Calibri" pitchFamily="34" charset="-122"/>
                <a:cs typeface="Calibri" pitchFamily="34" charset="-120"/>
              </a:rPr>
              <a:t>Módulo 04 · Clase 11 · 16 minutos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6B00"/>
          </a:solidFill>
          <a:ln/>
        </p:spPr>
      </p:sp>
      <p:sp>
        <p:nvSpPr>
          <p:cNvPr id="3" name="Text 1"/>
          <p:cNvSpPr/>
          <p:nvPr/>
        </p:nvSpPr>
        <p:spPr>
          <a:xfrm>
            <a:off x="457200" y="274320"/>
            <a:ext cx="11274552" cy="822960"/>
          </a:xfrm>
          <a:prstGeom prst="rect">
            <a:avLst/>
          </a:prstGeom>
          <a:noFill/>
          <a:ln/>
        </p:spPr>
        <p:txBody>
          <a:bodyPr wrap="square" rtlCol="0" anchor="ctr"/>
          <a:lstStyle/>
          <a:p>
            <a:pPr algn="ctr" indent="0" marL="0">
              <a:buNone/>
            </a:pPr>
            <a:r>
              <a:rPr lang="en-US" sz="2800" b="1" dirty="0">
                <a:solidFill>
                  <a:srgbClr val="000000"/>
                </a:solidFill>
                <a:latin typeface="Arial Black" pitchFamily="34" charset="0"/>
                <a:ea typeface="Arial Black" pitchFamily="34" charset="-122"/>
                <a:cs typeface="Arial Black" pitchFamily="34" charset="-120"/>
              </a:rPr>
              <a:t>Un Agente No Es un Prompt</a:t>
            </a:r>
            <a:endParaRPr lang="en-US" sz="2800" dirty="0"/>
          </a:p>
        </p:txBody>
      </p:sp>
      <p:sp>
        <p:nvSpPr>
          <p:cNvPr id="4" name="Shape 2"/>
          <p:cNvSpPr/>
          <p:nvPr/>
        </p:nvSpPr>
        <p:spPr>
          <a:xfrm>
            <a:off x="731520" y="1280160"/>
            <a:ext cx="10725912" cy="4114800"/>
          </a:xfrm>
          <a:prstGeom prst="rect">
            <a:avLst/>
          </a:prstGeom>
          <a:solidFill>
            <a:srgbClr val="EEFF89"/>
          </a:solidFill>
          <a:ln/>
        </p:spPr>
      </p:sp>
      <p:sp>
        <p:nvSpPr>
          <p:cNvPr id="5" name="Text 3"/>
          <p:cNvSpPr/>
          <p:nvPr/>
        </p:nvSpPr>
        <p:spPr>
          <a:xfrm>
            <a:off x="1005840" y="1463040"/>
            <a:ext cx="10177272" cy="3657600"/>
          </a:xfrm>
          <a:prstGeom prst="rect">
            <a:avLst/>
          </a:prstGeom>
          <a:noFill/>
          <a:ln/>
        </p:spPr>
        <p:txBody>
          <a:bodyPr wrap="square" rtlCol="0" anchor="ctr"/>
          <a:lstStyle/>
          <a:p>
            <a:pPr algn="ctr" indent="0" marL="0">
              <a:buNone/>
            </a:pPr>
            <a:r>
              <a:rPr lang="en-US" sz="2200" b="1" dirty="0">
                <a:solidFill>
                  <a:srgbClr val="000000"/>
                </a:solidFill>
                <a:latin typeface="Calibri" pitchFamily="34" charset="0"/>
                <a:ea typeface="Calibri" pitchFamily="34" charset="-122"/>
                <a:cs typeface="Calibri" pitchFamily="34" charset="-120"/>
              </a:rPr>
              <a:t>“Un agente en Claude Projects es un Project configurado con instrucciones de sistema específicas para un rol y una misión.</a:t>
            </a:r>
            <a:endParaRPr lang="en-US" sz="2200" dirty="0"/>
          </a:p>
          <a:p>
            <a:pPr algn="ctr" indent="0" marL="0">
              <a:buNone/>
            </a:pPr>
            <a:endParaRPr lang="en-US" sz="2200" dirty="0"/>
          </a:p>
          <a:p>
            <a:pPr algn="ctr" indent="0" marL="0">
              <a:buNone/>
            </a:pPr>
            <a:r>
              <a:rPr lang="en-US" sz="2200" b="1" dirty="0">
                <a:solidFill>
                  <a:srgbClr val="000000"/>
                </a:solidFill>
                <a:latin typeface="Calibri" pitchFamily="34" charset="0"/>
                <a:ea typeface="Calibri" pitchFamily="34" charset="-122"/>
                <a:cs typeface="Calibri" pitchFamily="34" charset="-120"/>
              </a:rPr>
              <a:t>No es un chat de propósito general. Es un especialista.</a:t>
            </a:r>
            <a:endParaRPr lang="en-US" sz="2200" dirty="0"/>
          </a:p>
          <a:p>
            <a:pPr algn="ctr" indent="0" marL="0">
              <a:buNone/>
            </a:pPr>
            <a:endParaRPr lang="en-US" sz="2200" dirty="0"/>
          </a:p>
          <a:p>
            <a:pPr algn="ctr" indent="0" marL="0">
              <a:buNone/>
            </a:pPr>
            <a:r>
              <a:rPr lang="en-US" sz="2200" b="1" dirty="0">
                <a:solidFill>
                  <a:srgbClr val="000000"/>
                </a:solidFill>
                <a:latin typeface="Calibri" pitchFamily="34" charset="0"/>
                <a:ea typeface="Calibri" pitchFamily="34" charset="-122"/>
                <a:cs typeface="Calibri" pitchFamily="34" charset="-120"/>
              </a:rPr>
              <a:t>Cuando le preguntas al Agente de Adquisición sobre retención, te dice: "eso es territorio del Agente de Retención."</a:t>
            </a:r>
            <a:endParaRPr lang="en-US" sz="2200" dirty="0"/>
          </a:p>
          <a:p>
            <a:pPr algn="ctr" indent="0" marL="0">
              <a:buNone/>
            </a:pPr>
            <a:r>
              <a:rPr lang="en-US" sz="2200" b="1" dirty="0">
                <a:solidFill>
                  <a:srgbClr val="000000"/>
                </a:solidFill>
                <a:latin typeface="Calibri" pitchFamily="34" charset="0"/>
                <a:ea typeface="Calibri" pitchFamily="34" charset="-122"/>
                <a:cs typeface="Calibri" pitchFamily="34" charset="-120"/>
              </a:rPr>
              <a:t>Esa negativa es una feature, no un bug.”</a:t>
            </a:r>
            <a:endParaRPr lang="en-US" sz="2200" dirty="0"/>
          </a:p>
        </p:txBody>
      </p:sp>
      <p:sp>
        <p:nvSpPr>
          <p:cNvPr id="6" name="Text 4"/>
          <p:cNvSpPr/>
          <p:nvPr/>
        </p:nvSpPr>
        <p:spPr>
          <a:xfrm>
            <a:off x="731520" y="5577840"/>
            <a:ext cx="10725912" cy="640080"/>
          </a:xfrm>
          <a:prstGeom prst="rect">
            <a:avLst/>
          </a:prstGeom>
          <a:noFill/>
          <a:ln/>
        </p:spPr>
        <p:txBody>
          <a:bodyPr wrap="square" rtlCol="0" anchor="ctr"/>
          <a:lstStyle/>
          <a:p>
            <a:pPr algn="r" indent="0" marL="0">
              <a:buNone/>
            </a:pPr>
            <a:r>
              <a:rPr lang="en-US" sz="1400" i="1" dirty="0">
                <a:solidFill>
                  <a:srgbClr val="FF6B00"/>
                </a:solidFill>
                <a:latin typeface="Calibri" pitchFamily="34" charset="0"/>
                <a:ea typeface="Calibri" pitchFamily="34" charset="-122"/>
                <a:cs typeface="Calibri" pitchFamily="34" charset="-120"/>
              </a:rPr>
              <a:t>— Clase 11 — Módulo 04</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0000"/>
          </a:solidFill>
          <a:ln/>
        </p:spPr>
      </p:sp>
      <p:sp>
        <p:nvSpPr>
          <p:cNvPr id="3" name="Text 1"/>
          <p:cNvSpPr/>
          <p:nvPr/>
        </p:nvSpPr>
        <p:spPr>
          <a:xfrm>
            <a:off x="457200" y="914400"/>
            <a:ext cx="11274552" cy="2743200"/>
          </a:xfrm>
          <a:prstGeom prst="rect">
            <a:avLst/>
          </a:prstGeom>
          <a:noFill/>
          <a:ln/>
        </p:spPr>
        <p:txBody>
          <a:bodyPr wrap="square" rtlCol="0" anchor="ctr"/>
          <a:lstStyle/>
          <a:p>
            <a:pPr algn="ctr" indent="0" marL="0">
              <a:buNone/>
            </a:pPr>
            <a:r>
              <a:rPr lang="en-US" sz="10000" b="1" dirty="0">
                <a:solidFill>
                  <a:srgbClr val="FF0000"/>
                </a:solidFill>
                <a:latin typeface="Arial Black" pitchFamily="34" charset="0"/>
                <a:ea typeface="Arial Black" pitchFamily="34" charset="-122"/>
                <a:cs typeface="Arial Black" pitchFamily="34" charset="-120"/>
              </a:rPr>
              <a:t>4</a:t>
            </a:r>
            <a:endParaRPr lang="en-US" sz="10000" dirty="0"/>
          </a:p>
        </p:txBody>
      </p:sp>
      <p:sp>
        <p:nvSpPr>
          <p:cNvPr id="4" name="Text 2"/>
          <p:cNvSpPr/>
          <p:nvPr/>
        </p:nvSpPr>
        <p:spPr>
          <a:xfrm>
            <a:off x="457200" y="3749040"/>
            <a:ext cx="11274552" cy="1097280"/>
          </a:xfrm>
          <a:prstGeom prst="rect">
            <a:avLst/>
          </a:prstGeom>
          <a:noFill/>
          <a:ln/>
        </p:spPr>
        <p:txBody>
          <a:bodyPr wrap="square" rtlCol="0" anchor="ctr"/>
          <a:lstStyle/>
          <a:p>
            <a:pPr algn="ctr" indent="0" marL="0">
              <a:buNone/>
            </a:pPr>
            <a:r>
              <a:rPr lang="en-US" sz="2800" b="1" dirty="0">
                <a:solidFill>
                  <a:srgbClr val="000000"/>
                </a:solidFill>
                <a:latin typeface="Arial Black" pitchFamily="34" charset="0"/>
                <a:ea typeface="Arial Black" pitchFamily="34" charset="-122"/>
                <a:cs typeface="Arial Black" pitchFamily="34" charset="-120"/>
              </a:rPr>
              <a:t>Agentes Especializados de Growth</a:t>
            </a:r>
            <a:endParaRPr lang="en-US" sz="2800" dirty="0"/>
          </a:p>
        </p:txBody>
      </p:sp>
      <p:sp>
        <p:nvSpPr>
          <p:cNvPr id="5" name="Shape 3"/>
          <p:cNvSpPr/>
          <p:nvPr/>
        </p:nvSpPr>
        <p:spPr>
          <a:xfrm>
            <a:off x="1828800" y="5029200"/>
            <a:ext cx="8531352" cy="1280160"/>
          </a:xfrm>
          <a:prstGeom prst="rect">
            <a:avLst/>
          </a:prstGeom>
          <a:solidFill>
            <a:srgbClr val="EEFF89"/>
          </a:solidFill>
          <a:ln/>
        </p:spPr>
      </p:sp>
      <p:sp>
        <p:nvSpPr>
          <p:cNvPr id="6" name="Text 4"/>
          <p:cNvSpPr/>
          <p:nvPr/>
        </p:nvSpPr>
        <p:spPr>
          <a:xfrm>
            <a:off x="2011680" y="5120640"/>
            <a:ext cx="8165592" cy="109728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Adquisición · Retención · Análisis · Revenue</a:t>
            </a:r>
            <a:endParaRPr lang="en-US" sz="1400" dirty="0"/>
          </a:p>
          <a:p>
            <a:pPr algn="ctr" indent="0" marL="0">
              <a:buNone/>
            </a:pPr>
            <a:r>
              <a:rPr lang="en-US" sz="1400" dirty="0">
                <a:solidFill>
                  <a:srgbClr val="000000"/>
                </a:solidFill>
                <a:latin typeface="Calibri" pitchFamily="34" charset="0"/>
                <a:ea typeface="Calibri" pitchFamily="34" charset="-122"/>
                <a:cs typeface="Calibri" pitchFamily="34" charset="-120"/>
              </a:rPr>
              <a:t>Cuatro especialistas. Cuatro focos. Cero solapamiento.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00000"/>
          </a:solidFill>
          <a:ln/>
        </p:spPr>
      </p:sp>
      <p:sp>
        <p:nvSpPr>
          <p:cNvPr id="3" name="Text 1"/>
          <p:cNvSpPr/>
          <p:nvPr/>
        </p:nvSpPr>
        <p:spPr>
          <a:xfrm>
            <a:off x="365760" y="45720"/>
            <a:ext cx="11430000" cy="914400"/>
          </a:xfrm>
          <a:prstGeom prst="rect">
            <a:avLst/>
          </a:prstGeom>
          <a:noFill/>
          <a:ln/>
        </p:spPr>
        <p:txBody>
          <a:bodyPr wrap="square" rtlCol="0" anchor="ctr"/>
          <a:lstStyle/>
          <a:p>
            <a:pPr algn="ctr" indent="0" marL="0">
              <a:buNone/>
            </a:pPr>
            <a:r>
              <a:rPr lang="en-US" sz="3200" b="1" dirty="0">
                <a:solidFill>
                  <a:srgbClr val="FFFFFF"/>
                </a:solidFill>
                <a:latin typeface="Arial Black" pitchFamily="34" charset="0"/>
                <a:ea typeface="Arial Black" pitchFamily="34" charset="-122"/>
                <a:cs typeface="Arial Black" pitchFamily="34" charset="-120"/>
              </a:rPr>
              <a:t>Arquitectura — Tu Equipo de 4 Agentes</a:t>
            </a:r>
            <a:endParaRPr lang="en-US" sz="3200" dirty="0"/>
          </a:p>
        </p:txBody>
      </p:sp>
      <p:sp>
        <p:nvSpPr>
          <p:cNvPr id="4" name="Shape 2"/>
          <p:cNvSpPr/>
          <p:nvPr/>
        </p:nvSpPr>
        <p:spPr>
          <a:xfrm>
            <a:off x="274320" y="1143000"/>
            <a:ext cx="5669280" cy="502920"/>
          </a:xfrm>
          <a:prstGeom prst="rect">
            <a:avLst/>
          </a:prstGeom>
          <a:solidFill>
            <a:srgbClr val="FF0000"/>
          </a:solidFill>
          <a:ln/>
        </p:spPr>
      </p:sp>
      <p:sp>
        <p:nvSpPr>
          <p:cNvPr id="5" name="Text 3"/>
          <p:cNvSpPr/>
          <p:nvPr/>
        </p:nvSpPr>
        <p:spPr>
          <a:xfrm>
            <a:off x="365760" y="1188720"/>
            <a:ext cx="5486400" cy="41148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Agente de ADQUISICIÓN</a:t>
            </a:r>
            <a:endParaRPr lang="en-US" sz="1600" dirty="0"/>
          </a:p>
        </p:txBody>
      </p:sp>
      <p:sp>
        <p:nvSpPr>
          <p:cNvPr id="6" name="Shape 4"/>
          <p:cNvSpPr/>
          <p:nvPr/>
        </p:nvSpPr>
        <p:spPr>
          <a:xfrm>
            <a:off x="274320" y="1645920"/>
            <a:ext cx="5669280" cy="2057400"/>
          </a:xfrm>
          <a:prstGeom prst="rect">
            <a:avLst/>
          </a:prstGeom>
          <a:solidFill>
            <a:srgbClr val="F5F5F5"/>
          </a:solidFill>
          <a:ln/>
        </p:spPr>
      </p:sp>
      <p:sp>
        <p:nvSpPr>
          <p:cNvPr id="7" name="Text 5"/>
          <p:cNvSpPr/>
          <p:nvPr/>
        </p:nvSpPr>
        <p:spPr>
          <a:xfrm>
            <a:off x="411480" y="1737360"/>
            <a:ext cx="5394960" cy="1874520"/>
          </a:xfrm>
          <a:prstGeom prst="rect">
            <a:avLst/>
          </a:prstGeom>
          <a:noFill/>
          <a:ln/>
        </p:spPr>
        <p:txBody>
          <a:bodyPr wrap="square" rtlCol="0" anchor="t"/>
          <a:lstStyle/>
          <a:p>
            <a:pPr indent="0" marL="0">
              <a:buNone/>
            </a:pPr>
            <a:r>
              <a:rPr lang="en-US" sz="1300" dirty="0">
                <a:solidFill>
                  <a:srgbClr val="000000"/>
                </a:solidFill>
                <a:latin typeface="Calibri" pitchFamily="34" charset="0"/>
                <a:ea typeface="Calibri" pitchFamily="34" charset="-122"/>
                <a:cs typeface="Calibri" pitchFamily="34" charset="-120"/>
              </a:rPr>
              <a:t>¿Cómo traemos más usuarios calificados al menor costo?</a:t>
            </a: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 Analiza campañas y propone optimizaciones</a:t>
            </a: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 Genera copies para tests</a:t>
            </a: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 Identifica canales sin explotar</a:t>
            </a: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 Calcula CAC objetivo</a:t>
            </a: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 No habla de retención ni onboarding</a:t>
            </a:r>
            <a:endParaRPr lang="en-US" sz="1300" dirty="0"/>
          </a:p>
        </p:txBody>
      </p:sp>
      <p:sp>
        <p:nvSpPr>
          <p:cNvPr id="8" name="Shape 6"/>
          <p:cNvSpPr/>
          <p:nvPr/>
        </p:nvSpPr>
        <p:spPr>
          <a:xfrm>
            <a:off x="6236208" y="1143000"/>
            <a:ext cx="5669280" cy="502920"/>
          </a:xfrm>
          <a:prstGeom prst="rect">
            <a:avLst/>
          </a:prstGeom>
          <a:solidFill>
            <a:srgbClr val="FF6B00"/>
          </a:solidFill>
          <a:ln/>
        </p:spPr>
      </p:sp>
      <p:sp>
        <p:nvSpPr>
          <p:cNvPr id="9" name="Text 7"/>
          <p:cNvSpPr/>
          <p:nvPr/>
        </p:nvSpPr>
        <p:spPr>
          <a:xfrm>
            <a:off x="6327648" y="1188720"/>
            <a:ext cx="5486400" cy="41148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Agente de RETENCIÓN</a:t>
            </a:r>
            <a:endParaRPr lang="en-US" sz="1600" dirty="0"/>
          </a:p>
        </p:txBody>
      </p:sp>
      <p:sp>
        <p:nvSpPr>
          <p:cNvPr id="10" name="Shape 8"/>
          <p:cNvSpPr/>
          <p:nvPr/>
        </p:nvSpPr>
        <p:spPr>
          <a:xfrm>
            <a:off x="6236208" y="1645920"/>
            <a:ext cx="5669280" cy="2057400"/>
          </a:xfrm>
          <a:prstGeom prst="rect">
            <a:avLst/>
          </a:prstGeom>
          <a:solidFill>
            <a:srgbClr val="F5F5F5"/>
          </a:solidFill>
          <a:ln/>
        </p:spPr>
      </p:sp>
      <p:sp>
        <p:nvSpPr>
          <p:cNvPr id="11" name="Text 9"/>
          <p:cNvSpPr/>
          <p:nvPr/>
        </p:nvSpPr>
        <p:spPr>
          <a:xfrm>
            <a:off x="6373368" y="1737360"/>
            <a:ext cx="5394960" cy="1874520"/>
          </a:xfrm>
          <a:prstGeom prst="rect">
            <a:avLst/>
          </a:prstGeom>
          <a:noFill/>
          <a:ln/>
        </p:spPr>
        <p:txBody>
          <a:bodyPr wrap="square" rtlCol="0" anchor="t"/>
          <a:lstStyle/>
          <a:p>
            <a:pPr indent="0" marL="0">
              <a:buNone/>
            </a:pPr>
            <a:r>
              <a:rPr lang="en-US" sz="1300" dirty="0">
                <a:solidFill>
                  <a:srgbClr val="000000"/>
                </a:solidFill>
                <a:latin typeface="Calibri" pitchFamily="34" charset="0"/>
                <a:ea typeface="Calibri" pitchFamily="34" charset="-122"/>
                <a:cs typeface="Calibri" pitchFamily="34" charset="-120"/>
              </a:rPr>
              <a:t>¿Cómo hacemos que los usuarios se queden más tiempo y obtengan más valor?</a:t>
            </a: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 Diseña flujos de onboarding</a:t>
            </a: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 Analiza patrones de churn</a:t>
            </a: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 Crea secuencias de email de activación</a:t>
            </a: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 No trabaja en adquisición de nuevos usuarios</a:t>
            </a:r>
            <a:endParaRPr lang="en-US" sz="1300" dirty="0"/>
          </a:p>
        </p:txBody>
      </p:sp>
      <p:sp>
        <p:nvSpPr>
          <p:cNvPr id="12" name="Shape 10"/>
          <p:cNvSpPr/>
          <p:nvPr/>
        </p:nvSpPr>
        <p:spPr>
          <a:xfrm>
            <a:off x="274320" y="3931920"/>
            <a:ext cx="5669280" cy="502920"/>
          </a:xfrm>
          <a:prstGeom prst="rect">
            <a:avLst/>
          </a:prstGeom>
          <a:solidFill>
            <a:srgbClr val="FF0000"/>
          </a:solidFill>
          <a:ln/>
        </p:spPr>
      </p:sp>
      <p:sp>
        <p:nvSpPr>
          <p:cNvPr id="13" name="Text 11"/>
          <p:cNvSpPr/>
          <p:nvPr/>
        </p:nvSpPr>
        <p:spPr>
          <a:xfrm>
            <a:off x="365760" y="3977640"/>
            <a:ext cx="5486400" cy="41148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Agente de ANÁLISIS</a:t>
            </a:r>
            <a:endParaRPr lang="en-US" sz="1600" dirty="0"/>
          </a:p>
        </p:txBody>
      </p:sp>
      <p:sp>
        <p:nvSpPr>
          <p:cNvPr id="14" name="Shape 12"/>
          <p:cNvSpPr/>
          <p:nvPr/>
        </p:nvSpPr>
        <p:spPr>
          <a:xfrm>
            <a:off x="274320" y="4434840"/>
            <a:ext cx="5669280" cy="2057400"/>
          </a:xfrm>
          <a:prstGeom prst="rect">
            <a:avLst/>
          </a:prstGeom>
          <a:solidFill>
            <a:srgbClr val="F5F5F5"/>
          </a:solidFill>
          <a:ln/>
        </p:spPr>
      </p:sp>
      <p:sp>
        <p:nvSpPr>
          <p:cNvPr id="15" name="Text 13"/>
          <p:cNvSpPr/>
          <p:nvPr/>
        </p:nvSpPr>
        <p:spPr>
          <a:xfrm>
            <a:off x="411480" y="4526280"/>
            <a:ext cx="5394960" cy="1874520"/>
          </a:xfrm>
          <a:prstGeom prst="rect">
            <a:avLst/>
          </a:prstGeom>
          <a:noFill/>
          <a:ln/>
        </p:spPr>
        <p:txBody>
          <a:bodyPr wrap="square" rtlCol="0" anchor="t"/>
          <a:lstStyle/>
          <a:p>
            <a:pPr indent="0" marL="0">
              <a:buNone/>
            </a:pPr>
            <a:r>
              <a:rPr lang="en-US" sz="1300" dirty="0">
                <a:solidFill>
                  <a:srgbClr val="000000"/>
                </a:solidFill>
                <a:latin typeface="Calibri" pitchFamily="34" charset="0"/>
                <a:ea typeface="Calibri" pitchFamily="34" charset="-122"/>
                <a:cs typeface="Calibri" pitchFamily="34" charset="-120"/>
              </a:rPr>
              <a:t>¿Qué dicen los datos y qué deberíamos hacer?</a:t>
            </a: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 Interpreta métricas y detecta anomalías</a:t>
            </a: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 Calcula impacto por etapa del funnel</a:t>
            </a: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 Prioriza experimentos por ROI</a:t>
            </a: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 No genera copies ni contenido</a:t>
            </a:r>
            <a:endParaRPr lang="en-US" sz="1300" dirty="0"/>
          </a:p>
        </p:txBody>
      </p:sp>
      <p:sp>
        <p:nvSpPr>
          <p:cNvPr id="16" name="Shape 14"/>
          <p:cNvSpPr/>
          <p:nvPr/>
        </p:nvSpPr>
        <p:spPr>
          <a:xfrm>
            <a:off x="6236208" y="3931920"/>
            <a:ext cx="5669280" cy="502920"/>
          </a:xfrm>
          <a:prstGeom prst="rect">
            <a:avLst/>
          </a:prstGeom>
          <a:solidFill>
            <a:srgbClr val="FF6B00"/>
          </a:solidFill>
          <a:ln/>
        </p:spPr>
      </p:sp>
      <p:sp>
        <p:nvSpPr>
          <p:cNvPr id="17" name="Text 15"/>
          <p:cNvSpPr/>
          <p:nvPr/>
        </p:nvSpPr>
        <p:spPr>
          <a:xfrm>
            <a:off x="6327648" y="3977640"/>
            <a:ext cx="5486400" cy="41148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Agente de REVENUE</a:t>
            </a:r>
            <a:endParaRPr lang="en-US" sz="1600" dirty="0"/>
          </a:p>
        </p:txBody>
      </p:sp>
      <p:sp>
        <p:nvSpPr>
          <p:cNvPr id="18" name="Shape 16"/>
          <p:cNvSpPr/>
          <p:nvPr/>
        </p:nvSpPr>
        <p:spPr>
          <a:xfrm>
            <a:off x="6236208" y="4434840"/>
            <a:ext cx="5669280" cy="2057400"/>
          </a:xfrm>
          <a:prstGeom prst="rect">
            <a:avLst/>
          </a:prstGeom>
          <a:solidFill>
            <a:srgbClr val="F5F5F5"/>
          </a:solidFill>
          <a:ln/>
        </p:spPr>
      </p:sp>
      <p:sp>
        <p:nvSpPr>
          <p:cNvPr id="19" name="Text 17"/>
          <p:cNvSpPr/>
          <p:nvPr/>
        </p:nvSpPr>
        <p:spPr>
          <a:xfrm>
            <a:off x="6373368" y="4526280"/>
            <a:ext cx="5394960" cy="1874520"/>
          </a:xfrm>
          <a:prstGeom prst="rect">
            <a:avLst/>
          </a:prstGeom>
          <a:noFill/>
          <a:ln/>
        </p:spPr>
        <p:txBody>
          <a:bodyPr wrap="square" rtlCol="0" anchor="t"/>
          <a:lstStyle/>
          <a:p>
            <a:pPr indent="0" marL="0">
              <a:buNone/>
            </a:pPr>
            <a:r>
              <a:rPr lang="en-US" sz="1300" dirty="0">
                <a:solidFill>
                  <a:srgbClr val="000000"/>
                </a:solidFill>
                <a:latin typeface="Calibri" pitchFamily="34" charset="0"/>
                <a:ea typeface="Calibri" pitchFamily="34" charset="-122"/>
                <a:cs typeface="Calibri" pitchFamily="34" charset="-120"/>
              </a:rPr>
              <a:t>¿Cómo extraemos más valor del negocio que ya existe?</a:t>
            </a: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 Identifica oportunidades de upsell/cross-sell</a:t>
            </a: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 Diseña flujos de expansión de revenue</a:t>
            </a: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 Analiza pricing y proyecta MRR</a:t>
            </a:r>
            <a:endParaRPr lang="en-US" sz="1300" dirty="0"/>
          </a:p>
          <a:p>
            <a:pPr indent="0" marL="0">
              <a:buNone/>
            </a:pPr>
            <a:endParaRPr lang="en-US" sz="1300" dirty="0"/>
          </a:p>
          <a:p>
            <a:pPr indent="0" marL="0">
              <a:buNone/>
            </a:pPr>
            <a:r>
              <a:rPr lang="en-US" sz="1300" dirty="0">
                <a:solidFill>
                  <a:srgbClr val="000000"/>
                </a:solidFill>
                <a:latin typeface="Calibri" pitchFamily="34" charset="0"/>
                <a:ea typeface="Calibri" pitchFamily="34" charset="-122"/>
                <a:cs typeface="Calibri" pitchFamily="34" charset="-120"/>
              </a:rPr>
              <a:t>❌ No trabaja en adquisición de usuarios nuevos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000000"/>
          </a:solidFill>
          <a:ln/>
        </p:spPr>
      </p:sp>
      <p:sp>
        <p:nvSpPr>
          <p:cNvPr id="3" name="Text 1"/>
          <p:cNvSpPr/>
          <p:nvPr/>
        </p:nvSpPr>
        <p:spPr>
          <a:xfrm>
            <a:off x="365760" y="91440"/>
            <a:ext cx="11430000" cy="914400"/>
          </a:xfrm>
          <a:prstGeom prst="rect">
            <a:avLst/>
          </a:prstGeom>
          <a:noFill/>
          <a:ln/>
        </p:spPr>
        <p:txBody>
          <a:bodyPr wrap="square"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Agente de Adquisición — Rol y Restricciones</a:t>
            </a:r>
            <a:endParaRPr lang="en-US" sz="3200" dirty="0"/>
          </a:p>
        </p:txBody>
      </p:sp>
      <p:sp>
        <p:nvSpPr>
          <p:cNvPr id="4" name="Shape 2"/>
          <p:cNvSpPr/>
          <p:nvPr/>
        </p:nvSpPr>
        <p:spPr>
          <a:xfrm>
            <a:off x="274320" y="1280160"/>
            <a:ext cx="5486400" cy="640080"/>
          </a:xfrm>
          <a:prstGeom prst="rect">
            <a:avLst/>
          </a:prstGeom>
          <a:solidFill>
            <a:srgbClr val="FF0000"/>
          </a:solidFill>
          <a:ln/>
        </p:spPr>
      </p:sp>
      <p:sp>
        <p:nvSpPr>
          <p:cNvPr id="5" name="Text 3"/>
          <p:cNvSpPr/>
          <p:nvPr/>
        </p:nvSpPr>
        <p:spPr>
          <a:xfrm>
            <a:off x="365760" y="1325880"/>
            <a:ext cx="5303520" cy="548640"/>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LO QUE HACE</a:t>
            </a:r>
            <a:endParaRPr lang="en-US" sz="1800" dirty="0"/>
          </a:p>
        </p:txBody>
      </p:sp>
      <p:sp>
        <p:nvSpPr>
          <p:cNvPr id="6" name="Shape 4"/>
          <p:cNvSpPr/>
          <p:nvPr/>
        </p:nvSpPr>
        <p:spPr>
          <a:xfrm>
            <a:off x="274320" y="1920240"/>
            <a:ext cx="5486400" cy="4572000"/>
          </a:xfrm>
          <a:prstGeom prst="rect">
            <a:avLst/>
          </a:prstGeom>
          <a:solidFill>
            <a:srgbClr val="F5F5F5"/>
          </a:solidFill>
          <a:ln/>
        </p:spPr>
      </p:sp>
      <p:sp>
        <p:nvSpPr>
          <p:cNvPr id="7" name="Text 5"/>
          <p:cNvSpPr/>
          <p:nvPr/>
        </p:nvSpPr>
        <p:spPr>
          <a:xfrm>
            <a:off x="457200" y="2011680"/>
            <a:ext cx="5212080" cy="4389120"/>
          </a:xfrm>
          <a:prstGeom prst="rect">
            <a:avLst/>
          </a:prstGeom>
          <a:noFill/>
          <a:ln/>
        </p:spPr>
        <p:txBody>
          <a:bodyPr wrap="square" rtlCol="0" anchor="t"/>
          <a:lstStyle/>
          <a:p>
            <a:pPr indent="0" marL="0">
              <a:buNone/>
            </a:pPr>
            <a:r>
              <a:rPr lang="en-US" sz="1400" dirty="0">
                <a:solidFill>
                  <a:srgbClr val="000000"/>
                </a:solidFill>
                <a:latin typeface="Calibri" pitchFamily="34" charset="0"/>
                <a:ea typeface="Calibri" pitchFamily="34" charset="-122"/>
                <a:cs typeface="Calibri" pitchFamily="34" charset="-120"/>
              </a:rPr>
              <a:t>✅ Analiza rendimiento de campañas pagas</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Genera copies y ángulos para tests (Meta, Google, LinkedIn)</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Identifica canales sin explotar para el ICP</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Calcula CAC por canal</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Propone ajustes de presupuesto</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Crea briefs de creatividades</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Detecta saturación de audiencias</a:t>
            </a:r>
            <a:endParaRPr lang="en-US" sz="1400" dirty="0"/>
          </a:p>
        </p:txBody>
      </p:sp>
      <p:sp>
        <p:nvSpPr>
          <p:cNvPr id="8" name="Shape 6"/>
          <p:cNvSpPr/>
          <p:nvPr/>
        </p:nvSpPr>
        <p:spPr>
          <a:xfrm>
            <a:off x="6400800" y="1280160"/>
            <a:ext cx="5486400" cy="640080"/>
          </a:xfrm>
          <a:prstGeom prst="rect">
            <a:avLst/>
          </a:prstGeom>
          <a:solidFill>
            <a:srgbClr val="FF6B00"/>
          </a:solidFill>
          <a:ln/>
        </p:spPr>
      </p:sp>
      <p:sp>
        <p:nvSpPr>
          <p:cNvPr id="9" name="Text 7"/>
          <p:cNvSpPr/>
          <p:nvPr/>
        </p:nvSpPr>
        <p:spPr>
          <a:xfrm>
            <a:off x="6492240" y="1325880"/>
            <a:ext cx="5303520" cy="548640"/>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LO QUE NO HACE</a:t>
            </a:r>
            <a:endParaRPr lang="en-US" sz="1800" dirty="0"/>
          </a:p>
        </p:txBody>
      </p:sp>
      <p:sp>
        <p:nvSpPr>
          <p:cNvPr id="10" name="Shape 8"/>
          <p:cNvSpPr/>
          <p:nvPr/>
        </p:nvSpPr>
        <p:spPr>
          <a:xfrm>
            <a:off x="6400800" y="1920240"/>
            <a:ext cx="5486400" cy="4572000"/>
          </a:xfrm>
          <a:prstGeom prst="rect">
            <a:avLst/>
          </a:prstGeom>
          <a:solidFill>
            <a:srgbClr val="F5F5F5"/>
          </a:solidFill>
          <a:ln/>
        </p:spPr>
      </p:sp>
      <p:sp>
        <p:nvSpPr>
          <p:cNvPr id="11" name="Text 9"/>
          <p:cNvSpPr/>
          <p:nvPr/>
        </p:nvSpPr>
        <p:spPr>
          <a:xfrm>
            <a:off x="6583680" y="2011680"/>
            <a:ext cx="5212080" cy="4389120"/>
          </a:xfrm>
          <a:prstGeom prst="rect">
            <a:avLst/>
          </a:prstGeom>
          <a:noFill/>
          <a:ln/>
        </p:spPr>
        <p:txBody>
          <a:bodyPr wrap="square" rtlCol="0" anchor="t"/>
          <a:lstStyle/>
          <a:p>
            <a:pPr indent="0" marL="0">
              <a:buNone/>
            </a:pPr>
            <a:r>
              <a:rPr lang="en-US" sz="1400" dirty="0">
                <a:solidFill>
                  <a:srgbClr val="000000"/>
                </a:solidFill>
                <a:latin typeface="Calibri" pitchFamily="34" charset="0"/>
                <a:ea typeface="Calibri" pitchFamily="34" charset="-122"/>
                <a:cs typeface="Calibri" pitchFamily="34" charset="-120"/>
              </a:rPr>
              <a:t>❌ No recomienda cambios de producto</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No propone estrategias de retención</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No genera reportes de retención o revenue</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No habla de onboarding ni lifecycle</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Si le preguntas por retención:</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"Eso es territorio del Agente de Retención. Mi foco es adquisición."</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Esa restricción es lo que lo hace especialista.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000000"/>
          </a:solidFill>
          <a:ln/>
        </p:spPr>
      </p:sp>
      <p:sp>
        <p:nvSpPr>
          <p:cNvPr id="3" name="Text 1"/>
          <p:cNvSpPr/>
          <p:nvPr/>
        </p:nvSpPr>
        <p:spPr>
          <a:xfrm>
            <a:off x="365760" y="91440"/>
            <a:ext cx="11430000" cy="914400"/>
          </a:xfrm>
          <a:prstGeom prst="rect">
            <a:avLst/>
          </a:prstGeom>
          <a:noFill/>
          <a:ln/>
        </p:spPr>
        <p:txBody>
          <a:bodyPr wrap="square"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Sala de Guerra en Notion — 5 Secciones</a:t>
            </a:r>
            <a:endParaRPr lang="en-US" sz="3200" dirty="0"/>
          </a:p>
        </p:txBody>
      </p:sp>
      <p:sp>
        <p:nvSpPr>
          <p:cNvPr id="4" name="Shape 2"/>
          <p:cNvSpPr/>
          <p:nvPr/>
        </p:nvSpPr>
        <p:spPr>
          <a:xfrm>
            <a:off x="274320" y="1280160"/>
            <a:ext cx="5486400" cy="640080"/>
          </a:xfrm>
          <a:prstGeom prst="rect">
            <a:avLst/>
          </a:prstGeom>
          <a:solidFill>
            <a:srgbClr val="FF0000"/>
          </a:solidFill>
          <a:ln/>
        </p:spPr>
      </p:sp>
      <p:sp>
        <p:nvSpPr>
          <p:cNvPr id="5" name="Text 3"/>
          <p:cNvSpPr/>
          <p:nvPr/>
        </p:nvSpPr>
        <p:spPr>
          <a:xfrm>
            <a:off x="365760" y="1325880"/>
            <a:ext cx="5303520" cy="548640"/>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SECCIONES 1-3</a:t>
            </a:r>
            <a:endParaRPr lang="en-US" sz="1800" dirty="0"/>
          </a:p>
        </p:txBody>
      </p:sp>
      <p:sp>
        <p:nvSpPr>
          <p:cNvPr id="6" name="Shape 4"/>
          <p:cNvSpPr/>
          <p:nvPr/>
        </p:nvSpPr>
        <p:spPr>
          <a:xfrm>
            <a:off x="274320" y="1920240"/>
            <a:ext cx="5486400" cy="4572000"/>
          </a:xfrm>
          <a:prstGeom prst="rect">
            <a:avLst/>
          </a:prstGeom>
          <a:solidFill>
            <a:srgbClr val="F5F5F5"/>
          </a:solidFill>
          <a:ln/>
        </p:spPr>
      </p:sp>
      <p:sp>
        <p:nvSpPr>
          <p:cNvPr id="7" name="Text 5"/>
          <p:cNvSpPr/>
          <p:nvPr/>
        </p:nvSpPr>
        <p:spPr>
          <a:xfrm>
            <a:off x="457200" y="2011680"/>
            <a:ext cx="5212080" cy="4389120"/>
          </a:xfrm>
          <a:prstGeom prst="rect">
            <a:avLst/>
          </a:prstGeom>
          <a:noFill/>
          <a:ln/>
        </p:spPr>
        <p:txBody>
          <a:bodyPr wrap="square" rtlCol="0" anchor="t"/>
          <a:lstStyle/>
          <a:p>
            <a:pPr indent="0" marL="0">
              <a:buNone/>
            </a:pPr>
            <a:r>
              <a:rPr lang="en-US" sz="1400" dirty="0">
                <a:solidFill>
                  <a:srgbClr val="000000"/>
                </a:solidFill>
                <a:latin typeface="Calibri" pitchFamily="34" charset="0"/>
                <a:ea typeface="Calibri" pitchFamily="34" charset="-122"/>
                <a:cs typeface="Calibri" pitchFamily="34" charset="-120"/>
              </a:rPr>
              <a:t>1. BRIEF DE LA SEMANA</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 Objetivo principal (1 línea)</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 Métrica que más importa</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 Contexto relevante</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2. OUTPUTS POR AGENTE</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 4 columnas — una por agente</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 Máximo 300 palabras por agente</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 Diagnóstico + recomendación</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3. DECISIONES DE LA SEMANA</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 Iniciativa de mayor impacto</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 Experimento que se lanza</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 Métrica a monitorear diariamente</a:t>
            </a:r>
            <a:endParaRPr lang="en-US" sz="1400" dirty="0"/>
          </a:p>
        </p:txBody>
      </p:sp>
      <p:sp>
        <p:nvSpPr>
          <p:cNvPr id="8" name="Shape 6"/>
          <p:cNvSpPr/>
          <p:nvPr/>
        </p:nvSpPr>
        <p:spPr>
          <a:xfrm>
            <a:off x="6400800" y="1280160"/>
            <a:ext cx="5486400" cy="640080"/>
          </a:xfrm>
          <a:prstGeom prst="rect">
            <a:avLst/>
          </a:prstGeom>
          <a:solidFill>
            <a:srgbClr val="FF6B00"/>
          </a:solidFill>
          <a:ln/>
        </p:spPr>
      </p:sp>
      <p:sp>
        <p:nvSpPr>
          <p:cNvPr id="9" name="Text 7"/>
          <p:cNvSpPr/>
          <p:nvPr/>
        </p:nvSpPr>
        <p:spPr>
          <a:xfrm>
            <a:off x="6492240" y="1325880"/>
            <a:ext cx="5303520" cy="548640"/>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SECCIONES 4-5</a:t>
            </a:r>
            <a:endParaRPr lang="en-US" sz="1800" dirty="0"/>
          </a:p>
        </p:txBody>
      </p:sp>
      <p:sp>
        <p:nvSpPr>
          <p:cNvPr id="10" name="Shape 8"/>
          <p:cNvSpPr/>
          <p:nvPr/>
        </p:nvSpPr>
        <p:spPr>
          <a:xfrm>
            <a:off x="6400800" y="1920240"/>
            <a:ext cx="5486400" cy="4572000"/>
          </a:xfrm>
          <a:prstGeom prst="rect">
            <a:avLst/>
          </a:prstGeom>
          <a:solidFill>
            <a:srgbClr val="F5F5F5"/>
          </a:solidFill>
          <a:ln/>
        </p:spPr>
      </p:sp>
      <p:sp>
        <p:nvSpPr>
          <p:cNvPr id="11" name="Text 9"/>
          <p:cNvSpPr/>
          <p:nvPr/>
        </p:nvSpPr>
        <p:spPr>
          <a:xfrm>
            <a:off x="6583680" y="2011680"/>
            <a:ext cx="5212080" cy="4389120"/>
          </a:xfrm>
          <a:prstGeom prst="rect">
            <a:avLst/>
          </a:prstGeom>
          <a:noFill/>
          <a:ln/>
        </p:spPr>
        <p:txBody>
          <a:bodyPr wrap="square" rtlCol="0" anchor="t"/>
          <a:lstStyle/>
          <a:p>
            <a:pPr indent="0" marL="0">
              <a:buNone/>
            </a:pPr>
            <a:r>
              <a:rPr lang="en-US" sz="1400" dirty="0">
                <a:solidFill>
                  <a:srgbClr val="000000"/>
                </a:solidFill>
                <a:latin typeface="Calibri" pitchFamily="34" charset="0"/>
                <a:ea typeface="Calibri" pitchFamily="34" charset="-122"/>
                <a:cs typeface="Calibri" pitchFamily="34" charset="-120"/>
              </a:rPr>
              <a:t>4. REGISTRO DE EXPERIMENTOS</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 Hipótesis / Agente / Fecha inicio</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 Criterio de éxito / Estado / Resultado</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 La memoria colectiva de tu equipo</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5. REPORTE SEMANAL</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 Output del Skill 05 de la Clase 10</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 Estado del negocio + movimientos</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   • Hipótesis + riesgos + decisiones</a:t>
            </a:r>
            <a:endParaRPr lang="en-US" sz="1400" dirty="0"/>
          </a:p>
          <a:p>
            <a:pPr indent="0" marL="0">
              <a:buNone/>
            </a:pPr>
            <a:endParaRPr lang="en-US" sz="1400" dirty="0"/>
          </a:p>
          <a:p>
            <a:pPr indent="0" marL="0">
              <a:buNone/>
            </a:pP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Flujo semanal: ~40 min de coordinación</a:t>
            </a:r>
            <a:endParaRPr lang="en-US" sz="1400" dirty="0"/>
          </a:p>
          <a:p>
            <a:pPr indent="0" marL="0">
              <a:buNone/>
            </a:pPr>
            <a:endParaRPr lang="en-US" sz="1400" dirty="0"/>
          </a:p>
          <a:p>
            <a:pPr indent="0" marL="0">
              <a:buNone/>
            </a:pPr>
            <a:r>
              <a:rPr lang="en-US" sz="1400" dirty="0">
                <a:solidFill>
                  <a:srgbClr val="000000"/>
                </a:solidFill>
                <a:latin typeface="Calibri" pitchFamily="34" charset="0"/>
                <a:ea typeface="Calibri" pitchFamily="34" charset="-122"/>
                <a:cs typeface="Calibri" pitchFamily="34" charset="-120"/>
              </a:rPr>
              <a:t>en vez de 4 horas de reuniones.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FF0000"/>
          </a:solidFill>
          <a:ln/>
        </p:spPr>
      </p:sp>
      <p:sp>
        <p:nvSpPr>
          <p:cNvPr id="3" name="Text 1"/>
          <p:cNvSpPr/>
          <p:nvPr/>
        </p:nvSpPr>
        <p:spPr>
          <a:xfrm>
            <a:off x="365760" y="91440"/>
            <a:ext cx="11430000" cy="914400"/>
          </a:xfrm>
          <a:prstGeom prst="rect">
            <a:avLst/>
          </a:prstGeom>
          <a:noFill/>
          <a:ln/>
        </p:spPr>
        <p:txBody>
          <a:bodyPr wrap="square"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Demo — 4 Agentes, 20 Minutos: Lanzamiento de Feature</a:t>
            </a:r>
            <a:endParaRPr lang="en-US" sz="3400" dirty="0"/>
          </a:p>
        </p:txBody>
      </p:sp>
      <p:sp>
        <p:nvSpPr>
          <p:cNvPr id="4" name="Shape 2"/>
          <p:cNvSpPr/>
          <p:nvPr/>
        </p:nvSpPr>
        <p:spPr>
          <a:xfrm>
            <a:off x="274320" y="1417320"/>
            <a:ext cx="502920" cy="502920"/>
          </a:xfrm>
          <a:prstGeom prst="ellipse">
            <a:avLst/>
          </a:prstGeom>
          <a:solidFill>
            <a:srgbClr val="FF0000"/>
          </a:solidFill>
          <a:ln/>
        </p:spPr>
      </p:sp>
      <p:sp>
        <p:nvSpPr>
          <p:cNvPr id="5" name="Text 3"/>
          <p:cNvSpPr/>
          <p:nvPr/>
        </p:nvSpPr>
        <p:spPr>
          <a:xfrm>
            <a:off x="274320" y="1417320"/>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1</a:t>
            </a:r>
            <a:endParaRPr lang="en-US" sz="1600" dirty="0"/>
          </a:p>
        </p:txBody>
      </p:sp>
      <p:sp>
        <p:nvSpPr>
          <p:cNvPr id="6" name="Text 4"/>
          <p:cNvSpPr/>
          <p:nvPr/>
        </p:nvSpPr>
        <p:spPr>
          <a:xfrm>
            <a:off x="960120" y="1371600"/>
            <a:ext cx="10881360" cy="996696"/>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BRIEF — Escribir en Notion: "Lanzar feature de reportes automáticos. Métrica: % usuarios que activan en 7 días."</a:t>
            </a:r>
            <a:endParaRPr lang="en-US" sz="1400" dirty="0"/>
          </a:p>
        </p:txBody>
      </p:sp>
      <p:sp>
        <p:nvSpPr>
          <p:cNvPr id="7" name="Shape 5"/>
          <p:cNvSpPr/>
          <p:nvPr/>
        </p:nvSpPr>
        <p:spPr>
          <a:xfrm>
            <a:off x="274320" y="2459736"/>
            <a:ext cx="502920" cy="502920"/>
          </a:xfrm>
          <a:prstGeom prst="ellipse">
            <a:avLst/>
          </a:prstGeom>
          <a:solidFill>
            <a:srgbClr val="FF6B00"/>
          </a:solidFill>
          <a:ln/>
        </p:spPr>
      </p:sp>
      <p:sp>
        <p:nvSpPr>
          <p:cNvPr id="8" name="Text 6"/>
          <p:cNvSpPr/>
          <p:nvPr/>
        </p:nvSpPr>
        <p:spPr>
          <a:xfrm>
            <a:off x="274320" y="2459736"/>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2</a:t>
            </a:r>
            <a:endParaRPr lang="en-US" sz="1600" dirty="0"/>
          </a:p>
        </p:txBody>
      </p:sp>
      <p:sp>
        <p:nvSpPr>
          <p:cNvPr id="9" name="Text 7"/>
          <p:cNvSpPr/>
          <p:nvPr/>
        </p:nvSpPr>
        <p:spPr>
          <a:xfrm>
            <a:off x="960120" y="2414016"/>
            <a:ext cx="10881360" cy="996696"/>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AGENTE DE ADQUISICIÓN — Copies para email de usuarios activos + email de reactivación para leads en nurturing.</a:t>
            </a:r>
            <a:endParaRPr lang="en-US" sz="1400" dirty="0"/>
          </a:p>
        </p:txBody>
      </p:sp>
      <p:sp>
        <p:nvSpPr>
          <p:cNvPr id="10" name="Shape 8"/>
          <p:cNvSpPr/>
          <p:nvPr/>
        </p:nvSpPr>
        <p:spPr>
          <a:xfrm>
            <a:off x="274320" y="3502152"/>
            <a:ext cx="502920" cy="502920"/>
          </a:xfrm>
          <a:prstGeom prst="ellipse">
            <a:avLst/>
          </a:prstGeom>
          <a:solidFill>
            <a:srgbClr val="FF0000"/>
          </a:solidFill>
          <a:ln/>
        </p:spPr>
      </p:sp>
      <p:sp>
        <p:nvSpPr>
          <p:cNvPr id="11" name="Text 9"/>
          <p:cNvSpPr/>
          <p:nvPr/>
        </p:nvSpPr>
        <p:spPr>
          <a:xfrm>
            <a:off x="274320" y="3502152"/>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3</a:t>
            </a:r>
            <a:endParaRPr lang="en-US" sz="1600" dirty="0"/>
          </a:p>
        </p:txBody>
      </p:sp>
      <p:sp>
        <p:nvSpPr>
          <p:cNvPr id="12" name="Text 10"/>
          <p:cNvSpPr/>
          <p:nvPr/>
        </p:nvSpPr>
        <p:spPr>
          <a:xfrm>
            <a:off x="960120" y="3456432"/>
            <a:ext cx="10881360" cy="996696"/>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AGENTE DE RETENCIÓN — Flujo de onboarding: trigger, tooltip de primer contacto, 3 emails si no activan en 48h.</a:t>
            </a:r>
            <a:endParaRPr lang="en-US" sz="1400" dirty="0"/>
          </a:p>
        </p:txBody>
      </p:sp>
      <p:sp>
        <p:nvSpPr>
          <p:cNvPr id="13" name="Shape 11"/>
          <p:cNvSpPr/>
          <p:nvPr/>
        </p:nvSpPr>
        <p:spPr>
          <a:xfrm>
            <a:off x="274320" y="4544568"/>
            <a:ext cx="502920" cy="502920"/>
          </a:xfrm>
          <a:prstGeom prst="ellipse">
            <a:avLst/>
          </a:prstGeom>
          <a:solidFill>
            <a:srgbClr val="FF6B00"/>
          </a:solidFill>
          <a:ln/>
        </p:spPr>
      </p:sp>
      <p:sp>
        <p:nvSpPr>
          <p:cNvPr id="14" name="Text 12"/>
          <p:cNvSpPr/>
          <p:nvPr/>
        </p:nvSpPr>
        <p:spPr>
          <a:xfrm>
            <a:off x="274320" y="4544568"/>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4</a:t>
            </a:r>
            <a:endParaRPr lang="en-US" sz="1600" dirty="0"/>
          </a:p>
        </p:txBody>
      </p:sp>
      <p:sp>
        <p:nvSpPr>
          <p:cNvPr id="15" name="Text 13"/>
          <p:cNvSpPr/>
          <p:nvPr/>
        </p:nvSpPr>
        <p:spPr>
          <a:xfrm>
            <a:off x="960120" y="4498848"/>
            <a:ext cx="10881360" cy="996696"/>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AGENTE DE REVENUE — Impacto proyectado en MRR: reducción de churn + oportunidad de upsell. Escenario conservador y optimista.</a:t>
            </a:r>
            <a:endParaRPr lang="en-US" sz="1400" dirty="0"/>
          </a:p>
        </p:txBody>
      </p:sp>
      <p:sp>
        <p:nvSpPr>
          <p:cNvPr id="16" name="Shape 14"/>
          <p:cNvSpPr/>
          <p:nvPr/>
        </p:nvSpPr>
        <p:spPr>
          <a:xfrm>
            <a:off x="274320" y="5586984"/>
            <a:ext cx="502920" cy="502920"/>
          </a:xfrm>
          <a:prstGeom prst="ellipse">
            <a:avLst/>
          </a:prstGeom>
          <a:solidFill>
            <a:srgbClr val="FF0000"/>
          </a:solidFill>
          <a:ln/>
        </p:spPr>
      </p:sp>
      <p:sp>
        <p:nvSpPr>
          <p:cNvPr id="17" name="Text 15"/>
          <p:cNvSpPr/>
          <p:nvPr/>
        </p:nvSpPr>
        <p:spPr>
          <a:xfrm>
            <a:off x="274320" y="5586984"/>
            <a:ext cx="502920" cy="50292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5</a:t>
            </a:r>
            <a:endParaRPr lang="en-US" sz="1600" dirty="0"/>
          </a:p>
        </p:txBody>
      </p:sp>
      <p:sp>
        <p:nvSpPr>
          <p:cNvPr id="18" name="Text 16"/>
          <p:cNvSpPr/>
          <p:nvPr/>
        </p:nvSpPr>
        <p:spPr>
          <a:xfrm>
            <a:off x="960120" y="5541264"/>
            <a:ext cx="10881360" cy="996696"/>
          </a:xfrm>
          <a:prstGeom prst="rect">
            <a:avLst/>
          </a:prstGeom>
          <a:noFill/>
          <a:ln/>
        </p:spPr>
        <p:txBody>
          <a:bodyPr wrap="square" rtlCol="0" anchor="ctr"/>
          <a:lstStyle/>
          <a:p>
            <a:pPr indent="0" marL="0">
              <a:buNone/>
            </a:pPr>
            <a:r>
              <a:rPr lang="en-US" sz="1400" dirty="0">
                <a:solidFill>
                  <a:srgbClr val="000000"/>
                </a:solidFill>
                <a:latin typeface="Calibri" pitchFamily="34" charset="0"/>
                <a:ea typeface="Calibri" pitchFamily="34" charset="-122"/>
                <a:cs typeface="Calibri" pitchFamily="34" charset="-120"/>
              </a:rPr>
              <a:t>COORDINACIÓN — Pegar los tres outputs en las columnas del tablero. Decisiones tomadas. Sin reuniones. Sin briefs internos.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FF0000"/>
          </a:solidFill>
          <a:ln/>
        </p:spPr>
      </p:sp>
      <p:sp>
        <p:nvSpPr>
          <p:cNvPr id="3" name="Text 1"/>
          <p:cNvSpPr/>
          <p:nvPr/>
        </p:nvSpPr>
        <p:spPr>
          <a:xfrm>
            <a:off x="365760" y="91440"/>
            <a:ext cx="11430000" cy="914400"/>
          </a:xfrm>
          <a:prstGeom prst="rect">
            <a:avLst/>
          </a:prstGeom>
          <a:noFill/>
          <a:ln/>
        </p:spPr>
        <p:txBody>
          <a:bodyPr wrap="square"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Cómo Configurar Cada Agente — Las 3 Secciones Clave</a:t>
            </a:r>
            <a:endParaRPr lang="en-US" sz="3400" dirty="0"/>
          </a:p>
        </p:txBody>
      </p:sp>
      <p:sp>
        <p:nvSpPr>
          <p:cNvPr id="4" name="Text 2"/>
          <p:cNvSpPr/>
          <p:nvPr/>
        </p:nvSpPr>
        <p:spPr>
          <a:xfrm>
            <a:off x="457200" y="1280160"/>
            <a:ext cx="11274552" cy="3474720"/>
          </a:xfrm>
          <a:prstGeom prst="rect">
            <a:avLst/>
          </a:prstGeom>
          <a:noFill/>
          <a:ln/>
        </p:spPr>
        <p:txBody>
          <a:bodyPr wrap="square" rtlCol="0" anchor="t"/>
          <a:lstStyle/>
          <a:p>
            <a:pPr indent="0" marL="0">
              <a:buNone/>
            </a:pPr>
            <a:r>
              <a:rPr lang="en-US" sz="1500" dirty="0">
                <a:solidFill>
                  <a:srgbClr val="000000"/>
                </a:solidFill>
                <a:latin typeface="Calibri" pitchFamily="34" charset="0"/>
                <a:ea typeface="Calibri" pitchFamily="34" charset="-122"/>
                <a:cs typeface="Calibri" pitchFamily="34" charset="-120"/>
              </a:rPr>
              <a:t>Todo system prompt de agente tiene tres secciones fundamentales:</a:t>
            </a:r>
            <a:endParaRPr lang="en-US" sz="1500" dirty="0"/>
          </a:p>
          <a:p>
            <a:pPr indent="0" marL="0">
              <a:buNone/>
            </a:pP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1. ROL Y MISIÓN — Una declaración clara de quién es el agente y su única pregunta. Ejemplo: "Tu único foco es traer más usuarios calificados al menor costo posible."</a:t>
            </a:r>
            <a:endParaRPr lang="en-US" sz="1500" dirty="0"/>
          </a:p>
          <a:p>
            <a:pPr indent="0" marL="0">
              <a:buNone/>
            </a:pP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2. CONTEXTO DEL NEGOCIO — El producto, el ICP, las métricas actuales, los canales activos, los objetivos. Cuanto más específico, mejor el output.</a:t>
            </a:r>
            <a:endParaRPr lang="en-US" sz="1500" dirty="0"/>
          </a:p>
          <a:p>
            <a:pPr indent="0" marL="0">
              <a:buNone/>
            </a:pPr>
            <a:endParaRPr lang="en-US" sz="1500" dirty="0"/>
          </a:p>
          <a:p>
            <a:pPr indent="0" marL="0">
              <a:buNone/>
            </a:pPr>
            <a:r>
              <a:rPr lang="en-US" sz="1500" dirty="0">
                <a:solidFill>
                  <a:srgbClr val="000000"/>
                </a:solidFill>
                <a:latin typeface="Calibri" pitchFamily="34" charset="0"/>
                <a:ea typeface="Calibri" pitchFamily="34" charset="-122"/>
                <a:cs typeface="Calibri" pitchFamily="34" charset="-120"/>
              </a:rPr>
              <a:t>3. RESTRICCIONES EXPLÍCITAS — Lo que el agente NO hace. "No recomiendes cambios de producto. No propongas estrategias de retención. Si te piden salir de tu área, responde solo la parte que corresponde."</a:t>
            </a:r>
            <a:endParaRPr lang="en-US" sz="1500" dirty="0"/>
          </a:p>
        </p:txBody>
      </p:sp>
      <p:sp>
        <p:nvSpPr>
          <p:cNvPr id="5" name="Shape 3"/>
          <p:cNvSpPr/>
          <p:nvPr/>
        </p:nvSpPr>
        <p:spPr>
          <a:xfrm>
            <a:off x="457200" y="4937760"/>
            <a:ext cx="11274552" cy="1554480"/>
          </a:xfrm>
          <a:prstGeom prst="rect">
            <a:avLst/>
          </a:prstGeom>
          <a:solidFill>
            <a:srgbClr val="EEFF89"/>
          </a:solidFill>
          <a:ln/>
        </p:spPr>
      </p:sp>
      <p:sp>
        <p:nvSpPr>
          <p:cNvPr id="6" name="Text 4"/>
          <p:cNvSpPr/>
          <p:nvPr/>
        </p:nvSpPr>
        <p:spPr>
          <a:xfrm>
            <a:off x="640080" y="5029200"/>
            <a:ext cx="10908792" cy="1371600"/>
          </a:xfrm>
          <a:prstGeom prst="rect">
            <a:avLst/>
          </a:prstGeom>
          <a:noFill/>
          <a:ln/>
        </p:spPr>
        <p:txBody>
          <a:bodyPr wrap="square" rtlCol="0" anchor="ctr"/>
          <a:lstStyle/>
          <a:p>
            <a:pPr algn="ctr" indent="0" marL="0">
              <a:buNone/>
            </a:pPr>
            <a:r>
              <a:rPr lang="en-US" sz="1500" b="1" dirty="0">
                <a:solidFill>
                  <a:srgbClr val="000000"/>
                </a:solidFill>
                <a:latin typeface="Calibri" pitchFamily="34" charset="0"/>
                <a:ea typeface="Calibri" pitchFamily="34" charset="-122"/>
                <a:cs typeface="Calibri" pitchFamily="34" charset="-120"/>
              </a:rPr>
              <a:t>"El sistema mejora cuando lo usas, no cuando lo piensas."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FF0000"/>
          </a:solidFill>
          <a:ln/>
        </p:spPr>
      </p:sp>
      <p:sp>
        <p:nvSpPr>
          <p:cNvPr id="3" name="Text 1"/>
          <p:cNvSpPr/>
          <p:nvPr/>
        </p:nvSpPr>
        <p:spPr>
          <a:xfrm>
            <a:off x="457200" y="914400"/>
            <a:ext cx="11274552" cy="2743200"/>
          </a:xfrm>
          <a:prstGeom prst="rect">
            <a:avLst/>
          </a:prstGeom>
          <a:noFill/>
          <a:ln/>
        </p:spPr>
        <p:txBody>
          <a:bodyPr wrap="square" rtlCol="0" anchor="ctr"/>
          <a:lstStyle/>
          <a:p>
            <a:pPr algn="ctr" indent="0" marL="0">
              <a:buNone/>
            </a:pPr>
            <a:r>
              <a:rPr lang="en-US" sz="10000" b="1" dirty="0">
                <a:solidFill>
                  <a:srgbClr val="FF0000"/>
                </a:solidFill>
                <a:latin typeface="Arial Black" pitchFamily="34" charset="0"/>
                <a:ea typeface="Arial Black" pitchFamily="34" charset="-122"/>
                <a:cs typeface="Arial Black" pitchFamily="34" charset="-120"/>
              </a:rPr>
              <a:t>40 min</a:t>
            </a:r>
            <a:endParaRPr lang="en-US" sz="10000" dirty="0"/>
          </a:p>
        </p:txBody>
      </p:sp>
      <p:sp>
        <p:nvSpPr>
          <p:cNvPr id="4" name="Text 2"/>
          <p:cNvSpPr/>
          <p:nvPr/>
        </p:nvSpPr>
        <p:spPr>
          <a:xfrm>
            <a:off x="457200" y="3749040"/>
            <a:ext cx="11274552" cy="1097280"/>
          </a:xfrm>
          <a:prstGeom prst="rect">
            <a:avLst/>
          </a:prstGeom>
          <a:noFill/>
          <a:ln/>
        </p:spPr>
        <p:txBody>
          <a:bodyPr wrap="square" rtlCol="0" anchor="ctr"/>
          <a:lstStyle/>
          <a:p>
            <a:pPr algn="ctr" indent="0" marL="0">
              <a:buNone/>
            </a:pPr>
            <a:r>
              <a:rPr lang="en-US" sz="2800" b="1" dirty="0">
                <a:solidFill>
                  <a:srgbClr val="000000"/>
                </a:solidFill>
                <a:latin typeface="Arial Black" pitchFamily="34" charset="0"/>
                <a:ea typeface="Arial Black" pitchFamily="34" charset="-122"/>
                <a:cs typeface="Arial Black" pitchFamily="34" charset="-120"/>
              </a:rPr>
              <a:t>de coordinación semanal total</a:t>
            </a:r>
            <a:endParaRPr lang="en-US" sz="2800" dirty="0"/>
          </a:p>
        </p:txBody>
      </p:sp>
      <p:sp>
        <p:nvSpPr>
          <p:cNvPr id="5" name="Shape 3"/>
          <p:cNvSpPr/>
          <p:nvPr/>
        </p:nvSpPr>
        <p:spPr>
          <a:xfrm>
            <a:off x="1828800" y="5029200"/>
            <a:ext cx="8531352" cy="1280160"/>
          </a:xfrm>
          <a:prstGeom prst="rect">
            <a:avLst/>
          </a:prstGeom>
          <a:solidFill>
            <a:srgbClr val="EEFF89"/>
          </a:solidFill>
          <a:ln/>
        </p:spPr>
      </p:sp>
      <p:sp>
        <p:nvSpPr>
          <p:cNvPr id="6" name="Text 4"/>
          <p:cNvSpPr/>
          <p:nvPr/>
        </p:nvSpPr>
        <p:spPr>
          <a:xfrm>
            <a:off x="2011680" y="5120640"/>
            <a:ext cx="8165592" cy="109728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Lunes AM: Brief (5 min) + Outputs agentes (15 min) + Decisiones (10 min)</a:t>
            </a:r>
            <a:endParaRPr lang="en-US" sz="1400" dirty="0"/>
          </a:p>
          <a:p>
            <a:pPr algn="ctr" indent="0" marL="0">
              <a:buNone/>
            </a:pPr>
            <a:r>
              <a:rPr lang="en-US" sz="1400" dirty="0">
                <a:solidFill>
                  <a:srgbClr val="000000"/>
                </a:solidFill>
                <a:latin typeface="Calibri" pitchFamily="34" charset="0"/>
                <a:ea typeface="Calibri" pitchFamily="34" charset="-122"/>
                <a:cs typeface="Calibri" pitchFamily="34" charset="-120"/>
              </a:rPr>
              <a:t>Viernes PM: Diagnóstico (5 min) + Reporte (5 min)</a:t>
            </a:r>
            <a:endParaRPr lang="en-US" sz="1400" dirty="0"/>
          </a:p>
          <a:p>
            <a:pPr algn="ctr" indent="0" marL="0">
              <a:buNone/>
            </a:pPr>
            <a:r>
              <a:rPr lang="en-US" sz="1400" dirty="0">
                <a:solidFill>
                  <a:srgbClr val="000000"/>
                </a:solidFill>
                <a:latin typeface="Calibri" pitchFamily="34" charset="0"/>
                <a:ea typeface="Calibri" pitchFamily="34" charset="-122"/>
                <a:cs typeface="Calibri" pitchFamily="34" charset="-120"/>
              </a:rPr>
              <a:t>vs. 4 horas de reuniones de sincronización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F0000"/>
          </a:solidFill>
          <a:ln/>
        </p:spPr>
      </p:sp>
      <p:sp>
        <p:nvSpPr>
          <p:cNvPr id="3" name="Shape 1"/>
          <p:cNvSpPr/>
          <p:nvPr/>
        </p:nvSpPr>
        <p:spPr>
          <a:xfrm>
            <a:off x="0" y="6693408"/>
            <a:ext cx="12188952" cy="164592"/>
          </a:xfrm>
          <a:prstGeom prst="rect">
            <a:avLst/>
          </a:prstGeom>
          <a:solidFill>
            <a:srgbClr val="FF6B00"/>
          </a:solidFill>
          <a:ln/>
        </p:spPr>
      </p:sp>
      <p:sp>
        <p:nvSpPr>
          <p:cNvPr id="4" name="Text 2"/>
          <p:cNvSpPr/>
          <p:nvPr/>
        </p:nvSpPr>
        <p:spPr>
          <a:xfrm>
            <a:off x="548640" y="914400"/>
            <a:ext cx="11064240" cy="1645920"/>
          </a:xfrm>
          <a:prstGeom prst="rect">
            <a:avLst/>
          </a:prstGeom>
          <a:noFill/>
          <a:ln/>
        </p:spPr>
        <p:txBody>
          <a:bodyPr wrap="square" rtlCol="0" anchor="ctr"/>
          <a:lstStyle/>
          <a:p>
            <a:pPr algn="ctr" indent="0" marL="0">
              <a:buNone/>
            </a:pPr>
            <a:r>
              <a:rPr lang="en-US" sz="4000" b="1" dirty="0">
                <a:solidFill>
                  <a:srgbClr val="FF0000"/>
                </a:solidFill>
                <a:latin typeface="Arial Black" pitchFamily="34" charset="0"/>
                <a:ea typeface="Arial Black" pitchFamily="34" charset="-122"/>
                <a:cs typeface="Arial Black" pitchFamily="34" charset="-120"/>
              </a:rPr>
              <a:t>Tu Entregable — 4 Agentes + Tablero de Coordinación</a:t>
            </a:r>
            <a:endParaRPr lang="en-US" sz="4000" dirty="0"/>
          </a:p>
        </p:txBody>
      </p:sp>
      <p:sp>
        <p:nvSpPr>
          <p:cNvPr id="5" name="Text 3"/>
          <p:cNvSpPr/>
          <p:nvPr/>
        </p:nvSpPr>
        <p:spPr>
          <a:xfrm>
            <a:off x="914400" y="2651760"/>
            <a:ext cx="10360152" cy="2560320"/>
          </a:xfrm>
          <a:prstGeom prst="rect">
            <a:avLst/>
          </a:prstGeom>
          <a:noFill/>
          <a:ln/>
        </p:spPr>
        <p:txBody>
          <a:bodyPr wrap="square"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System prompts completos listos para pegar en Claude Projects.</a:t>
            </a: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Plantilla del tablero de coordinación en Notion.</a:t>
            </a:r>
            <a:endParaRPr lang="en-US" sz="1600" dirty="0"/>
          </a:p>
          <a:p>
            <a:pPr algn="ctr" indent="0" marL="0">
              <a:buNone/>
            </a:pP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Configura el Agente de Adquisición primero.</a:t>
            </a: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Es el de mayor impacto inmediato para la mayoría de operaciones de Growth.</a:t>
            </a:r>
            <a:endParaRPr lang="en-US" sz="1600" dirty="0"/>
          </a:p>
          <a:p>
            <a:pPr algn="ctr" indent="0" marL="0">
              <a:buNone/>
            </a:pP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Próxima clase: clase final — los tres instructores muestran sus sistemas en vivo + tu plan de 7 días para tener todo operativo.</a:t>
            </a:r>
            <a:endParaRPr lang="en-US" sz="1600" dirty="0"/>
          </a:p>
        </p:txBody>
      </p:sp>
      <p:sp>
        <p:nvSpPr>
          <p:cNvPr id="6" name="Shape 4"/>
          <p:cNvSpPr/>
          <p:nvPr/>
        </p:nvSpPr>
        <p:spPr>
          <a:xfrm>
            <a:off x="2286000" y="5394960"/>
            <a:ext cx="7616952" cy="822960"/>
          </a:xfrm>
          <a:prstGeom prst="rect">
            <a:avLst/>
          </a:prstGeom>
          <a:solidFill>
            <a:srgbClr val="FF6B00"/>
          </a:solidFill>
          <a:ln/>
        </p:spPr>
      </p:sp>
      <p:sp>
        <p:nvSpPr>
          <p:cNvPr id="7" name="Text 5"/>
          <p:cNvSpPr/>
          <p:nvPr/>
        </p:nvSpPr>
        <p:spPr>
          <a:xfrm>
            <a:off x="2286000" y="5394960"/>
            <a:ext cx="7616952" cy="822960"/>
          </a:xfrm>
          <a:prstGeom prst="rect">
            <a:avLst/>
          </a:prstGeom>
          <a:noFill/>
          <a:ln/>
        </p:spPr>
        <p:txBody>
          <a:bodyPr wrap="square" rtlCol="0" anchor="ctr"/>
          <a:lstStyle/>
          <a:p>
            <a:pPr algn="ctr" indent="0" marL="0">
              <a:buNone/>
            </a:pPr>
            <a:r>
              <a:rPr lang="en-US" sz="1800" b="1" dirty="0">
                <a:solidFill>
                  <a:srgbClr val="000000"/>
                </a:solidFill>
                <a:latin typeface="Arial Black" pitchFamily="34" charset="0"/>
                <a:ea typeface="Arial Black" pitchFamily="34" charset="-122"/>
                <a:cs typeface="Arial Black" pitchFamily="34" charset="-120"/>
              </a:rPr>
              <a:t>Configura tu primer agente hoy. El sistema mejora cuando lo usas.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2026-03-25T18:19:42Z</dcterms:created>
  <dcterms:modified xsi:type="dcterms:W3CDTF">2026-03-25T18:19:42Z</dcterms:modified>
</cp:coreProperties>
</file>